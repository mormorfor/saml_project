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7" r:id="rId6"/>
    <p:sldId id="260" r:id="rId7"/>
    <p:sldId id="271" r:id="rId8"/>
    <p:sldId id="261" r:id="rId9"/>
    <p:sldId id="262" r:id="rId10"/>
    <p:sldId id="263" r:id="rId11"/>
    <p:sldId id="264" r:id="rId12"/>
    <p:sldId id="272" r:id="rId13"/>
    <p:sldId id="273" r:id="rId14"/>
    <p:sldId id="274" r:id="rId15"/>
    <p:sldId id="275" r:id="rId16"/>
    <p:sldId id="276" r:id="rId17"/>
    <p:sldId id="277" r:id="rId18"/>
    <p:sldId id="278" r:id="rId19"/>
    <p:sldId id="265" r:id="rId20"/>
    <p:sldId id="266" r:id="rId21"/>
    <p:sldId id="268" r:id="rId22"/>
    <p:sldId id="269" r:id="rId23"/>
    <p:sldId id="270"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6096AB-5CDD-4F50-9D7A-CA4EAF066996}" v="58" dt="2026-09-12T09:22:32.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3390" autoAdjust="0"/>
  </p:normalViewPr>
  <p:slideViewPr>
    <p:cSldViewPr snapToGrid="0" snapToObjects="1">
      <p:cViewPr>
        <p:scale>
          <a:sx n="40" d="100"/>
          <a:sy n="40" d="100"/>
        </p:scale>
        <p:origin x="166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 Morgan" userId="334510fb-2733-47b8-b384-983263cb66bf" providerId="ADAL" clId="{34705DC1-99F8-4884-9D4F-8933909EB766}"/>
    <pc:docChg chg="undo custSel addSld modSld sldOrd">
      <pc:chgData name="Diana Morgan" userId="334510fb-2733-47b8-b384-983263cb66bf" providerId="ADAL" clId="{34705DC1-99F8-4884-9D4F-8933909EB766}" dt="2026-09-12T09:22:36.466" v="5649" actId="20577"/>
      <pc:docMkLst>
        <pc:docMk/>
      </pc:docMkLst>
      <pc:sldChg chg="modSp mod modNotesTx">
        <pc:chgData name="Diana Morgan" userId="334510fb-2733-47b8-b384-983263cb66bf" providerId="ADAL" clId="{34705DC1-99F8-4884-9D4F-8933909EB766}" dt="2026-09-12T08:17:55.341" v="3462" actId="20577"/>
        <pc:sldMkLst>
          <pc:docMk/>
          <pc:sldMk cId="0" sldId="256"/>
        </pc:sldMkLst>
        <pc:spChg chg="mod">
          <ac:chgData name="Diana Morgan" userId="334510fb-2733-47b8-b384-983263cb66bf" providerId="ADAL" clId="{34705DC1-99F8-4884-9D4F-8933909EB766}" dt="2026-09-12T08:17:47.978" v="3461" actId="403"/>
          <ac:spMkLst>
            <pc:docMk/>
            <pc:sldMk cId="0" sldId="256"/>
            <ac:spMk id="4" creationId="{00000000-0000-0000-0000-000000000000}"/>
          </ac:spMkLst>
        </pc:spChg>
      </pc:sldChg>
      <pc:sldChg chg="modSp mod modNotesTx">
        <pc:chgData name="Diana Morgan" userId="334510fb-2733-47b8-b384-983263cb66bf" providerId="ADAL" clId="{34705DC1-99F8-4884-9D4F-8933909EB766}" dt="2026-09-12T07:38:54.199" v="1712" actId="20577"/>
        <pc:sldMkLst>
          <pc:docMk/>
          <pc:sldMk cId="0" sldId="257"/>
        </pc:sldMkLst>
        <pc:spChg chg="mod">
          <ac:chgData name="Diana Morgan" userId="334510fb-2733-47b8-b384-983263cb66bf" providerId="ADAL" clId="{34705DC1-99F8-4884-9D4F-8933909EB766}" dt="2026-09-12T07:27:11.921" v="819" actId="1076"/>
          <ac:spMkLst>
            <pc:docMk/>
            <pc:sldMk cId="0" sldId="257"/>
            <ac:spMk id="5" creationId="{00000000-0000-0000-0000-000000000000}"/>
          </ac:spMkLst>
        </pc:spChg>
        <pc:spChg chg="mod">
          <ac:chgData name="Diana Morgan" userId="334510fb-2733-47b8-b384-983263cb66bf" providerId="ADAL" clId="{34705DC1-99F8-4884-9D4F-8933909EB766}" dt="2026-09-12T07:24:30.014" v="766" actId="20577"/>
          <ac:spMkLst>
            <pc:docMk/>
            <pc:sldMk cId="0" sldId="257"/>
            <ac:spMk id="13" creationId="{00000000-0000-0000-0000-000000000000}"/>
          </ac:spMkLst>
        </pc:spChg>
      </pc:sldChg>
      <pc:sldChg chg="modSp mod modNotesTx">
        <pc:chgData name="Diana Morgan" userId="334510fb-2733-47b8-b384-983263cb66bf" providerId="ADAL" clId="{34705DC1-99F8-4884-9D4F-8933909EB766}" dt="2026-09-12T07:36:24.887" v="1565" actId="20577"/>
        <pc:sldMkLst>
          <pc:docMk/>
          <pc:sldMk cId="0" sldId="258"/>
        </pc:sldMkLst>
        <pc:spChg chg="mod">
          <ac:chgData name="Diana Morgan" userId="334510fb-2733-47b8-b384-983263cb66bf" providerId="ADAL" clId="{34705DC1-99F8-4884-9D4F-8933909EB766}" dt="2026-09-12T07:28:44.039" v="830" actId="20577"/>
          <ac:spMkLst>
            <pc:docMk/>
            <pc:sldMk cId="0" sldId="258"/>
            <ac:spMk id="2" creationId="{00000000-0000-0000-0000-000000000000}"/>
          </ac:spMkLst>
        </pc:spChg>
        <pc:spChg chg="mod">
          <ac:chgData name="Diana Morgan" userId="334510fb-2733-47b8-b384-983263cb66bf" providerId="ADAL" clId="{34705DC1-99F8-4884-9D4F-8933909EB766}" dt="2026-09-12T07:29:14.904" v="840" actId="14100"/>
          <ac:spMkLst>
            <pc:docMk/>
            <pc:sldMk cId="0" sldId="258"/>
            <ac:spMk id="6" creationId="{00000000-0000-0000-0000-000000000000}"/>
          </ac:spMkLst>
        </pc:spChg>
      </pc:sldChg>
      <pc:sldChg chg="modSp mod modNotesTx">
        <pc:chgData name="Diana Morgan" userId="334510fb-2733-47b8-b384-983263cb66bf" providerId="ADAL" clId="{34705DC1-99F8-4884-9D4F-8933909EB766}" dt="2026-09-12T08:39:30.917" v="3836" actId="20577"/>
        <pc:sldMkLst>
          <pc:docMk/>
          <pc:sldMk cId="0" sldId="259"/>
        </pc:sldMkLst>
        <pc:spChg chg="mod">
          <ac:chgData name="Diana Morgan" userId="334510fb-2733-47b8-b384-983263cb66bf" providerId="ADAL" clId="{34705DC1-99F8-4884-9D4F-8933909EB766}" dt="2026-09-12T07:39:20.817" v="1713" actId="20577"/>
          <ac:spMkLst>
            <pc:docMk/>
            <pc:sldMk cId="0" sldId="259"/>
            <ac:spMk id="2" creationId="{00000000-0000-0000-0000-000000000000}"/>
          </ac:spMkLst>
        </pc:spChg>
        <pc:spChg chg="mod">
          <ac:chgData name="Diana Morgan" userId="334510fb-2733-47b8-b384-983263cb66bf" providerId="ADAL" clId="{34705DC1-99F8-4884-9D4F-8933909EB766}" dt="2026-09-12T07:39:34.451" v="1714" actId="403"/>
          <ac:spMkLst>
            <pc:docMk/>
            <pc:sldMk cId="0" sldId="259"/>
            <ac:spMk id="4" creationId="{00000000-0000-0000-0000-000000000000}"/>
          </ac:spMkLst>
        </pc:spChg>
        <pc:spChg chg="mod">
          <ac:chgData name="Diana Morgan" userId="334510fb-2733-47b8-b384-983263cb66bf" providerId="ADAL" clId="{34705DC1-99F8-4884-9D4F-8933909EB766}" dt="2026-09-12T07:39:37.211" v="1715" actId="403"/>
          <ac:spMkLst>
            <pc:docMk/>
            <pc:sldMk cId="0" sldId="259"/>
            <ac:spMk id="6" creationId="{00000000-0000-0000-0000-000000000000}"/>
          </ac:spMkLst>
        </pc:spChg>
        <pc:spChg chg="mod">
          <ac:chgData name="Diana Morgan" userId="334510fb-2733-47b8-b384-983263cb66bf" providerId="ADAL" clId="{34705DC1-99F8-4884-9D4F-8933909EB766}" dt="2026-09-12T08:06:10.467" v="3260" actId="20577"/>
          <ac:spMkLst>
            <pc:docMk/>
            <pc:sldMk cId="0" sldId="259"/>
            <ac:spMk id="9" creationId="{00000000-0000-0000-0000-000000000000}"/>
          </ac:spMkLst>
        </pc:spChg>
      </pc:sldChg>
      <pc:sldChg chg="delSp modSp mod modNotesTx">
        <pc:chgData name="Diana Morgan" userId="334510fb-2733-47b8-b384-983263cb66bf" providerId="ADAL" clId="{34705DC1-99F8-4884-9D4F-8933909EB766}" dt="2026-09-12T08:49:32.789" v="4372" actId="20577"/>
        <pc:sldMkLst>
          <pc:docMk/>
          <pc:sldMk cId="0" sldId="260"/>
        </pc:sldMkLst>
        <pc:spChg chg="mod">
          <ac:chgData name="Diana Morgan" userId="334510fb-2733-47b8-b384-983263cb66bf" providerId="ADAL" clId="{34705DC1-99F8-4884-9D4F-8933909EB766}" dt="2026-09-12T08:46:56.569" v="4178" actId="20577"/>
          <ac:spMkLst>
            <pc:docMk/>
            <pc:sldMk cId="0" sldId="260"/>
            <ac:spMk id="2" creationId="{00000000-0000-0000-0000-000000000000}"/>
          </ac:spMkLst>
        </pc:spChg>
        <pc:spChg chg="del">
          <ac:chgData name="Diana Morgan" userId="334510fb-2733-47b8-b384-983263cb66bf" providerId="ADAL" clId="{34705DC1-99F8-4884-9D4F-8933909EB766}" dt="2026-09-12T08:47:01.831" v="4179" actId="478"/>
          <ac:spMkLst>
            <pc:docMk/>
            <pc:sldMk cId="0" sldId="260"/>
            <ac:spMk id="4" creationId="{00000000-0000-0000-0000-000000000000}"/>
          </ac:spMkLst>
        </pc:spChg>
        <pc:spChg chg="mod">
          <ac:chgData name="Diana Morgan" userId="334510fb-2733-47b8-b384-983263cb66bf" providerId="ADAL" clId="{34705DC1-99F8-4884-9D4F-8933909EB766}" dt="2026-09-12T08:47:10.080" v="4181" actId="14100"/>
          <ac:spMkLst>
            <pc:docMk/>
            <pc:sldMk cId="0" sldId="260"/>
            <ac:spMk id="6" creationId="{00000000-0000-0000-0000-000000000000}"/>
          </ac:spMkLst>
        </pc:spChg>
        <pc:spChg chg="mod">
          <ac:chgData name="Diana Morgan" userId="334510fb-2733-47b8-b384-983263cb66bf" providerId="ADAL" clId="{34705DC1-99F8-4884-9D4F-8933909EB766}" dt="2026-09-12T08:47:21.065" v="4202" actId="20577"/>
          <ac:spMkLst>
            <pc:docMk/>
            <pc:sldMk cId="0" sldId="260"/>
            <ac:spMk id="7" creationId="{00000000-0000-0000-0000-000000000000}"/>
          </ac:spMkLst>
        </pc:spChg>
        <pc:spChg chg="mod">
          <ac:chgData name="Diana Morgan" userId="334510fb-2733-47b8-b384-983263cb66bf" providerId="ADAL" clId="{34705DC1-99F8-4884-9D4F-8933909EB766}" dt="2026-09-12T08:47:27.056" v="4203"/>
          <ac:spMkLst>
            <pc:docMk/>
            <pc:sldMk cId="0" sldId="260"/>
            <ac:spMk id="9" creationId="{00000000-0000-0000-0000-000000000000}"/>
          </ac:spMkLst>
        </pc:spChg>
        <pc:spChg chg="mod">
          <ac:chgData name="Diana Morgan" userId="334510fb-2733-47b8-b384-983263cb66bf" providerId="ADAL" clId="{34705DC1-99F8-4884-9D4F-8933909EB766}" dt="2026-09-12T08:47:44.793" v="4253" actId="313"/>
          <ac:spMkLst>
            <pc:docMk/>
            <pc:sldMk cId="0" sldId="260"/>
            <ac:spMk id="10" creationId="{00000000-0000-0000-0000-000000000000}"/>
          </ac:spMkLst>
        </pc:spChg>
        <pc:spChg chg="mod">
          <ac:chgData name="Diana Morgan" userId="334510fb-2733-47b8-b384-983263cb66bf" providerId="ADAL" clId="{34705DC1-99F8-4884-9D4F-8933909EB766}" dt="2026-09-12T08:48:55.633" v="4332" actId="20577"/>
          <ac:spMkLst>
            <pc:docMk/>
            <pc:sldMk cId="0" sldId="260"/>
            <ac:spMk id="12" creationId="{00000000-0000-0000-0000-000000000000}"/>
          </ac:spMkLst>
        </pc:spChg>
        <pc:spChg chg="mod">
          <ac:chgData name="Diana Morgan" userId="334510fb-2733-47b8-b384-983263cb66bf" providerId="ADAL" clId="{34705DC1-99F8-4884-9D4F-8933909EB766}" dt="2026-09-12T08:48:17.071" v="4278" actId="20577"/>
          <ac:spMkLst>
            <pc:docMk/>
            <pc:sldMk cId="0" sldId="260"/>
            <ac:spMk id="13" creationId="{00000000-0000-0000-0000-000000000000}"/>
          </ac:spMkLst>
        </pc:spChg>
      </pc:sldChg>
      <pc:sldChg chg="delSp modSp mod modNotesTx">
        <pc:chgData name="Diana Morgan" userId="334510fb-2733-47b8-b384-983263cb66bf" providerId="ADAL" clId="{34705DC1-99F8-4884-9D4F-8933909EB766}" dt="2026-09-12T08:58:47.375" v="5007" actId="20577"/>
        <pc:sldMkLst>
          <pc:docMk/>
          <pc:sldMk cId="0" sldId="261"/>
        </pc:sldMkLst>
        <pc:spChg chg="mod">
          <ac:chgData name="Diana Morgan" userId="334510fb-2733-47b8-b384-983263cb66bf" providerId="ADAL" clId="{34705DC1-99F8-4884-9D4F-8933909EB766}" dt="2026-09-12T08:57:27.162" v="5001" actId="1076"/>
          <ac:spMkLst>
            <pc:docMk/>
            <pc:sldMk cId="0" sldId="261"/>
            <ac:spMk id="10" creationId="{00000000-0000-0000-0000-000000000000}"/>
          </ac:spMkLst>
        </pc:spChg>
        <pc:spChg chg="mod">
          <ac:chgData name="Diana Morgan" userId="334510fb-2733-47b8-b384-983263cb66bf" providerId="ADAL" clId="{34705DC1-99F8-4884-9D4F-8933909EB766}" dt="2026-09-12T08:57:29.106" v="5002" actId="1076"/>
          <ac:spMkLst>
            <pc:docMk/>
            <pc:sldMk cId="0" sldId="261"/>
            <ac:spMk id="11" creationId="{00000000-0000-0000-0000-000000000000}"/>
          </ac:spMkLst>
        </pc:spChg>
        <pc:spChg chg="del">
          <ac:chgData name="Diana Morgan" userId="334510fb-2733-47b8-b384-983263cb66bf" providerId="ADAL" clId="{34705DC1-99F8-4884-9D4F-8933909EB766}" dt="2026-09-12T08:57:15.569" v="4998" actId="478"/>
          <ac:spMkLst>
            <pc:docMk/>
            <pc:sldMk cId="0" sldId="261"/>
            <ac:spMk id="12" creationId="{00000000-0000-0000-0000-000000000000}"/>
          </ac:spMkLst>
        </pc:spChg>
      </pc:sldChg>
      <pc:sldChg chg="delSp modSp mod modNotesTx">
        <pc:chgData name="Diana Morgan" userId="334510fb-2733-47b8-b384-983263cb66bf" providerId="ADAL" clId="{34705DC1-99F8-4884-9D4F-8933909EB766}" dt="2026-09-12T09:03:34.276" v="5401" actId="478"/>
        <pc:sldMkLst>
          <pc:docMk/>
          <pc:sldMk cId="0" sldId="262"/>
        </pc:sldMkLst>
        <pc:spChg chg="del mod">
          <ac:chgData name="Diana Morgan" userId="334510fb-2733-47b8-b384-983263cb66bf" providerId="ADAL" clId="{34705DC1-99F8-4884-9D4F-8933909EB766}" dt="2026-09-12T09:03:34.276" v="5401" actId="478"/>
          <ac:spMkLst>
            <pc:docMk/>
            <pc:sldMk cId="0" sldId="262"/>
            <ac:spMk id="5" creationId="{00000000-0000-0000-0000-000000000000}"/>
          </ac:spMkLst>
        </pc:spChg>
        <pc:spChg chg="mod">
          <ac:chgData name="Diana Morgan" userId="334510fb-2733-47b8-b384-983263cb66bf" providerId="ADAL" clId="{34705DC1-99F8-4884-9D4F-8933909EB766}" dt="2026-09-12T09:02:20.187" v="5378" actId="403"/>
          <ac:spMkLst>
            <pc:docMk/>
            <pc:sldMk cId="0" sldId="262"/>
            <ac:spMk id="6" creationId="{00000000-0000-0000-0000-000000000000}"/>
          </ac:spMkLst>
        </pc:spChg>
        <pc:spChg chg="mod">
          <ac:chgData name="Diana Morgan" userId="334510fb-2733-47b8-b384-983263cb66bf" providerId="ADAL" clId="{34705DC1-99F8-4884-9D4F-8933909EB766}" dt="2026-09-12T09:02:24.021" v="5379" actId="403"/>
          <ac:spMkLst>
            <pc:docMk/>
            <pc:sldMk cId="0" sldId="262"/>
            <ac:spMk id="7" creationId="{00000000-0000-0000-0000-000000000000}"/>
          </ac:spMkLst>
        </pc:spChg>
      </pc:sldChg>
      <pc:sldChg chg="delSp modSp mod modNotesTx">
        <pc:chgData name="Diana Morgan" userId="334510fb-2733-47b8-b384-983263cb66bf" providerId="ADAL" clId="{34705DC1-99F8-4884-9D4F-8933909EB766}" dt="2026-09-12T09:06:15.783" v="5527" actId="20577"/>
        <pc:sldMkLst>
          <pc:docMk/>
          <pc:sldMk cId="0" sldId="263"/>
        </pc:sldMkLst>
        <pc:spChg chg="mod">
          <ac:chgData name="Diana Morgan" userId="334510fb-2733-47b8-b384-983263cb66bf" providerId="ADAL" clId="{34705DC1-99F8-4884-9D4F-8933909EB766}" dt="2026-09-12T09:04:09.928" v="5402" actId="20577"/>
          <ac:spMkLst>
            <pc:docMk/>
            <pc:sldMk cId="0" sldId="263"/>
            <ac:spMk id="7" creationId="{00000000-0000-0000-0000-000000000000}"/>
          </ac:spMkLst>
        </pc:spChg>
        <pc:spChg chg="del">
          <ac:chgData name="Diana Morgan" userId="334510fb-2733-47b8-b384-983263cb66bf" providerId="ADAL" clId="{34705DC1-99F8-4884-9D4F-8933909EB766}" dt="2026-09-12T09:04:24" v="5403" actId="478"/>
          <ac:spMkLst>
            <pc:docMk/>
            <pc:sldMk cId="0" sldId="263"/>
            <ac:spMk id="8" creationId="{00000000-0000-0000-0000-000000000000}"/>
          </ac:spMkLst>
        </pc:spChg>
      </pc:sldChg>
      <pc:sldChg chg="modSp mod modNotesTx">
        <pc:chgData name="Diana Morgan" userId="334510fb-2733-47b8-b384-983263cb66bf" providerId="ADAL" clId="{34705DC1-99F8-4884-9D4F-8933909EB766}" dt="2026-09-12T09:22:36.466" v="5649" actId="20577"/>
        <pc:sldMkLst>
          <pc:docMk/>
          <pc:sldMk cId="0" sldId="264"/>
        </pc:sldMkLst>
        <pc:spChg chg="mod">
          <ac:chgData name="Diana Morgan" userId="334510fb-2733-47b8-b384-983263cb66bf" providerId="ADAL" clId="{34705DC1-99F8-4884-9D4F-8933909EB766}" dt="2026-09-12T09:14:28.632" v="5570" actId="403"/>
          <ac:spMkLst>
            <pc:docMk/>
            <pc:sldMk cId="0" sldId="264"/>
            <ac:spMk id="5" creationId="{00000000-0000-0000-0000-000000000000}"/>
          </ac:spMkLst>
        </pc:spChg>
      </pc:sldChg>
      <pc:sldChg chg="mod modShow modNotesTx">
        <pc:chgData name="Diana Morgan" userId="334510fb-2733-47b8-b384-983263cb66bf" providerId="ADAL" clId="{34705DC1-99F8-4884-9D4F-8933909EB766}" dt="2026-09-12T08:03:27.097" v="3153" actId="20577"/>
        <pc:sldMkLst>
          <pc:docMk/>
          <pc:sldMk cId="0" sldId="265"/>
        </pc:sldMkLst>
      </pc:sldChg>
      <pc:sldChg chg="modSp mod modShow modNotesTx">
        <pc:chgData name="Diana Morgan" userId="334510fb-2733-47b8-b384-983263cb66bf" providerId="ADAL" clId="{34705DC1-99F8-4884-9D4F-8933909EB766}" dt="2026-09-12T08:03:31.847" v="3156" actId="20577"/>
        <pc:sldMkLst>
          <pc:docMk/>
          <pc:sldMk cId="0" sldId="266"/>
        </pc:sldMkLst>
        <pc:spChg chg="mod">
          <ac:chgData name="Diana Morgan" userId="334510fb-2733-47b8-b384-983263cb66bf" providerId="ADAL" clId="{34705DC1-99F8-4884-9D4F-8933909EB766}" dt="2026-09-12T07:33:39.004" v="1421" actId="403"/>
          <ac:spMkLst>
            <pc:docMk/>
            <pc:sldMk cId="0" sldId="266"/>
            <ac:spMk id="5" creationId="{00000000-0000-0000-0000-000000000000}"/>
          </ac:spMkLst>
        </pc:spChg>
      </pc:sldChg>
      <pc:sldChg chg="modSp mod ord modNotesTx">
        <pc:chgData name="Diana Morgan" userId="334510fb-2733-47b8-b384-983263cb66bf" providerId="ADAL" clId="{34705DC1-99F8-4884-9D4F-8933909EB766}" dt="2026-09-12T08:38:36.430" v="3813" actId="20577"/>
        <pc:sldMkLst>
          <pc:docMk/>
          <pc:sldMk cId="0" sldId="267"/>
        </pc:sldMkLst>
        <pc:spChg chg="mod">
          <ac:chgData name="Diana Morgan" userId="334510fb-2733-47b8-b384-983263cb66bf" providerId="ADAL" clId="{34705DC1-99F8-4884-9D4F-8933909EB766}" dt="2026-09-12T08:22:39.171" v="3626" actId="14100"/>
          <ac:spMkLst>
            <pc:docMk/>
            <pc:sldMk cId="0" sldId="267"/>
            <ac:spMk id="5" creationId="{00000000-0000-0000-0000-000000000000}"/>
          </ac:spMkLst>
        </pc:spChg>
      </pc:sldChg>
      <pc:sldChg chg="mod modShow">
        <pc:chgData name="Diana Morgan" userId="334510fb-2733-47b8-b384-983263cb66bf" providerId="ADAL" clId="{34705DC1-99F8-4884-9D4F-8933909EB766}" dt="2026-09-12T08:27:54.257" v="3680" actId="729"/>
        <pc:sldMkLst>
          <pc:docMk/>
          <pc:sldMk cId="0" sldId="268"/>
        </pc:sldMkLst>
      </pc:sldChg>
      <pc:sldChg chg="mod modShow">
        <pc:chgData name="Diana Morgan" userId="334510fb-2733-47b8-b384-983263cb66bf" providerId="ADAL" clId="{34705DC1-99F8-4884-9D4F-8933909EB766}" dt="2026-09-12T08:11:10.959" v="3443" actId="729"/>
        <pc:sldMkLst>
          <pc:docMk/>
          <pc:sldMk cId="0" sldId="269"/>
        </pc:sldMkLst>
      </pc:sldChg>
      <pc:sldChg chg="mod modShow">
        <pc:chgData name="Diana Morgan" userId="334510fb-2733-47b8-b384-983263cb66bf" providerId="ADAL" clId="{34705DC1-99F8-4884-9D4F-8933909EB766}" dt="2026-09-12T08:11:12.277" v="3444" actId="729"/>
        <pc:sldMkLst>
          <pc:docMk/>
          <pc:sldMk cId="0" sldId="270"/>
        </pc:sldMkLst>
      </pc:sldChg>
      <pc:sldChg chg="delSp modSp add mod modNotesTx">
        <pc:chgData name="Diana Morgan" userId="334510fb-2733-47b8-b384-983263cb66bf" providerId="ADAL" clId="{34705DC1-99F8-4884-9D4F-8933909EB766}" dt="2026-09-12T08:56:28.354" v="4995" actId="20577"/>
        <pc:sldMkLst>
          <pc:docMk/>
          <pc:sldMk cId="2360089106" sldId="271"/>
        </pc:sldMkLst>
        <pc:spChg chg="mod">
          <ac:chgData name="Diana Morgan" userId="334510fb-2733-47b8-b384-983263cb66bf" providerId="ADAL" clId="{34705DC1-99F8-4884-9D4F-8933909EB766}" dt="2026-09-12T08:48:36.225" v="4313" actId="20577"/>
          <ac:spMkLst>
            <pc:docMk/>
            <pc:sldMk cId="2360089106" sldId="271"/>
            <ac:spMk id="2" creationId="{B54B6545-B7A1-85CC-E0AA-B296508CA065}"/>
          </ac:spMkLst>
        </pc:spChg>
        <pc:spChg chg="del">
          <ac:chgData name="Diana Morgan" userId="334510fb-2733-47b8-b384-983263cb66bf" providerId="ADAL" clId="{34705DC1-99F8-4884-9D4F-8933909EB766}" dt="2026-09-12T08:48:38.476" v="4314" actId="478"/>
          <ac:spMkLst>
            <pc:docMk/>
            <pc:sldMk cId="2360089106" sldId="271"/>
            <ac:spMk id="4" creationId="{46FA09AA-94D9-FC31-9DFD-1FC7A87E858E}"/>
          </ac:spMkLst>
        </pc:spChg>
        <pc:spChg chg="mod">
          <ac:chgData name="Diana Morgan" userId="334510fb-2733-47b8-b384-983263cb66bf" providerId="ADAL" clId="{34705DC1-99F8-4884-9D4F-8933909EB766}" dt="2026-09-12T08:50:10.645" v="4374" actId="20577"/>
          <ac:spMkLst>
            <pc:docMk/>
            <pc:sldMk cId="2360089106" sldId="271"/>
            <ac:spMk id="10" creationId="{172F484B-4239-9395-4383-04FB0B335E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030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4000 patients admitted to hospital with a heart failure and discharged alive. The data then follows up on them for up to 36 months recording death and censoring events (time in months),</a:t>
            </a:r>
          </a:p>
          <a:p>
            <a:r>
              <a:rPr lang="en-US" dirty="0"/>
              <a:t>after which all the remaining patient outcomes are censored.</a:t>
            </a:r>
          </a:p>
          <a:p>
            <a:endParaRPr lang="en-US" dirty="0"/>
          </a:p>
          <a:p>
            <a:r>
              <a:rPr lang="en-US" dirty="0"/>
              <a:t>There are 25 covariates available, composed of demographics, laboratory measurements, and prior conditions (e.g. hypertension) </a:t>
            </a:r>
          </a:p>
          <a:p>
            <a:endParaRPr lang="en-US" dirty="0"/>
          </a:p>
          <a:p>
            <a:r>
              <a:rPr lang="en-US" dirty="0"/>
              <a:t>About 1600 are dead at the end of the follow up, while accounting for censoring - a bit more then half survive to the end, with 75% alive at the end of one year. </a:t>
            </a:r>
          </a:p>
          <a:p>
            <a:endParaRPr lang="en-US" dirty="0"/>
          </a:p>
          <a:p>
            <a:r>
              <a:rPr lang="en-US" dirty="0"/>
              <a:t>Majority of censoring events are administrative – at the end of the follow up.</a:t>
            </a:r>
          </a:p>
          <a:p>
            <a:endParaRPr lang="en-US" dirty="0"/>
          </a:p>
          <a:p>
            <a:r>
              <a:rPr lang="en-US" dirty="0"/>
              <a:t>KM descends to 0.53 at the end of period, with steepest at the first few months, then close to linear.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the first project assignment which mostly dealt with the exploration of the data:</a:t>
            </a:r>
          </a:p>
          <a:p>
            <a:endParaRPr lang="en-US" dirty="0"/>
          </a:p>
          <a:p>
            <a:r>
              <a:rPr lang="en-US" dirty="0"/>
              <a:t>We have attempted different stratifications back in PA1 – sex and diabetes – which showed to separate nothing. </a:t>
            </a:r>
          </a:p>
          <a:p>
            <a:r>
              <a:rPr lang="en-US" dirty="0"/>
              <a:t>Our new, more insightful stratification is, as you can see, on age and discharge BUN levels split at the median.  As we can see on the graphs, older patients, as well as patients with higher BUN levels have worth outcomes. </a:t>
            </a:r>
          </a:p>
          <a:p>
            <a:r>
              <a:rPr lang="en-US" dirty="0"/>
              <a:t>Reminder that over all KM falls to about 0.53 at 36 months. </a:t>
            </a:r>
          </a:p>
          <a:p>
            <a:endParaRPr lang="en-US" dirty="0"/>
          </a:p>
          <a:p>
            <a:r>
              <a:rPr lang="en-US" dirty="0"/>
              <a:t>We see clear connection between (some) covariates and the outcome – it motivates later attempts at prediction rather well.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of the assignments moves on to modeling. The Cox model we settle on includes nine significant terms, including delta BUN – a term we constructed from the difference between discharge and intake BUN levels. </a:t>
            </a:r>
          </a:p>
          <a:p>
            <a:r>
              <a:rPr lang="en-US" dirty="0"/>
              <a:t>It has proven to be a useful predictor via a likelihood ratio test against a model with all the variables but it. Fit on all of the data.</a:t>
            </a:r>
          </a:p>
          <a:p>
            <a:endParaRPr lang="en-US" dirty="0"/>
          </a:p>
          <a:p>
            <a:r>
              <a:rPr lang="en-US" dirty="0"/>
              <a:t>We see the same terms that successfully stratified in part 1 are now hold high significance as predictors. </a:t>
            </a:r>
          </a:p>
          <a:p>
            <a:endParaRPr lang="en-US" dirty="0"/>
          </a:p>
          <a:p>
            <a:endParaRPr lang="en-US" dirty="0"/>
          </a:p>
          <a:p>
            <a:r>
              <a:rPr lang="en-US" dirty="0"/>
              <a:t>Cox assumes three things that will be relevant later: </a:t>
            </a:r>
          </a:p>
          <a:p>
            <a:endParaRPr lang="en-US" dirty="0"/>
          </a:p>
          <a:p>
            <a:r>
              <a:rPr lang="en-US" dirty="0"/>
              <a:t>Linearity (--- 60 -&gt; 70 age is same as 70 -&gt; 80 ---), </a:t>
            </a:r>
          </a:p>
          <a:p>
            <a:r>
              <a:rPr lang="en-US" dirty="0"/>
              <a:t>Additivity (--- No covariate modifies another’s effects (no interaction terms) ---)</a:t>
            </a:r>
          </a:p>
          <a:p>
            <a:r>
              <a:rPr lang="en-US" dirty="0"/>
              <a:t>Proportional Hazards (--- baseline hazard is independent of time, depends only on the covariates X ---)</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Of these we test the proportional hazards assumption with the </a:t>
            </a:r>
            <a:r>
              <a:rPr lang="en-001" sz="1200" b="0" kern="1200" dirty="0">
                <a:solidFill>
                  <a:schemeClr val="tx1"/>
                </a:solidFill>
                <a:effectLst/>
                <a:latin typeface="+mn-lt"/>
                <a:ea typeface="+mn-ea"/>
                <a:cs typeface="+mn-cs"/>
              </a:rPr>
              <a:t>Schoenfeld residual test</a:t>
            </a:r>
            <a:r>
              <a:rPr lang="en-US" sz="1200" b="0" kern="1200" dirty="0">
                <a:solidFill>
                  <a:schemeClr val="tx1"/>
                </a:solidFill>
                <a:effectLst/>
                <a:latin typeface="+mn-lt"/>
                <a:ea typeface="+mn-ea"/>
                <a:cs typeface="+mn-cs"/>
              </a:rPr>
              <a:t>, detecting two (mildly) significant variables – BUN discharge and length of stay, nothing drastic visible on the residual plots.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a:t>
            </a:r>
          </a:p>
          <a:p>
            <a:r>
              <a:rPr lang="en-US" dirty="0"/>
              <a:t>Reminders:</a:t>
            </a:r>
          </a:p>
          <a:p>
            <a:r>
              <a:rPr lang="en-US" dirty="0"/>
              <a:t>Cox models the hazard – not survival directly : h(t | X) = </a:t>
            </a:r>
            <a:r>
              <a:rPr lang="en-001" dirty="0"/>
              <a:t>h</a:t>
            </a:r>
            <a:r>
              <a:rPr lang="en-001" dirty="0">
                <a:effectLst/>
              </a:rPr>
              <a:t>0</a:t>
            </a:r>
            <a:r>
              <a:rPr lang="en-001" dirty="0"/>
              <a:t>​(t)</a:t>
            </a:r>
            <a:r>
              <a:rPr lang="en-US" dirty="0"/>
              <a:t> </a:t>
            </a:r>
            <a:r>
              <a:rPr lang="en-001" dirty="0"/>
              <a:t>exp(</a:t>
            </a:r>
            <a:r>
              <a:rPr lang="en-001" dirty="0">
                <a:effectLst/>
              </a:rPr>
              <a:t>β1</a:t>
            </a:r>
            <a:r>
              <a:rPr lang="en-US" dirty="0">
                <a:effectLst/>
              </a:rPr>
              <a:t> </a:t>
            </a:r>
            <a:r>
              <a:rPr lang="en-001" dirty="0"/>
              <a:t>​x</a:t>
            </a:r>
            <a:r>
              <a:rPr lang="en-001" dirty="0">
                <a:effectLst/>
              </a:rPr>
              <a:t>1</a:t>
            </a:r>
            <a:r>
              <a:rPr lang="en-001" dirty="0"/>
              <a:t>​+⋯+</a:t>
            </a:r>
            <a:r>
              <a:rPr lang="en-001" dirty="0">
                <a:effectLst/>
              </a:rPr>
              <a:t>βp</a:t>
            </a:r>
            <a:r>
              <a:rPr lang="en-001" dirty="0"/>
              <a:t>​</a:t>
            </a:r>
            <a:r>
              <a:rPr lang="en-US" dirty="0"/>
              <a:t> </a:t>
            </a:r>
            <a:r>
              <a:rPr lang="en-001" dirty="0" err="1"/>
              <a:t>x</a:t>
            </a:r>
            <a:r>
              <a:rPr lang="en-001" dirty="0" err="1">
                <a:effectLst/>
              </a:rPr>
              <a:t>p</a:t>
            </a:r>
            <a:r>
              <a:rPr lang="en-001" dirty="0"/>
              <a:t>​)</a:t>
            </a:r>
            <a:r>
              <a:rPr lang="en-US" dirty="0"/>
              <a:t> 	</a:t>
            </a:r>
            <a:r>
              <a:rPr lang="en-US" dirty="0" err="1">
                <a:effectLst/>
              </a:rPr>
              <a:t>S_hat</a:t>
            </a:r>
            <a:r>
              <a:rPr lang="en-US" dirty="0">
                <a:effectLst/>
              </a:rPr>
              <a:t> 0 </a:t>
            </a:r>
            <a:r>
              <a:rPr lang="en-001" dirty="0"/>
              <a:t>​(t)=e</a:t>
            </a:r>
            <a:r>
              <a:rPr lang="en-US" dirty="0"/>
              <a:t>^(</a:t>
            </a:r>
            <a:r>
              <a:rPr lang="en-001" dirty="0">
                <a:effectLst/>
              </a:rPr>
              <a:t>−H</a:t>
            </a:r>
            <a:r>
              <a:rPr lang="en-US" dirty="0">
                <a:effectLst/>
              </a:rPr>
              <a:t>_hat </a:t>
            </a:r>
            <a:r>
              <a:rPr lang="en-001" dirty="0">
                <a:effectLst/>
              </a:rPr>
              <a:t>0​</a:t>
            </a:r>
            <a:r>
              <a:rPr lang="en-US" dirty="0">
                <a:effectLst/>
              </a:rPr>
              <a:t> </a:t>
            </a:r>
            <a:r>
              <a:rPr lang="en-001" dirty="0">
                <a:effectLst/>
              </a:rPr>
              <a:t>(t)</a:t>
            </a:r>
            <a:r>
              <a:rPr lang="en-US" dirty="0">
                <a:effectLst/>
              </a:rPr>
              <a:t> )</a:t>
            </a:r>
            <a:endParaRPr lang="en-US" dirty="0"/>
          </a:p>
          <a:p>
            <a:endParaRPr lang="en-US" dirty="0"/>
          </a:p>
          <a:p>
            <a:r>
              <a:rPr lang="en-US" dirty="0"/>
              <a:t>Baseline hazard is not estimated, use partial likelihood to fit : (given exactly one death happened now – what’s the probability it was *this* patient out of the risk set). Baselines cancel out. </a:t>
            </a:r>
          </a:p>
          <a:p>
            <a:endParaRPr lang="en-US" dirty="0"/>
          </a:p>
          <a:p>
            <a:r>
              <a:rPr lang="en-001" dirty="0"/>
              <a:t>HR &gt; 1 is worse</a:t>
            </a:r>
            <a:r>
              <a:rPr lang="en-US" dirty="0"/>
              <a:t> </a:t>
            </a:r>
          </a:p>
          <a:p>
            <a:r>
              <a:rPr lang="en-US" dirty="0"/>
              <a:t>Example: Age HR = 1.044  -&gt;  4.4% higher hazard for one more year. 10 more years  -&gt;  1.044^10 = 1.55 = 55% higher hazard. </a:t>
            </a:r>
          </a:p>
          <a:p>
            <a:r>
              <a:rPr lang="en-US" dirty="0"/>
              <a:t> (hazards are </a:t>
            </a:r>
            <a:r>
              <a:rPr lang="en-001" dirty="0"/>
              <a:t>multiplicative</a:t>
            </a:r>
            <a:r>
              <a:rPr lang="en-US" dirty="0"/>
              <a:t>) </a:t>
            </a:r>
          </a:p>
          <a:p>
            <a:endParaRPr lang="en-US" dirty="0"/>
          </a:p>
          <a:p>
            <a:endParaRPr lang="en-US" dirty="0"/>
          </a:p>
          <a:p>
            <a:r>
              <a:rPr lang="en-US" dirty="0"/>
              <a:t>Concordance = </a:t>
            </a:r>
            <a:r>
              <a:rPr lang="en-001" dirty="0"/>
              <a:t>shown two patients, does the model correctly say which one dies sooner?</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001" dirty="0"/>
              <a:t>Where they disagree is high BUN. And there's almost nobody there — three quarters of patients have BUN under 39, but the axis runs to 236. So the whole visible disagreement happens in a corner of the plot holding a handful of people. Out there neither model has data, so each is just guessing in its own way.</a:t>
            </a:r>
            <a:endParaRPr lang="en-US" dirty="0"/>
          </a:p>
          <a:p>
            <a:endParaRPr lang="en-US" dirty="0"/>
          </a:p>
          <a:p>
            <a:endParaRPr lang="en-US" dirty="0"/>
          </a:p>
          <a:p>
            <a:endParaRPr lang="en-US" dirty="0"/>
          </a:p>
          <a:p>
            <a:r>
              <a:rPr lang="en-US" dirty="0"/>
              <a:t>------------------</a:t>
            </a:r>
          </a:p>
          <a:p>
            <a:r>
              <a:rPr lang="en-US" dirty="0"/>
              <a:t>Reminders:</a:t>
            </a:r>
          </a:p>
          <a:p>
            <a:r>
              <a:rPr lang="en-US" dirty="0"/>
              <a:t>AFT (accelerated failure time) models survival time :	 </a:t>
            </a:r>
            <a:r>
              <a:rPr lang="en-001" dirty="0" err="1"/>
              <a:t>lo</a:t>
            </a:r>
            <a:r>
              <a:rPr lang="en-001" dirty="0" err="1">
                <a:effectLst/>
              </a:rPr>
              <a:t>gT</a:t>
            </a:r>
            <a:r>
              <a:rPr lang="en-US" dirty="0">
                <a:effectLst/>
              </a:rPr>
              <a:t> </a:t>
            </a:r>
            <a:r>
              <a:rPr lang="en-001" dirty="0"/>
              <a:t>=</a:t>
            </a:r>
            <a:r>
              <a:rPr lang="en-US" dirty="0"/>
              <a:t> </a:t>
            </a:r>
            <a:r>
              <a:rPr lang="en-001" dirty="0"/>
              <a:t>μ+</a:t>
            </a:r>
            <a:r>
              <a:rPr lang="en-001" dirty="0">
                <a:effectLst/>
              </a:rPr>
              <a:t>βX</a:t>
            </a:r>
            <a:r>
              <a:rPr lang="en-US" dirty="0">
                <a:effectLst/>
              </a:rPr>
              <a:t> </a:t>
            </a:r>
            <a:r>
              <a:rPr lang="en-001" dirty="0"/>
              <a:t>+</a:t>
            </a:r>
            <a:r>
              <a:rPr lang="en-US" dirty="0"/>
              <a:t> </a:t>
            </a:r>
            <a:r>
              <a:rPr lang="en-001" dirty="0" err="1">
                <a:effectLst/>
              </a:rPr>
              <a:t>σW</a:t>
            </a:r>
            <a:r>
              <a:rPr lang="en-US" dirty="0">
                <a:effectLst/>
              </a:rPr>
              <a:t>    	</a:t>
            </a:r>
            <a:r>
              <a:rPr lang="en-001" dirty="0">
                <a:effectLst/>
              </a:rPr>
              <a:t>S</a:t>
            </a:r>
            <a:r>
              <a:rPr lang="en-001" dirty="0"/>
              <a:t>(t</a:t>
            </a:r>
            <a:r>
              <a:rPr lang="en-US" dirty="0"/>
              <a:t> </a:t>
            </a:r>
            <a:r>
              <a:rPr lang="en-001" dirty="0"/>
              <a:t>∣</a:t>
            </a:r>
            <a:r>
              <a:rPr lang="en-US" dirty="0"/>
              <a:t> </a:t>
            </a:r>
            <a:r>
              <a:rPr lang="en-001" dirty="0">
                <a:effectLst/>
              </a:rPr>
              <a:t>X</a:t>
            </a:r>
            <a:r>
              <a:rPr lang="en-001" dirty="0"/>
              <a:t>)</a:t>
            </a:r>
            <a:r>
              <a:rPr lang="en-US" dirty="0"/>
              <a:t> </a:t>
            </a:r>
            <a:r>
              <a:rPr lang="en-001" dirty="0"/>
              <a:t>=</a:t>
            </a:r>
            <a:r>
              <a:rPr lang="en-US" dirty="0"/>
              <a:t> </a:t>
            </a:r>
            <a:r>
              <a:rPr lang="en-001" dirty="0">
                <a:effectLst/>
              </a:rPr>
              <a:t>S0</a:t>
            </a:r>
            <a:r>
              <a:rPr lang="en-US" dirty="0">
                <a:effectLst/>
              </a:rPr>
              <a:t> </a:t>
            </a:r>
            <a:r>
              <a:rPr lang="en-001" dirty="0"/>
              <a:t>​</a:t>
            </a:r>
            <a:r>
              <a:rPr lang="en-001" dirty="0">
                <a:effectLst/>
              </a:rPr>
              <a:t>(</a:t>
            </a:r>
            <a:r>
              <a:rPr lang="en-US" dirty="0">
                <a:effectLst/>
              </a:rPr>
              <a:t>t / </a:t>
            </a:r>
            <a:r>
              <a:rPr lang="en-001" dirty="0">
                <a:effectLst/>
              </a:rPr>
              <a:t>exp(βX))</a:t>
            </a:r>
            <a:r>
              <a:rPr lang="en-US" dirty="0">
                <a:effectLst/>
              </a:rPr>
              <a:t> ; S0 – survival curve of reference patient (X = 0), 	</a:t>
            </a:r>
            <a:r>
              <a:rPr lang="en-001" dirty="0">
                <a:effectLst/>
              </a:rPr>
              <a:t>S0</a:t>
            </a:r>
            <a:r>
              <a:rPr lang="en-001" dirty="0"/>
              <a:t>​(u)=1−Φ</a:t>
            </a:r>
            <a:r>
              <a:rPr lang="en-001" dirty="0">
                <a:effectLst/>
              </a:rPr>
              <a:t>(</a:t>
            </a:r>
            <a:r>
              <a:rPr lang="en-US" dirty="0">
                <a:effectLst/>
              </a:rPr>
              <a:t>(</a:t>
            </a:r>
            <a:r>
              <a:rPr lang="en-001" dirty="0">
                <a:effectLst/>
              </a:rPr>
              <a:t>logu−μ0​</a:t>
            </a:r>
            <a:r>
              <a:rPr lang="en-001" dirty="0"/>
              <a:t>​</a:t>
            </a:r>
            <a:r>
              <a:rPr lang="en-US" dirty="0"/>
              <a:t>) / </a:t>
            </a:r>
            <a:r>
              <a:rPr lang="en-001" dirty="0">
                <a:effectLst/>
              </a:rPr>
              <a:t>σ)</a:t>
            </a:r>
            <a:r>
              <a:rPr lang="en-US" dirty="0">
                <a:effectLst/>
              </a:rPr>
              <a:t>. </a:t>
            </a:r>
          </a:p>
          <a:p>
            <a:r>
              <a:rPr lang="en-US" dirty="0">
                <a:effectLst/>
              </a:rPr>
              <a:t>In log-normal AFT W is normal distribution</a:t>
            </a:r>
          </a:p>
          <a:p>
            <a:endParaRPr lang="en-US" dirty="0"/>
          </a:p>
          <a:p>
            <a:r>
              <a:rPr lang="en-US" dirty="0"/>
              <a:t>I</a:t>
            </a:r>
            <a:r>
              <a:rPr lang="en-001" dirty="0"/>
              <a:t>n an AFT model there is only ever </a:t>
            </a:r>
            <a:r>
              <a:rPr lang="en-001" i="0" dirty="0"/>
              <a:t>one</a:t>
            </a:r>
            <a:r>
              <a:rPr lang="en-001" dirty="0"/>
              <a:t> survival curve. Every patient rides that same curve. Covariates change nothing about its shape — they only change </a:t>
            </a:r>
            <a:r>
              <a:rPr lang="en-001" b="0" dirty="0"/>
              <a:t>how fast you travel along it</a:t>
            </a:r>
            <a:r>
              <a:rPr lang="en-001" b="1" dirty="0"/>
              <a:t>.</a:t>
            </a:r>
            <a:endParaRPr lang="en-US" dirty="0"/>
          </a:p>
          <a:p>
            <a:endParaRPr lang="en-US" dirty="0"/>
          </a:p>
          <a:p>
            <a:r>
              <a:rPr lang="en-001" dirty="0"/>
              <a:t>ϕ=exp(</a:t>
            </a:r>
            <a:r>
              <a:rPr lang="en-001" dirty="0">
                <a:effectLst/>
              </a:rPr>
              <a:t>βX</a:t>
            </a:r>
            <a:r>
              <a:rPr lang="en-001" dirty="0"/>
              <a:t>) is that speed. ϕ=0.8 means this patient moves through the curve 1/0.8 = 1.25× faster than the reference. ϕ=1.2 would mean slower, i.e. better off</a:t>
            </a:r>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modify the questions we had in PA1 </a:t>
            </a:r>
          </a:p>
          <a:p>
            <a:endParaRPr lang="en-US" dirty="0"/>
          </a:p>
          <a:p>
            <a:r>
              <a:rPr lang="en-US" dirty="0"/>
              <a:t>(</a:t>
            </a:r>
          </a:p>
          <a:p>
            <a:r>
              <a:rPr lang="en-001" sz="1200" b="0" kern="1200" dirty="0">
                <a:solidFill>
                  <a:schemeClr val="tx1"/>
                </a:solidFill>
                <a:effectLst/>
                <a:latin typeface="+mn-lt"/>
                <a:ea typeface="+mn-ea"/>
                <a:cs typeface="+mn-cs"/>
              </a:rPr>
              <a:t>&gt; RQ1 (PA1). Does the difference between BUN on admission and on discharge have a significant effect on the survival outcome?</a:t>
            </a:r>
          </a:p>
          <a:p>
            <a:r>
              <a:rPr lang="en-001" sz="1200" b="0" kern="1200" dirty="0">
                <a:solidFill>
                  <a:schemeClr val="tx1"/>
                </a:solidFill>
                <a:effectLst/>
                <a:latin typeface="+mn-lt"/>
                <a:ea typeface="+mn-ea"/>
                <a:cs typeface="+mn-cs"/>
              </a:rPr>
              <a:t>&gt; RQ2 (PA1). Are there covariate interactions with a significant effect on the survival outcome?</a:t>
            </a:r>
          </a:p>
          <a:p>
            <a:r>
              <a:rPr lang="en-001" sz="1200" b="0" kern="1200" dirty="0">
                <a:solidFill>
                  <a:schemeClr val="tx1"/>
                </a:solidFill>
                <a:effectLst/>
                <a:latin typeface="+mn-lt"/>
                <a:ea typeface="+mn-ea"/>
                <a:cs typeface="+mn-cs"/>
              </a:rPr>
              <a:t>&gt; RQ3 (PA1). How accurately can survival be predicted at hospital discharge?</a:t>
            </a:r>
          </a:p>
          <a:p>
            <a:r>
              <a:rPr lang="en-US" dirty="0"/>
              <a:t>)</a:t>
            </a:r>
          </a:p>
          <a:p>
            <a:endParaRPr lang="en-US" dirty="0"/>
          </a:p>
          <a:p>
            <a:r>
              <a:rPr lang="en-US" dirty="0"/>
              <a:t>First one was answered in PA2.</a:t>
            </a:r>
          </a:p>
          <a:p>
            <a:r>
              <a:rPr lang="en-US" dirty="0"/>
              <a:t>Second one – testing 105 interactions is likely to give us something significant by chance, we concentrate on two specific interactions instead. </a:t>
            </a:r>
          </a:p>
          <a:p>
            <a:r>
              <a:rPr lang="en-US" dirty="0"/>
              <a:t>Third – still of interest, not yet addressed</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05D27-260A-695B-AA87-7523BB86E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CA485-14CD-CAFF-33BA-14A6E5479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F6A84-B7E7-7B68-EA09-8BF422162055}"/>
              </a:ext>
            </a:extLst>
          </p:cNvPr>
          <p:cNvSpPr>
            <a:spLocks noGrp="1"/>
          </p:cNvSpPr>
          <p:nvPr>
            <p:ph type="body" idx="1"/>
          </p:nvPr>
        </p:nvSpPr>
        <p:spPr/>
        <p:txBody>
          <a:bodyPr/>
          <a:lstStyle/>
          <a:p>
            <a:r>
              <a:rPr lang="en-US" dirty="0"/>
              <a:t>RQ1: PA1's third question improved.</a:t>
            </a:r>
          </a:p>
          <a:p>
            <a:endParaRPr lang="en-US" dirty="0"/>
          </a:p>
          <a:p>
            <a:r>
              <a:rPr lang="en-US" dirty="0"/>
              <a:t>RQ2: We relax different assumptions as we move on to different models and observe what has a true effect on the modeling. This is especially motivated by mild but present PH violation we found earlier</a:t>
            </a:r>
          </a:p>
          <a:p>
            <a:endParaRPr lang="en-US" dirty="0"/>
          </a:p>
          <a:p>
            <a:r>
              <a:rPr lang="en-US" dirty="0"/>
              <a:t>RQ3: We select two specific interactions that make sense:</a:t>
            </a:r>
          </a:p>
          <a:p>
            <a:endParaRPr lang="en-US" dirty="0"/>
          </a:p>
          <a:p>
            <a:r>
              <a:rPr lang="en-US" dirty="0"/>
              <a:t>Delta-BUN with discharge BUN are likely to affect one another, as the change is likely to have different strange of effect on different numeric levels of BUN</a:t>
            </a:r>
          </a:p>
          <a:p>
            <a:r>
              <a:rPr lang="en-US" dirty="0"/>
              <a:t>Age with discharge BUN are the two strongest predictors – their potential interaction is the most interesting one to explore. </a:t>
            </a:r>
          </a:p>
        </p:txBody>
      </p:sp>
      <p:sp>
        <p:nvSpPr>
          <p:cNvPr id="4" name="Slide Number Placeholder 3">
            <a:extLst>
              <a:ext uri="{FF2B5EF4-FFF2-40B4-BE49-F238E27FC236}">
                <a16:creationId xmlns:a16="http://schemas.microsoft.com/office/drawing/2014/main" id="{2F906F26-0DA7-5047-E4F9-AA1C7BECFC1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32356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80/20, stratified by the event indicator so the event rate — 42.4% — is identical in both sets. 
Training 3,168 patients, 1,343 events, 748 deaths within 12 months. Test 793 patients, 336 events, 199 deaths within 12 months.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training patients only, with the full-data estimates alongside.</a:t>
            </a:r>
          </a:p>
          <a:p>
            <a:endParaRPr lang="en-US" dirty="0"/>
          </a:p>
          <a:p>
            <a:r>
              <a:rPr lang="en-US" dirty="0"/>
              <a:t>I wouldn’t waste our time going into it too deeply, the main point is – nothing has moved too significantly from the full data model, estimates are stable.</a:t>
            </a:r>
          </a:p>
          <a:p>
            <a:r>
              <a:rPr lang="en-US" dirty="0"/>
              <a:t>The exception is Potassium and Bilirubin losing significance – likely from widening of the confidence intervals. </a:t>
            </a:r>
          </a:p>
          <a:p>
            <a:endParaRPr lang="en-US" dirty="0"/>
          </a:p>
          <a:p>
            <a:r>
              <a:rPr lang="en-US" dirty="0"/>
              <a:t>Seven terms remain significant with essentially unchanged hazard ratios</a:t>
            </a:r>
          </a:p>
          <a:p>
            <a:endParaRPr lang="en-US" dirty="0"/>
          </a:p>
          <a:p>
            <a:endParaRPr lang="en-US" dirty="0"/>
          </a:p>
          <a:p>
            <a:r>
              <a:rPr lang="en-US" dirty="0"/>
              <a:t>(maybe: </a:t>
            </a:r>
            <a:r>
              <a:rPr lang="en-001" dirty="0"/>
              <a:t>"The hazard ratio below 1 isn't saying a rise in BUN is good — with discharge BUN already in the model, it's saying that starting higher is bad.“</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Schoenfeld test, </a:t>
            </a:r>
          </a:p>
          <a:p>
            <a:endParaRPr lang="en-US" dirty="0"/>
          </a:p>
          <a:p>
            <a:r>
              <a:rPr lang="en-US" dirty="0"/>
              <a:t>The training set is not independent data — it is four fifths of the same cohort. A hazard ratio that genuinely varied over follow-up would still vary in that subset. Flags that swap like this look like noise, especially so close to p-value </a:t>
            </a:r>
            <a:r>
              <a:rPr lang="en-US" dirty="0" err="1"/>
              <a:t>threshhold</a:t>
            </a:r>
            <a:endParaRPr lang="en-US" dirty="0"/>
          </a:p>
          <a:p>
            <a:r>
              <a:rPr lang="en-US" dirty="0"/>
              <a:t>We conclude that PH assumption likely holds. </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001" dirty="0"/>
              <a:t>In practical terms, the baseline one-year survival is </a:t>
            </a:r>
            <a:r>
              <a:rPr lang="en-US" dirty="0"/>
              <a:t>82</a:t>
            </a:r>
            <a:r>
              <a:rPr lang="en-001" dirty="0"/>
              <a:t>%. Because the covariates are centred, that corresponds to a patient with average characteristics in the training data, not to a patient for whom every covariate is zero.</a:t>
            </a:r>
          </a:p>
          <a:p>
            <a:r>
              <a:rPr lang="en-US" dirty="0"/>
              <a:t>The representative patient is medians for continuous covariates and the most common level for comorbidity burden.</a:t>
            </a:r>
          </a:p>
          <a:p>
            <a:endParaRPr lang="en-US" dirty="0"/>
          </a:p>
          <a:p>
            <a:r>
              <a:rPr lang="en-US" dirty="0"/>
              <a:t>The grids run from the 1st to the 99th percentile rather than min to max (remove extreme outliers): discharge BUN reaches 199.7 in the training set but its upper quartile is 38, so a full-range axis would spend most of its length where almost no patients are.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interquartile range  = Q3 – Q1 – middle 50%</a:t>
            </a:r>
          </a:p>
          <a:p>
            <a:endParaRPr lang="en-US" dirty="0"/>
          </a:p>
          <a:p>
            <a:r>
              <a:rPr lang="en-US" dirty="0"/>
              <a:t>So, age matters most for a typical patient, while discharge BUN dominates the plotted range because of its long right tail and matters most for the minority discharged with high values.</a:t>
            </a:r>
          </a:p>
          <a:p>
            <a:endParaRPr lang="en-US" dirty="0"/>
          </a:p>
          <a:p>
            <a:endParaRPr lang="en-US" dirty="0"/>
          </a:p>
          <a:p>
            <a:endParaRPr lang="en-US" dirty="0"/>
          </a:p>
          <a:p>
            <a:r>
              <a:rPr lang="en-001" dirty="0"/>
              <a:t>All three curves have the same basic shape: they decline and then level off. But that shape comes from the way the Cox model is specified; it is not something we learned from the data. The flexible models let us check whether the data actually support that pattern.</a:t>
            </a:r>
            <a:endParaRPr lang="en-US" dirty="0"/>
          </a:p>
          <a:p>
            <a:endParaRPr lang="en-US" dirty="0"/>
          </a:p>
          <a:p>
            <a:r>
              <a:rPr lang="en-US" dirty="0"/>
              <a:t>----------</a:t>
            </a:r>
          </a:p>
          <a:p>
            <a:pPr rtl="0"/>
            <a:r>
              <a:rPr lang="en-US" dirty="0"/>
              <a:t>Reminders</a:t>
            </a:r>
          </a:p>
          <a:p>
            <a:pPr rtl="0"/>
            <a:br>
              <a:rPr lang="en-US" dirty="0"/>
            </a:br>
            <a:r>
              <a:rPr lang="en-US" dirty="0"/>
              <a:t>Breslow baseline  :</a:t>
            </a:r>
          </a:p>
          <a:p>
            <a:pPr rtl="0"/>
            <a:endParaRPr lang="en-US" dirty="0"/>
          </a:p>
          <a:p>
            <a:pPr rtl="0"/>
            <a:r>
              <a:rPr lang="en-001" dirty="0"/>
              <a:t>go through the data and count deaths as they happen, but instead of counting each person at risk as one person, count them by how sick the model says they are. A high-risk patient counts as more than one. That gives you a curve for someone of average sickness.</a:t>
            </a:r>
          </a:p>
          <a:p>
            <a:pPr rtl="0"/>
            <a:r>
              <a:rPr lang="en-001" dirty="0"/>
              <a:t>Then you get any individual patient's prediction by pushing that curve down (for riskier patients) or up (for safer ones).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one idea: each one removes a different Cox assumption, so whatever changes in the results tells us which assumption was costing us.</a:t>
            </a:r>
          </a:p>
          <a:p>
            <a:endParaRPr lang="en-US" dirty="0"/>
          </a:p>
          <a:p>
            <a:r>
              <a:rPr lang="en-US" dirty="0"/>
              <a:t>Read the table down the proportional hazards row — that's the interesting one. DeepSurv is still a PH model: it only replaces the linear predictor with a network g(x), so the hazard ratio between two patients is exp{g(x1) - g(x2)}, which has no t in it. Cox-Time puts time inside the network, g(t, x), so that ratio can move over follow-up. The forest assumes nothing at all — no baseline hazard, no risk score. It splits on the log-rank statistic and reads a Nelson-Aalen estimate out of the leaf, averaged over 500 trees.</a:t>
            </a:r>
          </a:p>
          <a:p>
            <a:endParaRPr lang="en-US" dirty="0"/>
          </a:p>
          <a:p>
            <a:r>
              <a:rPr lang="en-US" dirty="0"/>
              <a:t>Same sixteen design terms and the same training patients for all four models, so any difference is the model and not the inputs.</a:t>
            </a:r>
          </a:p>
          <a:p>
            <a:endParaRPr lang="en-US" dirty="0"/>
          </a:p>
          <a:p>
            <a:r>
              <a:rPr lang="en-US" dirty="0"/>
              <a:t>Tuning: 5-fold CV inside the training set only, scored by the integrated Brier score over the first year, so tuning and final evaluation target the same quantity. One-SE rule — take the simplest configuration within one standard error of the best. Every model landed at the least flexible end of its grid: the forest at leaf 50 and 4 features, both networks at a single 16-unit layer with the higher dropout. And all four CV scores sit inside one SE of each other. That is essentially the answer to the whole project, arriving before we ever touch the test set.</a:t>
            </a:r>
          </a:p>
          <a:p>
            <a:endParaRPr lang="en-US" dirty="0"/>
          </a:p>
          <a:p>
            <a:r>
              <a:rPr lang="en-US" dirty="0"/>
              <a:t>Test set still untouched at this point.</a:t>
            </a:r>
          </a:p>
          <a:p>
            <a:endParaRPr lang="en-US" dirty="0"/>
          </a:p>
          <a:p>
            <a:r>
              <a:rPr lang="en-US" dirty="0"/>
              <a:t>----------------</a:t>
            </a:r>
          </a:p>
          <a:p>
            <a:r>
              <a:rPr lang="en-US" dirty="0"/>
              <a:t>Reminders:</a:t>
            </a:r>
          </a:p>
          <a:p>
            <a:r>
              <a:rPr lang="en-US" dirty="0"/>
              <a:t>Why case-control sampling for Cox-Time: the full partial likelihood would need the network evaluated at every event time for everyone still at risk. We sample one control per event instead.</a:t>
            </a:r>
          </a:p>
          <a:p>
            <a:r>
              <a:rPr lang="en-US" dirty="0"/>
              <a:t>Leaf 50 at a 42% event rate is about 21 events per leaf — that is what makes the forest's curves flatten later.</a:t>
            </a:r>
          </a:p>
          <a:p>
            <a:r>
              <a:rPr lang="en-US" dirty="0"/>
              <a:t>Breslow baseline is fitted after training, from the estimated risk scores.</a:t>
            </a:r>
          </a:p>
          <a:p>
            <a:r>
              <a:rPr lang="en-US" dirty="0"/>
              <a:t>Why not a single validation split: only about a fifth of the cohort dies within the year, so one split is noisy. CV reuses the same folds for all three models.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grids and the same representative patient as the Cox-only plots — 1st to 99th training percentile, everything else held at its median. So the four curves are directly comparable.</a:t>
            </a:r>
          </a:p>
          <a:p>
            <a:endParaRPr lang="en-US" dirty="0"/>
          </a:p>
          <a:p>
            <a:r>
              <a:rPr lang="en-US" dirty="0"/>
              <a:t>Over the interquartile range, where nearly all patients actually sit, the four models lie on top of each other. The age numbers are 0.110, 0.118, 0.105, 0.114, and all four rank age as the strongest covariate. The forest is the only one that reorders the other two, putting RDW above discharge BUN.</a:t>
            </a:r>
          </a:p>
          <a:p>
            <a:endParaRPr lang="en-US" dirty="0"/>
          </a:p>
          <a:p>
            <a:r>
              <a:rPr lang="en-US" dirty="0"/>
              <a:t>Where they split is the tails, and BUN is the clearest case. At the top of the grid Cox says 0.30 and the forest says 0.72 — a huge disagreement about the same patient. But look at what is out there: above roughly 75 mg/dL there is about 4% of the training set. The forest flattens because a leaf of 50 cannot split any further out there, and Cox keeps falling because a straight line on the log-hazard scale does not stop. Neither is evidence about biology; both are extrapolation.</a:t>
            </a:r>
          </a:p>
          <a:p>
            <a:endParaRPr lang="en-US" dirty="0"/>
          </a:p>
          <a:p>
            <a:r>
              <a:rPr lang="en-US" dirty="0"/>
              <a:t>So for RQ2: no non-linearity that Cox is missing where the data actually are.</a:t>
            </a:r>
          </a:p>
          <a:p>
            <a:endParaRPr lang="en-US" dirty="0"/>
          </a:p>
          <a:p>
            <a:r>
              <a:rPr lang="en-US" dirty="0"/>
              <a:t>----------------</a:t>
            </a:r>
          </a:p>
          <a:p>
            <a:r>
              <a:rPr lang="en-US" dirty="0"/>
              <a:t>Reminders:</a:t>
            </a:r>
          </a:p>
          <a:p>
            <a:r>
              <a:rPr lang="en-US" dirty="0"/>
              <a:t>DeepSurv tracks Cox to about 40 mg/dL and then bends upward; Cox-Time runs slightly below it through the middle of the range and crosses back above at the end.</a:t>
            </a:r>
          </a:p>
          <a:p>
            <a:r>
              <a:rPr lang="en-US" dirty="0"/>
              <a:t>Age is where the models agree most closely — visible divergence only past about 85 years.</a:t>
            </a:r>
          </a:p>
          <a:p>
            <a:r>
              <a:rPr lang="en-US" dirty="0"/>
              <a:t>The full numbers for all three covariates are on a backup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and only time the test set is used. 793 patients, 199 of them dying within the year.</a:t>
            </a:r>
          </a:p>
          <a:p>
            <a:endParaRPr lang="en-US" dirty="0"/>
          </a:p>
          <a:p>
            <a:r>
              <a:rPr lang="en-US" dirty="0"/>
              <a:t>Three measures because they ask three different questions. Uno's C asks whether we order patients correctly — shown two patients, does the model say which one dies sooner. IBS asks how far the whole predicted survival curve is from what actually happened, squared and averaged over the first twelve months. The calibration column asks whether a predicted 0.8 really means 80% survive.</a:t>
            </a:r>
          </a:p>
          <a:p>
            <a:endParaRPr lang="en-US" dirty="0"/>
          </a:p>
          <a:p>
            <a:r>
              <a:rPr lang="en-US" dirty="0"/>
              <a:t>The numbers cluster: C around 0.69 and IBS around 0.115 for everyone. Cox-Time is top on two of the three, but it beats Cox by 0.0008 — with 199 events that is not a result, and I want to be explicit that we are not claiming Cox-Time won. Cox, DeepSurv and Cox-Time are indistinguishable; the forest is the only one consistently behind on all three.</a:t>
            </a:r>
          </a:p>
          <a:p>
            <a:endParaRPr lang="en-US" dirty="0"/>
          </a:p>
          <a:p>
            <a:r>
              <a:rPr lang="en-US" dirty="0"/>
              <a:t>The one thing that does separate them is the spread of the predictions rather than the average. The forest never predicts below 0.44, while Cox has the widest range and puts two extreme-BUN patients near zero, one of them beyond the training maximum. Same tail story as the previous slide.</a:t>
            </a:r>
          </a:p>
          <a:p>
            <a:endParaRPr lang="en-US" dirty="0"/>
          </a:p>
          <a:p>
            <a:r>
              <a:rPr lang="en-US" dirty="0"/>
              <a:t>----------------</a:t>
            </a:r>
          </a:p>
          <a:p>
            <a:r>
              <a:rPr lang="en-US" dirty="0"/>
              <a:t>Reminders:</a:t>
            </a:r>
          </a:p>
          <a:p>
            <a:r>
              <a:rPr lang="en-US" dirty="0"/>
              <a:t>Uno's C uses inverse-probability-of-censoring weights estimated from the training data, so the estimate is not distorted by the censoring distribution. Harrell's C would be.</a:t>
            </a:r>
          </a:p>
          <a:p>
            <a:r>
              <a:rPr lang="en-US" dirty="0"/>
              <a:t>IBS uses IPCW Brier scores at months 1 to 12, trapezoidal rule, with BS(0) = 0 because everyone is alive at discharge and every model predicts S(0) = 1.</a:t>
            </a:r>
          </a:p>
          <a:p>
            <a:r>
              <a:rPr lang="en-US" dirty="0"/>
              <a:t>Calibration: deciles of predicted survival, observed estimated by Kaplan-Meier within each decile rather than a raw proportion, because every decile contains patients censored before 12 months. About 80 patients per decile, so the intervals are wide.</a:t>
            </a:r>
          </a:p>
          <a:p>
            <a:r>
              <a:rPr lang="en-US" dirty="0"/>
              <a:t>The calibration plot is a backup slide. Cox has the lowest error but separates two low-survival deciles the observed data do not distinguish; DeepSurv has the single largest miss; Cox-Time has several small deviations, which is why it is last on a mean-absolute measure without any severe miss.</a:t>
            </a:r>
          </a:p>
          <a:p>
            <a:r>
              <a:rPr lang="en-US" dirty="0"/>
              <a:t>Test scores are slightly worse than the CV values, as expected on unseen patients.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objection to the previous slide: four models can have the same C-index and still disagree completely about who is high risk. So we checked directly.</a:t>
            </a:r>
          </a:p>
          <a:p>
            <a:endParaRPr lang="en-US" dirty="0"/>
          </a:p>
          <a:p>
            <a:r>
              <a:rPr lang="en-US" dirty="0"/>
              <a:t>They do not disagree. Cox, DeepSurv and Cox-Time have Spearman correlations of at least 0.976 on predicted risk and share about 88% of their top-risk quintile — roughly 140 of the same 159 patients. The forest is the outlier at 0.884 and 71%.</a:t>
            </a:r>
          </a:p>
          <a:p>
            <a:endParaRPr lang="en-US" dirty="0"/>
          </a:p>
          <a:p>
            <a:r>
              <a:rPr lang="en-US" dirty="0"/>
              <a:t>The plot is what that means in practice. Split the test set into tertiles of predicted risk under each model and draw Kaplan-Meier. Cox gives 0.89, 0.78 and 0.55 at one year, with confidence bands that stay apart the whole way. The forest gets the low-risk group right and then collapses the middle and high groups to less than 0.08 apart with overlapping bands — it is calling two groups different when their outcomes are not. That is the same fact as the C-index gap in the table, but in the form a clinician would care about.</a:t>
            </a:r>
          </a:p>
          <a:p>
            <a:endParaRPr lang="en-US" dirty="0"/>
          </a:p>
          <a:p>
            <a:r>
              <a:rPr lang="en-US" dirty="0"/>
              <a:t>----------------</a:t>
            </a:r>
          </a:p>
          <a:p>
            <a:r>
              <a:rPr lang="en-US" dirty="0"/>
              <a:t>Reminders:</a:t>
            </a:r>
          </a:p>
          <a:p>
            <a:r>
              <a:rPr lang="en-US" dirty="0"/>
              <a:t>Quintiles are 159 patients each; tertiles are 263 to 265 each.</a:t>
            </a:r>
          </a:p>
          <a:p>
            <a:r>
              <a:rPr lang="en-US" dirty="0"/>
              <a:t>The full correlation matrix and all six pairwise overlaps are on a backup slide.</a:t>
            </a:r>
          </a:p>
          <a:p>
            <a:r>
              <a:rPr lang="en-US" dirty="0"/>
              <a:t>Why the forest compresses: its predictions are averages of leaf-level survival estimates, so they cannot go beyond the outcomes represented in the leaves.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the subgroups where the earlier plots said the models disagree — discharge BUN and age — and cut at the training medians, so the cut points do not depend on the test data.</a:t>
            </a:r>
          </a:p>
          <a:p>
            <a:endParaRPr lang="en-US" dirty="0"/>
          </a:p>
          <a:p>
            <a:r>
              <a:rPr lang="en-US" dirty="0"/>
              <a:t>The ranking barely moves. Cox is best in both BUN groups and the forest is worst in both. The only reversal anywhere is the forest coming top among patients 76 and under, and that group holds 62 of the 199 one-year deaths, so I would not lean on it.</a:t>
            </a:r>
          </a:p>
          <a:p>
            <a:endParaRPr lang="en-US" dirty="0"/>
          </a:p>
          <a:p>
            <a:r>
              <a:rPr lang="en-US" dirty="0"/>
              <a:t>The more interesting line is how much harder the high-risk halves are. C drops from 0.71 to 0.64 across the BUN split and from 0.67 to 0.62 across the age split. Every model struggles where the patients are sickest, and that is the real ceiling here.</a:t>
            </a:r>
          </a:p>
          <a:p>
            <a:endParaRPr lang="en-US" dirty="0"/>
          </a:p>
          <a:p>
            <a:r>
              <a:rPr lang="en-US" dirty="0"/>
              <a:t>Note also that BUN produced the largest visual disagreement two slides ago and produces no reversal here. That is consistent with our reading: the disagreement lives in the extreme tail, and a median split dilutes it.</a:t>
            </a:r>
          </a:p>
          <a:p>
            <a:endParaRPr lang="en-US" dirty="0"/>
          </a:p>
          <a:p>
            <a:r>
              <a:rPr lang="en-US" dirty="0"/>
              <a:t>----------------</a:t>
            </a:r>
          </a:p>
          <a:p>
            <a:r>
              <a:rPr lang="en-US" dirty="0"/>
              <a:t>Reminders:</a:t>
            </a:r>
          </a:p>
          <a:p>
            <a:r>
              <a:rPr lang="en-US" dirty="0"/>
              <a:t>IBS by subgroup is on the backup slide. Cox-Time is lowest in three of the four subgroups, all margins tiny.</a:t>
            </a:r>
          </a:p>
          <a:p>
            <a:r>
              <a:rPr lang="en-US" dirty="0"/>
              <a:t>Subgroup C-indices are not comparable to the overall value — restricting the range of risk mechanically lowers concordance.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interactions were specified in advance, before looking at any result. That matters: 105 covariate pairs would have handed us something significant by chance, which is exactly why we reframed the PA1 question. Bonferroni for two tests gives a threshold of 0.025.</a:t>
            </a:r>
          </a:p>
          <a:p>
            <a:endParaRPr lang="en-US" dirty="0"/>
          </a:p>
          <a:p>
            <a:r>
              <a:rPr lang="en-US" dirty="0"/>
              <a:t>Delta-BUN with discharge BUN clears it — likelihood ratio 5.85 on one degree of freedom, p = 0.016. The plot is the interpretation: the curves for different discharge BUN levels are not parallel, so the effect of a change in BUN during admission depends on the level the patient was discharged at. Age with discharge BUN gives nothing, p = 0.59, and its curves stay parallel — that figure is on a backup slide.</a:t>
            </a:r>
          </a:p>
          <a:p>
            <a:endParaRPr lang="en-US" dirty="0"/>
          </a:p>
          <a:p>
            <a:r>
              <a:rPr lang="en-US" dirty="0"/>
              <a:t>Then the punchline. Adding the significant interaction makes prediction very slightly worse: test C goes from 0.6959 to 0.6933, test IBS is unchanged to three decimals, and cross-validated IBS moves by far less than the fold-to-fold standard error of 0.0030. Statistically detectable, not predictively useful. That is the answer to RQ3, and a clean illustration that significance and prediction are different questions.</a:t>
            </a:r>
          </a:p>
          <a:p>
            <a:endParaRPr lang="en-US" dirty="0"/>
          </a:p>
          <a:p>
            <a:r>
              <a:rPr lang="en-US" dirty="0"/>
              <a:t>----------------</a:t>
            </a:r>
          </a:p>
          <a:p>
            <a:r>
              <a:rPr lang="en-US" dirty="0"/>
              <a:t>Reminders:</a:t>
            </a:r>
          </a:p>
          <a:p>
            <a:r>
              <a:rPr lang="en-US" dirty="0"/>
              <a:t>The HR of 1.0001 looks like nothing because it is per unit of a product of two variables in mg/dL; across the observed range it is not negligible.</a:t>
            </a:r>
          </a:p>
          <a:p>
            <a:r>
              <a:rPr lang="en-US" dirty="0"/>
              <a:t>Delta-BUN's own HR below 1 is not 'rising BUN is good'. With discharge BUN already in the model, it says that among two patients discharged at the same level, the one who started higher does worse. 0.990 per mg/dL of delta-BUN is the same statement as 1.010 per mg/dL of admission BUN.</a:t>
            </a:r>
          </a:p>
          <a:p>
            <a:r>
              <a:rPr lang="en-US" dirty="0"/>
              <a:t>Interactions were tested in the Cox model because that is where a term can be added and tested directly. The flexible models can represent interactions but do not give you a test for 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three answers, in the order we asked them.</a:t>
            </a:r>
          </a:p>
          <a:p>
            <a:endParaRPr lang="en-US" dirty="0"/>
          </a:p>
          <a:p>
            <a:r>
              <a:rPr lang="en-US" dirty="0"/>
              <a:t>One. About 0.69 concordance and 0.115 IBS at one year from what is known at discharge. That is moderate — useful for sorting patients into risk groups, not for an individual decision. And no flexible model beat Cox; the forest was the only one consistently worse.</a:t>
            </a:r>
          </a:p>
          <a:p>
            <a:endParaRPr lang="en-US" dirty="0"/>
          </a:p>
          <a:p>
            <a:r>
              <a:rPr lang="en-US" dirty="0"/>
              <a:t>Two. No assumption turned out to be the bottleneck. DeepSurv drops linearity and additivity, Cox-Time additionally drops proportional hazards, and both land on the same predictions and very nearly the same individual rankings as Cox. That fits the Schoenfeld results, where no covariate was flagged in both fits.</a:t>
            </a:r>
          </a:p>
          <a:p>
            <a:endParaRPr lang="en-US" dirty="0"/>
          </a:p>
          <a:p>
            <a:r>
              <a:rPr lang="en-US" dirty="0"/>
              <a:t>Three. The delta-BUN by discharge BUN interaction is real but does not improve prediction.</a:t>
            </a:r>
          </a:p>
          <a:p>
            <a:endParaRPr lang="en-US" dirty="0"/>
          </a:p>
          <a:p>
            <a:r>
              <a:rPr lang="en-US" dirty="0"/>
              <a:t>If I had to say what the project actually shows: the ceiling here is the information available at discharge, not the model class. Flexibility bought nothing because there was not much left to buy.</a:t>
            </a:r>
          </a:p>
          <a:p>
            <a:endParaRPr lang="en-US" dirty="0"/>
          </a:p>
          <a:p>
            <a:r>
              <a:rPr lang="en-US" dirty="0"/>
              <a:t>Limitations briefly — synthetic data, so external validity is limited; one split at one seed, so the test numbers carry sampling noise we have not quantified; a single one-year horizon; 199 one-year deaths bounds what any comparison can resolve; IPCW assumes censoring is independent of survival given the covariates; and no external validation.</a:t>
            </a:r>
          </a:p>
          <a:p>
            <a:endParaRPr lang="en-US" dirty="0"/>
          </a:p>
          <a:p>
            <a:r>
              <a:rPr lang="en-US" dirty="0"/>
              <a:t>----------------</a:t>
            </a:r>
          </a:p>
          <a:p>
            <a:r>
              <a:rPr lang="en-US" dirty="0"/>
              <a:t>If asked what we would do next: repeat the split over many seeds, or use nested cross-validation, to get intervals on the comparison rather than point estimates. A wider tuning grid is possible too, though the one-SE rule moving every model to its simplest setting suggests the grid was not the binding constraint.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full covariate table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two stratifications PA1 started from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full sixteen-term refitted model with confidence intervals. Use for any coefficient question.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Schoenfeld residual panels from the training fit, first eight terms. Smoothers are flat almost everywhere, with none of the steady drift a genuinely time-varying hazard ratio would produce. The terms flagged by the formal test look no different by eye from the rest.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Schoenfeld residual panels from the training fit, remaining eight terms. Same reading — flat smoothers throughout.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calibration on the test set. Deciles of predicted one-year survival; each point is the decile's mean prediction against its Kaplan-Meier observed survival, with 95% CIs, against the diagonal. Only about 80 patients per decile, so the intervals are wide and single points should not be over-read.</a:t>
            </a:r>
          </a:p>
          <a:p>
            <a:endParaRPr lang="en-US" dirty="0"/>
          </a:p>
          <a:p>
            <a:r>
              <a:rPr lang="en-US" dirty="0"/>
              <a:t>Cox has the lowest size-weighted mean absolute gap at 0.0367, though it separates two low-survival deciles that the observed data do not distinguish. DeepSurv has the largest single deviation. Cox-Time has several small deviations around the diagonal, which is why it is last on the summary measure despite having no severe miss. The forest's points cover a narrower range than the observed outcomes — the same compression that shows up in the risk tertiles.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full tuning results. 5-fold CV within the training set, folds drawn once and reused for all three models, every configuration scored by IBS over the first year.</a:t>
            </a:r>
          </a:p>
          <a:p>
            <a:endParaRPr lang="en-US" dirty="0"/>
          </a:p>
          <a:p>
            <a:r>
              <a:rPr lang="en-US" dirty="0"/>
              <a:t>Grids searched: RSF minimum leaf size 5 / 15 / 30 / 50 crossed with max features 4 / 8 / 16; both networks over hidden layers [16], [32, 32], [64, 64], dropout 0.1 / 0.4, learning rate 0.01 / 0.001. Fixed: 500 trees, Adam, batch size 256, max 512 epochs, early stopping after ten epochs without improvement with best weights restored, standardised covariates.</a:t>
            </a:r>
          </a:p>
          <a:p>
            <a:endParaRPr lang="en-US" dirty="0"/>
          </a:p>
          <a:p>
            <a:r>
              <a:rPr lang="en-US" dirty="0"/>
              <a:t>Epochs were not tuned separately — 20% of each fold's fitting data was held out for early stopping, and the final networks were trained on all training patients for the average best-epoch count. The Cox row is scored on the same folds as a reference and selected nothing. All four scores lie within one SE of each other, which is why the one-SE rule pushed every model to the simplest end of its grid.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full prediction table for all four models. Same grids (1st to 99th training percentile) and the same representative patient throughout — the Cox rows reproduce the Cox-only table exactly, which is the check that all four models are evaluated on identical inputs.</a:t>
            </a:r>
          </a:p>
          <a:p>
            <a:endParaRPr lang="en-US" dirty="0"/>
          </a:p>
          <a:p>
            <a:r>
              <a:rPr lang="en-US" dirty="0"/>
              <a:t>Drop over the IQR is the number to quote for a typical patient; drop over the grid is dominated by the tails, which is why Cox and the forest differ by 0.40 on BUN there and by only 0.03 over the IQR.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agreement between the models on individual test patients. Panel (a) is the Spearman rank correlation of predicted one-year risk; panel (b) is the overlap of the top-risk quintiles, 159 patients per model.</a:t>
            </a:r>
          </a:p>
          <a:p>
            <a:endParaRPr lang="en-US" dirty="0"/>
          </a:p>
          <a:p>
            <a:r>
              <a:rPr lang="en-US" dirty="0"/>
              <a:t>The three Cox-family models agree at 0.976 to 0.980 and share 87 to 89% of the top quintile. The forest sits apart at 0.884 to 0.911, sharing 71 to 78%. Jaccard is lower than the shared percentage because it counts the union in the denominator.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subgroup performance with IBS alongside Uno's C. Cuts at the training medians of discharge BUN (28 mg/dL) and age (76 years), so they do not depend on the test data.</a:t>
            </a:r>
          </a:p>
          <a:p>
            <a:endParaRPr lang="en-US" dirty="0"/>
          </a:p>
          <a:p>
            <a:r>
              <a:rPr lang="en-US" dirty="0"/>
              <a:t>Cox-Time has the lowest IBS in three of the four subgroups, with margins in the third or fourth decimal. Both measures get clearly worse in the high-BUN and older halves — 0.090 to 0.145 on IBS across the BUN split — which reflects how sick those patients are rather than a failure of any one model.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age by discharge BUN interaction. The curves for age at Q1, median and Q3 of discharge BUN stay approximately parallel to the additive Cox model, which is what a non-significant interaction looks like — likelihood ratio 0.29 on 1 df, p = 0.592.</a:t>
            </a:r>
          </a:p>
          <a:p>
            <a:endParaRPr lang="en-US" dirty="0"/>
          </a:p>
          <a:p>
            <a:r>
              <a:rPr lang="en-US" dirty="0"/>
              <a:t>Contrast with the delta-BUN figure on the main slide, where the curves fan out. Adding this term leaves test C at 0.6955 and test IBS at 0.1151, both indistinguishable from the additive model.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1874520"/>
            <a:ext cx="11057839" cy="1371600"/>
          </a:xfrm>
          <a:prstGeom prst="rect">
            <a:avLst/>
          </a:prstGeom>
          <a:noFill/>
          <a:ln/>
        </p:spPr>
        <p:txBody>
          <a:bodyPr wrap="square" lIns="0" tIns="0" rIns="0" bIns="0" rtlCol="0" anchor="ctr"/>
          <a:lstStyle/>
          <a:p>
            <a:pPr marL="0" indent="0" algn="l">
              <a:lnSpc>
                <a:spcPct val="108000"/>
              </a:lnSpc>
              <a:buNone/>
            </a:pPr>
            <a:r>
              <a:rPr lang="en-US" sz="4000" b="1" dirty="0">
                <a:solidFill>
                  <a:srgbClr val="1A1A1A"/>
                </a:solidFill>
                <a:latin typeface="Calibri" pitchFamily="34" charset="0"/>
                <a:ea typeface="Calibri" pitchFamily="34" charset="-122"/>
                <a:cs typeface="Calibri" pitchFamily="34" charset="-120"/>
              </a:rPr>
              <a:t>Predicting One-Year Survival</a:t>
            </a:r>
            <a:endParaRPr lang="en-US" sz="4000" dirty="0"/>
          </a:p>
          <a:p>
            <a:pPr marL="0" indent="0" algn="l">
              <a:lnSpc>
                <a:spcPct val="108000"/>
              </a:lnSpc>
              <a:buNone/>
            </a:pPr>
            <a:r>
              <a:rPr lang="en-US" sz="4000" b="1" dirty="0">
                <a:solidFill>
                  <a:srgbClr val="1A1A1A"/>
                </a:solidFill>
                <a:latin typeface="Calibri" pitchFamily="34" charset="0"/>
                <a:ea typeface="Calibri" pitchFamily="34" charset="-122"/>
                <a:cs typeface="Calibri" pitchFamily="34" charset="-120"/>
              </a:rPr>
              <a:t>After Hospital Discharge</a:t>
            </a:r>
            <a:endParaRPr lang="en-US" sz="4000" dirty="0"/>
          </a:p>
        </p:txBody>
      </p:sp>
      <p:sp>
        <p:nvSpPr>
          <p:cNvPr id="3" name="Text 1"/>
          <p:cNvSpPr txBox="1"/>
          <p:nvPr/>
        </p:nvSpPr>
        <p:spPr>
          <a:xfrm>
            <a:off x="566928" y="3346704"/>
            <a:ext cx="9960559" cy="365760"/>
          </a:xfrm>
          <a:prstGeom prst="rect">
            <a:avLst/>
          </a:prstGeom>
          <a:noFill/>
          <a:ln/>
        </p:spPr>
        <p:txBody>
          <a:bodyPr wrap="square" lIns="0" tIns="0" rIns="0" bIns="0" rtlCol="0" anchor="ctr"/>
          <a:lstStyle/>
          <a:p>
            <a:pPr marL="0" indent="0" algn="l">
              <a:buNone/>
            </a:pPr>
            <a:r>
              <a:rPr lang="en-US" sz="1700" dirty="0">
                <a:solidFill>
                  <a:srgbClr val="1A4E8A"/>
                </a:solidFill>
                <a:latin typeface="Calibri" pitchFamily="34" charset="0"/>
                <a:ea typeface="Calibri" pitchFamily="34" charset="-122"/>
                <a:cs typeface="Calibri" pitchFamily="34" charset="-120"/>
              </a:rPr>
              <a:t>A comparison of Cox regression, random survival forests, DeepSurv and Cox-Time</a:t>
            </a:r>
            <a:endParaRPr lang="en-US" sz="1700" dirty="0"/>
          </a:p>
        </p:txBody>
      </p:sp>
      <p:sp>
        <p:nvSpPr>
          <p:cNvPr id="4" name="Text 2"/>
          <p:cNvSpPr txBox="1"/>
          <p:nvPr/>
        </p:nvSpPr>
        <p:spPr>
          <a:xfrm>
            <a:off x="566928" y="4224528"/>
            <a:ext cx="11057839" cy="329184"/>
          </a:xfrm>
          <a:prstGeom prst="rect">
            <a:avLst/>
          </a:prstGeom>
          <a:noFill/>
          <a:ln/>
        </p:spPr>
        <p:txBody>
          <a:bodyPr wrap="square" lIns="0" tIns="0" rIns="0" bIns="0" rtlCol="0" anchor="ctr"/>
          <a:lstStyle/>
          <a:p>
            <a:pPr marL="0" indent="0" algn="l">
              <a:buNone/>
            </a:pPr>
            <a:r>
              <a:rPr lang="en-US" sz="2400" dirty="0">
                <a:solidFill>
                  <a:srgbClr val="3A3A3A"/>
                </a:solidFill>
                <a:latin typeface="Calibri" pitchFamily="34" charset="0"/>
                <a:ea typeface="Calibri" pitchFamily="34" charset="-122"/>
                <a:cs typeface="Calibri" pitchFamily="34" charset="-120"/>
              </a:rPr>
              <a:t>Oded Katz   ·   Diana Morgan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The cohort</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1</a:t>
            </a:r>
            <a:endParaRPr lang="en-US" sz="1000" dirty="0"/>
          </a:p>
        </p:txBody>
      </p:sp>
      <p:pic>
        <p:nvPicPr>
          <p:cNvPr id="4" name="Image 0" descr="/mnt/user-data/uploads/proj tasks/Final Project/figures/fig1_km_overall.png"/>
          <p:cNvPicPr>
            <a:picLocks noChangeAspect="1"/>
          </p:cNvPicPr>
          <p:nvPr/>
        </p:nvPicPr>
        <p:blipFill>
          <a:blip r:embed="rId3"/>
          <a:stretch>
            <a:fillRect/>
          </a:stretch>
        </p:blipFill>
        <p:spPr>
          <a:xfrm>
            <a:off x="7315200" y="1325880"/>
            <a:ext cx="4306824" cy="3085117"/>
          </a:xfrm>
          <a:prstGeom prst="rect">
            <a:avLst/>
          </a:prstGeom>
        </p:spPr>
      </p:pic>
      <p:sp>
        <p:nvSpPr>
          <p:cNvPr id="5" name="Text 2"/>
          <p:cNvSpPr txBox="1"/>
          <p:nvPr/>
        </p:nvSpPr>
        <p:spPr>
          <a:xfrm>
            <a:off x="7317943" y="4539013"/>
            <a:ext cx="4306824"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Overall survival: 0.53 at 36 months, about 0.75 at one year</a:t>
            </a:r>
            <a:endParaRPr lang="en-US" sz="1400" dirty="0"/>
          </a:p>
        </p:txBody>
      </p:sp>
      <p:sp>
        <p:nvSpPr>
          <p:cNvPr id="6" name="Text 3"/>
          <p:cNvSpPr txBox="1"/>
          <p:nvPr/>
        </p:nvSpPr>
        <p:spPr>
          <a:xfrm>
            <a:off x="566928" y="1325880"/>
            <a:ext cx="2002536" cy="566928"/>
          </a:xfrm>
          <a:prstGeom prst="rect">
            <a:avLst/>
          </a:prstGeom>
          <a:noFill/>
          <a:ln/>
        </p:spPr>
        <p:txBody>
          <a:bodyPr wrap="square" lIns="0" tIns="0" rIns="0" bIns="0" rtlCol="0" anchor="ctr"/>
          <a:lstStyle/>
          <a:p>
            <a:pPr marL="0" indent="0" algn="l">
              <a:buNone/>
            </a:pPr>
            <a:r>
              <a:rPr lang="en-US" sz="3200" b="1" dirty="0">
                <a:solidFill>
                  <a:srgbClr val="1A4E8A"/>
                </a:solidFill>
                <a:latin typeface="Calibri" pitchFamily="34" charset="0"/>
                <a:ea typeface="Calibri" pitchFamily="34" charset="-122"/>
                <a:cs typeface="Calibri" pitchFamily="34" charset="-120"/>
              </a:rPr>
              <a:t>3,961</a:t>
            </a:r>
            <a:endParaRPr lang="en-US" sz="3200" dirty="0"/>
          </a:p>
        </p:txBody>
      </p:sp>
      <p:sp>
        <p:nvSpPr>
          <p:cNvPr id="7" name="Text 4"/>
          <p:cNvSpPr txBox="1"/>
          <p:nvPr/>
        </p:nvSpPr>
        <p:spPr>
          <a:xfrm>
            <a:off x="566928" y="1929384"/>
            <a:ext cx="1975104" cy="548640"/>
          </a:xfrm>
          <a:prstGeom prst="rect">
            <a:avLst/>
          </a:prstGeom>
          <a:noFill/>
          <a:ln/>
        </p:spPr>
        <p:txBody>
          <a:bodyPr wrap="square" lIns="0" tIns="0" rIns="0" bIns="0" rtlCol="0" anchor="t"/>
          <a:lstStyle/>
          <a:p>
            <a:pPr marL="0" indent="0" algn="l">
              <a:buNone/>
            </a:pPr>
            <a:r>
              <a:rPr lang="en-US" sz="1300" dirty="0">
                <a:solidFill>
                  <a:srgbClr val="767676"/>
                </a:solidFill>
                <a:latin typeface="Calibri" pitchFamily="34" charset="0"/>
                <a:ea typeface="Calibri" pitchFamily="34" charset="-122"/>
                <a:cs typeface="Calibri" pitchFamily="34" charset="-120"/>
              </a:rPr>
              <a:t>patients discharged alive</a:t>
            </a:r>
            <a:endParaRPr lang="en-US" sz="1300" dirty="0"/>
          </a:p>
        </p:txBody>
      </p:sp>
      <p:sp>
        <p:nvSpPr>
          <p:cNvPr id="8" name="Text 5"/>
          <p:cNvSpPr txBox="1"/>
          <p:nvPr/>
        </p:nvSpPr>
        <p:spPr>
          <a:xfrm>
            <a:off x="2679192" y="1325880"/>
            <a:ext cx="2002536" cy="566928"/>
          </a:xfrm>
          <a:prstGeom prst="rect">
            <a:avLst/>
          </a:prstGeom>
          <a:noFill/>
          <a:ln/>
        </p:spPr>
        <p:txBody>
          <a:bodyPr wrap="square" lIns="0" tIns="0" rIns="0" bIns="0" rtlCol="0" anchor="ctr"/>
          <a:lstStyle/>
          <a:p>
            <a:pPr marL="0" indent="0" algn="l">
              <a:buNone/>
            </a:pPr>
            <a:r>
              <a:rPr lang="en-US" sz="3200" b="1" dirty="0">
                <a:solidFill>
                  <a:srgbClr val="1A4E8A"/>
                </a:solidFill>
                <a:latin typeface="Calibri" pitchFamily="34" charset="0"/>
                <a:ea typeface="Calibri" pitchFamily="34" charset="-122"/>
                <a:cs typeface="Calibri" pitchFamily="34" charset="-120"/>
              </a:rPr>
              <a:t>1,679</a:t>
            </a:r>
            <a:endParaRPr lang="en-US" sz="3200" dirty="0"/>
          </a:p>
        </p:txBody>
      </p:sp>
      <p:sp>
        <p:nvSpPr>
          <p:cNvPr id="9" name="Text 6"/>
          <p:cNvSpPr txBox="1"/>
          <p:nvPr/>
        </p:nvSpPr>
        <p:spPr>
          <a:xfrm>
            <a:off x="2679192" y="1929384"/>
            <a:ext cx="1975104" cy="548640"/>
          </a:xfrm>
          <a:prstGeom prst="rect">
            <a:avLst/>
          </a:prstGeom>
          <a:noFill/>
          <a:ln/>
        </p:spPr>
        <p:txBody>
          <a:bodyPr wrap="square" lIns="0" tIns="0" rIns="0" bIns="0" rtlCol="0" anchor="t"/>
          <a:lstStyle/>
          <a:p>
            <a:pPr marL="0" indent="0" algn="l">
              <a:buNone/>
            </a:pPr>
            <a:r>
              <a:rPr lang="en-US" sz="1300" dirty="0">
                <a:solidFill>
                  <a:srgbClr val="767676"/>
                </a:solidFill>
                <a:latin typeface="Calibri" pitchFamily="34" charset="0"/>
                <a:ea typeface="Calibri" pitchFamily="34" charset="-122"/>
                <a:cs typeface="Calibri" pitchFamily="34" charset="-120"/>
              </a:rPr>
              <a:t>deaths (42.4%)</a:t>
            </a:r>
            <a:endParaRPr lang="en-US" sz="1300" dirty="0"/>
          </a:p>
        </p:txBody>
      </p:sp>
      <p:sp>
        <p:nvSpPr>
          <p:cNvPr id="10" name="Text 7"/>
          <p:cNvSpPr txBox="1"/>
          <p:nvPr/>
        </p:nvSpPr>
        <p:spPr>
          <a:xfrm>
            <a:off x="4791456" y="1325880"/>
            <a:ext cx="2002536" cy="566928"/>
          </a:xfrm>
          <a:prstGeom prst="rect">
            <a:avLst/>
          </a:prstGeom>
          <a:noFill/>
          <a:ln/>
        </p:spPr>
        <p:txBody>
          <a:bodyPr wrap="square" lIns="0" tIns="0" rIns="0" bIns="0" rtlCol="0" anchor="ctr"/>
          <a:lstStyle/>
          <a:p>
            <a:pPr marL="0" indent="0" algn="l">
              <a:buNone/>
            </a:pPr>
            <a:r>
              <a:rPr lang="en-US" sz="3200" b="1" dirty="0">
                <a:solidFill>
                  <a:srgbClr val="1A4E8A"/>
                </a:solidFill>
                <a:latin typeface="Calibri" pitchFamily="34" charset="0"/>
                <a:ea typeface="Calibri" pitchFamily="34" charset="-122"/>
                <a:cs typeface="Calibri" pitchFamily="34" charset="-120"/>
              </a:rPr>
              <a:t>25.6</a:t>
            </a:r>
            <a:endParaRPr lang="en-US" sz="3200" dirty="0"/>
          </a:p>
        </p:txBody>
      </p:sp>
      <p:sp>
        <p:nvSpPr>
          <p:cNvPr id="11" name="Text 8"/>
          <p:cNvSpPr txBox="1"/>
          <p:nvPr/>
        </p:nvSpPr>
        <p:spPr>
          <a:xfrm>
            <a:off x="4791456" y="1929384"/>
            <a:ext cx="1975104" cy="548640"/>
          </a:xfrm>
          <a:prstGeom prst="rect">
            <a:avLst/>
          </a:prstGeom>
          <a:noFill/>
          <a:ln/>
        </p:spPr>
        <p:txBody>
          <a:bodyPr wrap="square" lIns="0" tIns="0" rIns="0" bIns="0" rtlCol="0" anchor="t"/>
          <a:lstStyle/>
          <a:p>
            <a:pPr marL="0" indent="0" algn="l">
              <a:buNone/>
            </a:pPr>
            <a:r>
              <a:rPr lang="en-US" sz="1300" dirty="0">
                <a:solidFill>
                  <a:srgbClr val="767676"/>
                </a:solidFill>
                <a:latin typeface="Calibri" pitchFamily="34" charset="0"/>
                <a:ea typeface="Calibri" pitchFamily="34" charset="-122"/>
                <a:cs typeface="Calibri" pitchFamily="34" charset="-120"/>
              </a:rPr>
              <a:t>months median follow-up</a:t>
            </a:r>
            <a:endParaRPr lang="en-US" sz="1300" dirty="0"/>
          </a:p>
        </p:txBody>
      </p:sp>
      <p:sp>
        <p:nvSpPr>
          <p:cNvPr id="12" name="Text 9"/>
          <p:cNvSpPr txBox="1"/>
          <p:nvPr/>
        </p:nvSpPr>
        <p:spPr>
          <a:xfrm>
            <a:off x="566928" y="2880360"/>
            <a:ext cx="6336792" cy="2011680"/>
          </a:xfrm>
          <a:prstGeom prst="rect">
            <a:avLst/>
          </a:prstGeom>
          <a:noFill/>
          <a:ln/>
        </p:spPr>
        <p:txBody>
          <a:bodyPr wrap="square" lIns="0" tIns="0" rIns="0" bIns="0" rtlCol="0" anchor="ctr"/>
          <a:lstStyle/>
          <a:p>
            <a:pPr marL="342900" indent="-342900" algn="l">
              <a:spcAft>
                <a:spcPts val="1600"/>
              </a:spcAft>
              <a:buSzPct val="100000"/>
              <a:buChar char="•"/>
            </a:pPr>
            <a:r>
              <a:rPr lang="en-US" sz="1600" dirty="0">
                <a:solidFill>
                  <a:srgbClr val="3A3A3A"/>
                </a:solidFill>
                <a:latin typeface="Calibri" pitchFamily="34" charset="0"/>
                <a:ea typeface="Calibri" pitchFamily="34" charset="-122"/>
                <a:cs typeface="Calibri" pitchFamily="34" charset="-120"/>
              </a:rPr>
              <a:t>Acute decompensated heart failure, discharged alive; 25 covariates known at discharge</a:t>
            </a:r>
            <a:endParaRPr lang="en-US" sz="1600" dirty="0"/>
          </a:p>
          <a:p>
            <a:pPr marL="342900" indent="-342900" algn="l">
              <a:spcAft>
                <a:spcPts val="1600"/>
              </a:spcAft>
              <a:buSzPct val="100000"/>
              <a:buChar char="•"/>
            </a:pPr>
            <a:r>
              <a:rPr lang="en-US" sz="1600" dirty="0">
                <a:solidFill>
                  <a:srgbClr val="3A3A3A"/>
                </a:solidFill>
                <a:latin typeface="Calibri" pitchFamily="34" charset="0"/>
                <a:ea typeface="Calibri" pitchFamily="34" charset="-122"/>
                <a:cs typeface="Calibri" pitchFamily="34" charset="-120"/>
              </a:rPr>
              <a:t>Event: death from any cause, time in months from discharge</a:t>
            </a:r>
            <a:endParaRPr lang="en-US" sz="1600" dirty="0"/>
          </a:p>
          <a:p>
            <a:pPr marL="342900" indent="-342900" algn="l">
              <a:spcAft>
                <a:spcPts val="1600"/>
              </a:spcAft>
              <a:buSzPct val="100000"/>
              <a:buChar char="•"/>
            </a:pPr>
            <a:r>
              <a:rPr lang="en-US" sz="1600" dirty="0">
                <a:solidFill>
                  <a:srgbClr val="3A3A3A"/>
                </a:solidFill>
                <a:latin typeface="Calibri" pitchFamily="34" charset="0"/>
                <a:ea typeface="Calibri" pitchFamily="34" charset="-122"/>
                <a:cs typeface="Calibri" pitchFamily="34" charset="-120"/>
              </a:rPr>
              <a:t>Administrative censoring at 36 months — 1,473 of the 2,282 censored patients end there</a:t>
            </a:r>
            <a:endParaRPr lang="en-US" sz="1600" dirty="0"/>
          </a:p>
        </p:txBody>
      </p:sp>
      <p:sp>
        <p:nvSpPr>
          <p:cNvPr id="13" name="Text 10"/>
          <p:cNvSpPr txBox="1"/>
          <p:nvPr/>
        </p:nvSpPr>
        <p:spPr>
          <a:xfrm>
            <a:off x="566928" y="5138928"/>
            <a:ext cx="6336792"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Median age 76  ·  46.5% women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PA1: Exploration</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2</a:t>
            </a:r>
            <a:endParaRPr lang="en-US" sz="1000" dirty="0"/>
          </a:p>
        </p:txBody>
      </p:sp>
      <p:sp>
        <p:nvSpPr>
          <p:cNvPr id="4" name="Text 2"/>
          <p:cNvSpPr txBox="1"/>
          <p:nvPr/>
        </p:nvSpPr>
        <p:spPr>
          <a:xfrm>
            <a:off x="566928" y="1024128"/>
            <a:ext cx="11057839" cy="329184"/>
          </a:xfrm>
          <a:prstGeom prst="rect">
            <a:avLst/>
          </a:prstGeom>
          <a:noFill/>
          <a:ln/>
        </p:spPr>
        <p:txBody>
          <a:bodyPr wrap="square" lIns="0" tIns="0" rIns="0" bIns="0" rtlCol="0" anchor="ctr"/>
          <a:lstStyle/>
          <a:p>
            <a:pPr marL="0" indent="0">
              <a:buNone/>
            </a:pPr>
            <a:r>
              <a:rPr lang="en-US" sz="1700" b="1" dirty="0">
                <a:solidFill>
                  <a:srgbClr val="1A4E8A"/>
                </a:solidFill>
                <a:latin typeface="Calibri" pitchFamily="34" charset="0"/>
                <a:ea typeface="Calibri" pitchFamily="34" charset="-122"/>
                <a:cs typeface="Calibri" pitchFamily="34" charset="-120"/>
              </a:rPr>
              <a:t>One-year survival differs by 0.18 across age and by 0.13 across discharge BUN</a:t>
            </a:r>
            <a:endParaRPr lang="en-US" sz="1700" dirty="0"/>
          </a:p>
        </p:txBody>
      </p:sp>
      <p:pic>
        <p:nvPicPr>
          <p:cNvPr id="5" name="Image 0" descr="/mnt/user-data/uploads/proj tasks/Final Project/figures/fig3_km_age_bun.png"/>
          <p:cNvPicPr>
            <a:picLocks noChangeAspect="1"/>
          </p:cNvPicPr>
          <p:nvPr/>
        </p:nvPicPr>
        <p:blipFill>
          <a:blip r:embed="rId3"/>
          <a:stretch>
            <a:fillRect/>
          </a:stretch>
        </p:blipFill>
        <p:spPr>
          <a:xfrm>
            <a:off x="566928" y="1517904"/>
            <a:ext cx="11057839" cy="4012278"/>
          </a:xfrm>
          <a:prstGeom prst="rect">
            <a:avLst/>
          </a:prstGeom>
        </p:spPr>
      </p:pic>
      <p:sp>
        <p:nvSpPr>
          <p:cNvPr id="6" name="Text 3"/>
          <p:cNvSpPr txBox="1"/>
          <p:nvPr/>
        </p:nvSpPr>
        <p:spPr>
          <a:xfrm>
            <a:off x="566928" y="5658198"/>
            <a:ext cx="11057839" cy="605442"/>
          </a:xfrm>
          <a:prstGeom prst="rect">
            <a:avLst/>
          </a:prstGeom>
          <a:noFill/>
          <a:ln/>
        </p:spPr>
        <p:txBody>
          <a:bodyPr wrap="square" lIns="0" tIns="0" rIns="0" bIns="0" rtlCol="0" anchor="ctr"/>
          <a:lstStyle/>
          <a:p>
            <a:pPr marL="0" indent="0" algn="l">
              <a:buNone/>
            </a:pPr>
            <a:r>
              <a:rPr lang="en-US" sz="1600" dirty="0">
                <a:solidFill>
                  <a:srgbClr val="767676"/>
                </a:solidFill>
                <a:latin typeface="Calibri" pitchFamily="34" charset="0"/>
                <a:ea typeface="Calibri" pitchFamily="34" charset="-122"/>
                <a:cs typeface="Calibri" pitchFamily="34" charset="-120"/>
              </a:rPr>
              <a:t>Split at the medians of age (76 years) and discharge BUN (28 mg/dL). </a:t>
            </a:r>
          </a:p>
          <a:p>
            <a:pPr marL="0" indent="0" algn="l">
              <a:buNone/>
            </a:pPr>
            <a:r>
              <a:rPr lang="en-US" sz="1600" dirty="0">
                <a:solidFill>
                  <a:srgbClr val="767676"/>
                </a:solidFill>
                <a:latin typeface="Calibri" pitchFamily="34" charset="0"/>
                <a:ea typeface="Calibri" pitchFamily="34" charset="-122"/>
                <a:cs typeface="Calibri" pitchFamily="34" charset="-120"/>
              </a:rPr>
              <a:t>Sex and diabetes, the stratifications our PA1 started from, separate nothing.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PA2: Cox model</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3</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5760720" cy="3429000"/>
        </p:xfrm>
        <a:graphic>
          <a:graphicData uri="http://schemas.openxmlformats.org/drawingml/2006/table">
            <a:tbl>
              <a:tblPr/>
              <a:tblGrid>
                <a:gridCol w="3017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42900">
                <a:tc>
                  <a:txBody>
                    <a:bodyPr/>
                    <a:lstStyle/>
                    <a:p>
                      <a:pPr marL="0" indent="0" algn="l">
                        <a:buNone/>
                      </a:pPr>
                      <a:r>
                        <a:rPr lang="en-US" sz="1400" b="1" dirty="0">
                          <a:solidFill>
                            <a:srgbClr val="1A1A1A"/>
                          </a:solidFill>
                          <a:latin typeface="Calibri" pitchFamily="34" charset="0"/>
                          <a:ea typeface="Calibri" pitchFamily="34" charset="-122"/>
                          <a:cs typeface="Calibri" pitchFamily="34" charset="-120"/>
                        </a:rPr>
                        <a:t>Covariate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400" b="1" dirty="0">
                          <a:solidFill>
                            <a:srgbClr val="1A1A1A"/>
                          </a:solidFill>
                          <a:latin typeface="Calibri" pitchFamily="34" charset="0"/>
                          <a:ea typeface="Calibri" pitchFamily="34" charset="-122"/>
                          <a:cs typeface="Calibri" pitchFamily="34" charset="-120"/>
                        </a:rPr>
                        <a:t>HR</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400" b="1" dirty="0">
                          <a:solidFill>
                            <a:srgbClr val="1A1A1A"/>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Age (per year)</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1.044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BUN, discharge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1.021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Sodium</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0.973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BNP</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1.0002</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ΔBUN</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0.990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RDW</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1.120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&lt; 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Length of stay</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1.009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0.001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Bilirubin</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1.121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0.037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3429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Potassium</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0.914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400" dirty="0">
                          <a:solidFill>
                            <a:srgbClr val="3A3A3A"/>
                          </a:solidFill>
                          <a:latin typeface="Calibri" pitchFamily="34" charset="0"/>
                          <a:ea typeface="Calibri" pitchFamily="34" charset="-122"/>
                          <a:cs typeface="Calibri" pitchFamily="34" charset="-120"/>
                        </a:rPr>
                        <a:t>0.038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4" name="Text 2"/>
          <p:cNvSpPr txBox="1"/>
          <p:nvPr/>
        </p:nvSpPr>
        <p:spPr>
          <a:xfrm>
            <a:off x="566928" y="4864608"/>
            <a:ext cx="5760720"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+ 7 terms not associated with survival in any fit</a:t>
            </a:r>
            <a:endParaRPr lang="en-US" sz="1400" dirty="0"/>
          </a:p>
        </p:txBody>
      </p:sp>
      <p:sp>
        <p:nvSpPr>
          <p:cNvPr id="6" name="Text 3"/>
          <p:cNvSpPr txBox="1"/>
          <p:nvPr/>
        </p:nvSpPr>
        <p:spPr>
          <a:xfrm>
            <a:off x="566928" y="5175504"/>
            <a:ext cx="5760720"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In-sample concordance 0.694</a:t>
            </a:r>
            <a:endParaRPr lang="en-US" sz="1400" dirty="0"/>
          </a:p>
        </p:txBody>
      </p:sp>
      <p:sp>
        <p:nvSpPr>
          <p:cNvPr id="7" name="Text 4"/>
          <p:cNvSpPr txBox="1"/>
          <p:nvPr/>
        </p:nvSpPr>
        <p:spPr>
          <a:xfrm>
            <a:off x="7104888" y="1417320"/>
            <a:ext cx="4519879" cy="292608"/>
          </a:xfrm>
          <a:prstGeom prst="rect">
            <a:avLst/>
          </a:prstGeom>
          <a:noFill/>
          <a:ln/>
        </p:spPr>
        <p:txBody>
          <a:bodyPr wrap="square" lIns="0" tIns="0" rIns="0" bIns="0" rtlCol="0" anchor="ctr"/>
          <a:lstStyle/>
          <a:p>
            <a:pPr marL="0" indent="0">
              <a:buNone/>
            </a:pPr>
            <a:r>
              <a:rPr lang="en-US" sz="1600" b="1" dirty="0">
                <a:solidFill>
                  <a:srgbClr val="1A4E8A"/>
                </a:solidFill>
                <a:latin typeface="Calibri" pitchFamily="34" charset="0"/>
                <a:ea typeface="Calibri" pitchFamily="34" charset="-122"/>
                <a:cs typeface="Calibri" pitchFamily="34" charset="-120"/>
              </a:rPr>
              <a:t>ΔBUN adds information</a:t>
            </a:r>
            <a:endParaRPr lang="en-US" sz="1600" dirty="0"/>
          </a:p>
        </p:txBody>
      </p:sp>
      <p:sp>
        <p:nvSpPr>
          <p:cNvPr id="8" name="Text 5"/>
          <p:cNvSpPr txBox="1"/>
          <p:nvPr/>
        </p:nvSpPr>
        <p:spPr>
          <a:xfrm>
            <a:off x="7104888" y="1746504"/>
            <a:ext cx="4519879" cy="603504"/>
          </a:xfrm>
          <a:prstGeom prst="rect">
            <a:avLst/>
          </a:prstGeom>
          <a:noFill/>
          <a:ln/>
        </p:spPr>
        <p:txBody>
          <a:bodyPr wrap="square" lIns="0" tIns="0" rIns="0" bIns="0" rtlCol="0" anchor="ctr"/>
          <a:lstStyle/>
          <a:p>
            <a:pPr marL="0" indent="0">
              <a:buNone/>
            </a:pPr>
            <a:r>
              <a:rPr lang="en-US" sz="1400" dirty="0">
                <a:solidFill>
                  <a:srgbClr val="3A3A3A"/>
                </a:solidFill>
                <a:latin typeface="Calibri" pitchFamily="34" charset="0"/>
                <a:ea typeface="Calibri" pitchFamily="34" charset="-122"/>
                <a:cs typeface="Calibri" pitchFamily="34" charset="-120"/>
              </a:rPr>
              <a:t>Likelihood ratio 27.63 on 1 df,  p = 1.5 × 10⁻⁷</a:t>
            </a:r>
            <a:endParaRPr lang="en-US" sz="1400" dirty="0"/>
          </a:p>
        </p:txBody>
      </p:sp>
      <p:sp>
        <p:nvSpPr>
          <p:cNvPr id="9" name="Text 6"/>
          <p:cNvSpPr txBox="1"/>
          <p:nvPr/>
        </p:nvSpPr>
        <p:spPr>
          <a:xfrm>
            <a:off x="7104888" y="2807208"/>
            <a:ext cx="4519879" cy="292608"/>
          </a:xfrm>
          <a:prstGeom prst="rect">
            <a:avLst/>
          </a:prstGeom>
          <a:noFill/>
          <a:ln/>
        </p:spPr>
        <p:txBody>
          <a:bodyPr wrap="square" lIns="0" tIns="0" rIns="0" bIns="0" rtlCol="0" anchor="ctr"/>
          <a:lstStyle/>
          <a:p>
            <a:pPr marL="0" indent="0">
              <a:buNone/>
            </a:pPr>
            <a:r>
              <a:rPr lang="en-US" sz="1600" b="1" dirty="0">
                <a:solidFill>
                  <a:srgbClr val="1A4E8A"/>
                </a:solidFill>
                <a:latin typeface="Calibri" pitchFamily="34" charset="0"/>
                <a:ea typeface="Calibri" pitchFamily="34" charset="-122"/>
                <a:cs typeface="Calibri" pitchFamily="34" charset="-120"/>
              </a:rPr>
              <a:t>Proportional hazards possible mild violations</a:t>
            </a:r>
            <a:endParaRPr lang="en-US" sz="1600" dirty="0"/>
          </a:p>
        </p:txBody>
      </p:sp>
      <p:sp>
        <p:nvSpPr>
          <p:cNvPr id="10" name="Text 7"/>
          <p:cNvSpPr txBox="1"/>
          <p:nvPr/>
        </p:nvSpPr>
        <p:spPr>
          <a:xfrm>
            <a:off x="7104888" y="3136392"/>
            <a:ext cx="4519879" cy="603504"/>
          </a:xfrm>
          <a:prstGeom prst="rect">
            <a:avLst/>
          </a:prstGeom>
          <a:noFill/>
          <a:ln/>
        </p:spPr>
        <p:txBody>
          <a:bodyPr wrap="square" lIns="0" tIns="0" rIns="0" bIns="0" rtlCol="0" anchor="ctr"/>
          <a:lstStyle/>
          <a:p>
            <a:pPr marL="0" indent="0">
              <a:buNone/>
            </a:pPr>
            <a:r>
              <a:rPr lang="en-US" sz="1400" dirty="0">
                <a:solidFill>
                  <a:srgbClr val="3A3A3A"/>
                </a:solidFill>
                <a:latin typeface="Calibri" pitchFamily="34" charset="0"/>
                <a:ea typeface="Calibri" pitchFamily="34" charset="-122"/>
                <a:cs typeface="Calibri" pitchFamily="34" charset="-120"/>
              </a:rPr>
              <a:t>Schoenfeld flags discharge BUN (0.036) and length of stay (0.048)</a:t>
            </a:r>
            <a:endParaRPr lang="en-US" sz="1400" dirty="0"/>
          </a:p>
        </p:txBody>
      </p:sp>
      <p:sp>
        <p:nvSpPr>
          <p:cNvPr id="11" name="Text 8"/>
          <p:cNvSpPr txBox="1"/>
          <p:nvPr/>
        </p:nvSpPr>
        <p:spPr>
          <a:xfrm>
            <a:off x="7104888" y="4197096"/>
            <a:ext cx="4519879" cy="292608"/>
          </a:xfrm>
          <a:prstGeom prst="rect">
            <a:avLst/>
          </a:prstGeom>
          <a:noFill/>
          <a:ln/>
        </p:spPr>
        <p:txBody>
          <a:bodyPr wrap="square" lIns="0" tIns="0" rIns="0" bIns="0" rtlCol="0" anchor="ctr"/>
          <a:lstStyle/>
          <a:p>
            <a:pPr marL="0" indent="0">
              <a:buNone/>
            </a:pPr>
            <a:r>
              <a:rPr lang="en-US" sz="1600" b="1" dirty="0">
                <a:solidFill>
                  <a:srgbClr val="1A4E8A"/>
                </a:solidFill>
                <a:latin typeface="Calibri" pitchFamily="34" charset="0"/>
                <a:ea typeface="Calibri" pitchFamily="34" charset="-122"/>
                <a:cs typeface="Calibri" pitchFamily="34" charset="-120"/>
              </a:rPr>
              <a:t>Log-normal AFT agrees</a:t>
            </a:r>
            <a:endParaRPr lang="en-US" sz="1600" dirty="0"/>
          </a:p>
        </p:txBody>
      </p:sp>
      <p:sp>
        <p:nvSpPr>
          <p:cNvPr id="12" name="Text 9"/>
          <p:cNvSpPr txBox="1"/>
          <p:nvPr/>
        </p:nvSpPr>
        <p:spPr>
          <a:xfrm>
            <a:off x="7104888" y="4526280"/>
            <a:ext cx="4519879" cy="603504"/>
          </a:xfrm>
          <a:prstGeom prst="rect">
            <a:avLst/>
          </a:prstGeom>
          <a:noFill/>
          <a:ln/>
        </p:spPr>
        <p:txBody>
          <a:bodyPr wrap="square" lIns="0" tIns="0" rIns="0" bIns="0" rtlCol="0" anchor="ctr"/>
          <a:lstStyle/>
          <a:p>
            <a:pPr marL="0" indent="0">
              <a:buNone/>
            </a:pPr>
            <a:r>
              <a:rPr lang="en-US" sz="1400" dirty="0">
                <a:solidFill>
                  <a:srgbClr val="3A3A3A"/>
                </a:solidFill>
                <a:latin typeface="Calibri" pitchFamily="34" charset="0"/>
                <a:ea typeface="Calibri" pitchFamily="34" charset="-122"/>
                <a:cs typeface="Calibri" pitchFamily="34" charset="-120"/>
              </a:rPr>
              <a:t>Same directions throughout; the two diverge only in the BUN tail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PA2: Cox against the log-normal AFT model</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mnt/user-data/uploads/proj tasks/Final Project/figures/fig4_cox_vs_aft.png"/>
          <p:cNvPicPr>
            <a:picLocks noChangeAspect="1"/>
          </p:cNvPicPr>
          <p:nvPr/>
        </p:nvPicPr>
        <p:blipFill>
          <a:blip r:embed="rId3"/>
          <a:stretch>
            <a:fillRect/>
          </a:stretch>
        </p:blipFill>
        <p:spPr>
          <a:xfrm>
            <a:off x="566928" y="1920240"/>
            <a:ext cx="11057839" cy="3114007"/>
          </a:xfrm>
          <a:prstGeom prst="rect">
            <a:avLst/>
          </a:prstGeom>
        </p:spPr>
      </p:pic>
      <p:sp>
        <p:nvSpPr>
          <p:cNvPr id="5" name="Text 2"/>
          <p:cNvSpPr txBox="1"/>
          <p:nvPr/>
        </p:nvSpPr>
        <p:spPr>
          <a:xfrm>
            <a:off x="566928" y="5262846"/>
            <a:ext cx="11396472" cy="375953"/>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Full observed range. The two agree for age, separate slightly for RDW, and diverge for discharge BUN — where three quarters of patients sit below 39 mg/dL.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Research questions – Old Versions</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66928" y="19019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1</a:t>
            </a:r>
            <a:endParaRPr lang="en-US" sz="2800" dirty="0"/>
          </a:p>
        </p:txBody>
      </p:sp>
      <p:sp>
        <p:nvSpPr>
          <p:cNvPr id="6" name="Text 4"/>
          <p:cNvSpPr txBox="1"/>
          <p:nvPr/>
        </p:nvSpPr>
        <p:spPr>
          <a:xfrm>
            <a:off x="1207008" y="1965960"/>
            <a:ext cx="10743692" cy="640080"/>
          </a:xfrm>
          <a:prstGeom prst="rect">
            <a:avLst/>
          </a:prstGeom>
          <a:noFill/>
          <a:ln/>
        </p:spPr>
        <p:txBody>
          <a:bodyPr wrap="square" lIns="0" tIns="0" rIns="0" bIns="0" rtlCol="0" anchor="t"/>
          <a:lstStyle/>
          <a:p>
            <a:r>
              <a:rPr lang="en-001" dirty="0"/>
              <a:t>Does the difference between BUN on admission and on discharge have a significant effect on the survival outcome?</a:t>
            </a:r>
          </a:p>
        </p:txBody>
      </p:sp>
      <p:sp>
        <p:nvSpPr>
          <p:cNvPr id="7" name="Text 5"/>
          <p:cNvSpPr txBox="1"/>
          <p:nvPr/>
        </p:nvSpPr>
        <p:spPr>
          <a:xfrm>
            <a:off x="1207008" y="24414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Answered in PA2</a:t>
            </a:r>
            <a:endParaRPr lang="en-US" sz="1300" dirty="0"/>
          </a:p>
        </p:txBody>
      </p:sp>
      <p:sp>
        <p:nvSpPr>
          <p:cNvPr id="8" name="Text 6"/>
          <p:cNvSpPr txBox="1"/>
          <p:nvPr/>
        </p:nvSpPr>
        <p:spPr>
          <a:xfrm>
            <a:off x="566928" y="32735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2</a:t>
            </a:r>
            <a:endParaRPr lang="en-US" sz="2800" dirty="0"/>
          </a:p>
        </p:txBody>
      </p:sp>
      <p:sp>
        <p:nvSpPr>
          <p:cNvPr id="9" name="Text 7"/>
          <p:cNvSpPr txBox="1"/>
          <p:nvPr/>
        </p:nvSpPr>
        <p:spPr>
          <a:xfrm>
            <a:off x="1207008" y="3337560"/>
            <a:ext cx="10417759" cy="640080"/>
          </a:xfrm>
          <a:prstGeom prst="rect">
            <a:avLst/>
          </a:prstGeom>
          <a:noFill/>
          <a:ln/>
        </p:spPr>
        <p:txBody>
          <a:bodyPr wrap="square" lIns="0" tIns="0" rIns="0" bIns="0" rtlCol="0" anchor="t"/>
          <a:lstStyle/>
          <a:p>
            <a:r>
              <a:rPr lang="en-001" dirty="0"/>
              <a:t>Are there covariate interactions with a significant effect on the survival outcome?</a:t>
            </a:r>
          </a:p>
        </p:txBody>
      </p:sp>
      <p:sp>
        <p:nvSpPr>
          <p:cNvPr id="10" name="Text 8"/>
          <p:cNvSpPr txBox="1"/>
          <p:nvPr/>
        </p:nvSpPr>
        <p:spPr>
          <a:xfrm>
            <a:off x="1207008" y="38130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105 interactions – too much to check</a:t>
            </a:r>
            <a:endParaRPr lang="en-US" sz="1300" dirty="0"/>
          </a:p>
        </p:txBody>
      </p:sp>
      <p:sp>
        <p:nvSpPr>
          <p:cNvPr id="11" name="Text 9"/>
          <p:cNvSpPr txBox="1"/>
          <p:nvPr/>
        </p:nvSpPr>
        <p:spPr>
          <a:xfrm>
            <a:off x="566928" y="46451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3</a:t>
            </a:r>
            <a:endParaRPr lang="en-US" sz="2800" dirty="0"/>
          </a:p>
        </p:txBody>
      </p:sp>
      <p:sp>
        <p:nvSpPr>
          <p:cNvPr id="12" name="Text 10"/>
          <p:cNvSpPr txBox="1"/>
          <p:nvPr/>
        </p:nvSpPr>
        <p:spPr>
          <a:xfrm>
            <a:off x="1207008" y="4709160"/>
            <a:ext cx="10417759" cy="640080"/>
          </a:xfrm>
          <a:prstGeom prst="rect">
            <a:avLst/>
          </a:prstGeom>
          <a:noFill/>
          <a:ln/>
        </p:spPr>
        <p:txBody>
          <a:bodyPr wrap="square" lIns="0" tIns="0" rIns="0" bIns="0" rtlCol="0" anchor="t"/>
          <a:lstStyle/>
          <a:p>
            <a:r>
              <a:rPr lang="en-001" dirty="0"/>
              <a:t>How accurately can survival be predicted at hospital discharge?</a:t>
            </a:r>
          </a:p>
        </p:txBody>
      </p:sp>
      <p:sp>
        <p:nvSpPr>
          <p:cNvPr id="13" name="Text 11"/>
          <p:cNvSpPr txBox="1"/>
          <p:nvPr/>
        </p:nvSpPr>
        <p:spPr>
          <a:xfrm>
            <a:off x="1207008" y="51846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Not yet addressed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81C36A-F1B1-44BC-6D18-688B7D4E73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4B6545-B7A1-85CC-E0AA-B296508CA065}"/>
              </a:ext>
            </a:extLst>
          </p:cNvPr>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Research questions – Improved and Adjusted</a:t>
            </a:r>
            <a:endParaRPr lang="en-US" sz="3000" dirty="0"/>
          </a:p>
        </p:txBody>
      </p:sp>
      <p:sp>
        <p:nvSpPr>
          <p:cNvPr id="3" name="Text 1">
            <a:extLst>
              <a:ext uri="{FF2B5EF4-FFF2-40B4-BE49-F238E27FC236}">
                <a16:creationId xmlns:a16="http://schemas.microsoft.com/office/drawing/2014/main" id="{F8795825-5313-094C-823F-A1C51F819FC4}"/>
              </a:ext>
            </a:extLst>
          </p:cNvPr>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4</a:t>
            </a:r>
            <a:endParaRPr lang="en-US" sz="1000" dirty="0"/>
          </a:p>
        </p:txBody>
      </p:sp>
      <p:sp>
        <p:nvSpPr>
          <p:cNvPr id="5" name="Text 3">
            <a:extLst>
              <a:ext uri="{FF2B5EF4-FFF2-40B4-BE49-F238E27FC236}">
                <a16:creationId xmlns:a16="http://schemas.microsoft.com/office/drawing/2014/main" id="{4CA84493-860E-BC80-855F-8F1CCD4182FF}"/>
              </a:ext>
            </a:extLst>
          </p:cNvPr>
          <p:cNvSpPr txBox="1"/>
          <p:nvPr/>
        </p:nvSpPr>
        <p:spPr>
          <a:xfrm>
            <a:off x="566928" y="19019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1</a:t>
            </a:r>
            <a:endParaRPr lang="en-US" sz="2800" dirty="0"/>
          </a:p>
        </p:txBody>
      </p:sp>
      <p:sp>
        <p:nvSpPr>
          <p:cNvPr id="6" name="Text 4">
            <a:extLst>
              <a:ext uri="{FF2B5EF4-FFF2-40B4-BE49-F238E27FC236}">
                <a16:creationId xmlns:a16="http://schemas.microsoft.com/office/drawing/2014/main" id="{B3155DE5-D761-25F6-183B-84FB9AC4B4F1}"/>
              </a:ext>
            </a:extLst>
          </p:cNvPr>
          <p:cNvSpPr txBox="1"/>
          <p:nvPr/>
        </p:nvSpPr>
        <p:spPr>
          <a:xfrm>
            <a:off x="1207008" y="1965960"/>
            <a:ext cx="10417759" cy="64008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How accurately can one-year survival be predicted at discharge — and do the more flexible models beat Cox?</a:t>
            </a:r>
            <a:endParaRPr lang="en-US" sz="1800" dirty="0"/>
          </a:p>
        </p:txBody>
      </p:sp>
      <p:sp>
        <p:nvSpPr>
          <p:cNvPr id="7" name="Text 5">
            <a:extLst>
              <a:ext uri="{FF2B5EF4-FFF2-40B4-BE49-F238E27FC236}">
                <a16:creationId xmlns:a16="http://schemas.microsoft.com/office/drawing/2014/main" id="{201F384A-058A-B470-4DAE-16F8EFE05EE6}"/>
              </a:ext>
            </a:extLst>
          </p:cNvPr>
          <p:cNvSpPr txBox="1"/>
          <p:nvPr/>
        </p:nvSpPr>
        <p:spPr>
          <a:xfrm>
            <a:off x="1207008" y="24414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the four models are compared once, on the held-out test set</a:t>
            </a:r>
            <a:endParaRPr lang="en-US" sz="1300" dirty="0"/>
          </a:p>
        </p:txBody>
      </p:sp>
      <p:sp>
        <p:nvSpPr>
          <p:cNvPr id="8" name="Text 6">
            <a:extLst>
              <a:ext uri="{FF2B5EF4-FFF2-40B4-BE49-F238E27FC236}">
                <a16:creationId xmlns:a16="http://schemas.microsoft.com/office/drawing/2014/main" id="{F34F3D32-98E2-F487-B94B-029AD1A82009}"/>
              </a:ext>
            </a:extLst>
          </p:cNvPr>
          <p:cNvSpPr txBox="1"/>
          <p:nvPr/>
        </p:nvSpPr>
        <p:spPr>
          <a:xfrm>
            <a:off x="566928" y="32735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2</a:t>
            </a:r>
            <a:endParaRPr lang="en-US" sz="2800" dirty="0"/>
          </a:p>
        </p:txBody>
      </p:sp>
      <p:sp>
        <p:nvSpPr>
          <p:cNvPr id="9" name="Text 7">
            <a:extLst>
              <a:ext uri="{FF2B5EF4-FFF2-40B4-BE49-F238E27FC236}">
                <a16:creationId xmlns:a16="http://schemas.microsoft.com/office/drawing/2014/main" id="{A940FC37-50FE-9921-D3CF-78F944C22C89}"/>
              </a:ext>
            </a:extLst>
          </p:cNvPr>
          <p:cNvSpPr txBox="1"/>
          <p:nvPr/>
        </p:nvSpPr>
        <p:spPr>
          <a:xfrm>
            <a:off x="1207008" y="3337560"/>
            <a:ext cx="10417759" cy="64008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Where the flexible models differ from Cox, which of the Cox model's assumptions is responsible?</a:t>
            </a:r>
            <a:endParaRPr lang="en-US" sz="1800" dirty="0"/>
          </a:p>
        </p:txBody>
      </p:sp>
      <p:sp>
        <p:nvSpPr>
          <p:cNvPr id="10" name="Text 8">
            <a:extLst>
              <a:ext uri="{FF2B5EF4-FFF2-40B4-BE49-F238E27FC236}">
                <a16:creationId xmlns:a16="http://schemas.microsoft.com/office/drawing/2014/main" id="{172F484B-4239-9395-4383-04FB0B335EDB}"/>
              </a:ext>
            </a:extLst>
          </p:cNvPr>
          <p:cNvSpPr txBox="1"/>
          <p:nvPr/>
        </p:nvSpPr>
        <p:spPr>
          <a:xfrm>
            <a:off x="1207008" y="38130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linearity  ·  additivity  ·  proportional hazards</a:t>
            </a:r>
            <a:endParaRPr lang="en-US" sz="1300" dirty="0"/>
          </a:p>
        </p:txBody>
      </p:sp>
      <p:sp>
        <p:nvSpPr>
          <p:cNvPr id="11" name="Text 9">
            <a:extLst>
              <a:ext uri="{FF2B5EF4-FFF2-40B4-BE49-F238E27FC236}">
                <a16:creationId xmlns:a16="http://schemas.microsoft.com/office/drawing/2014/main" id="{18391D3A-AB5E-F2FE-4E03-D294832D8B83}"/>
              </a:ext>
            </a:extLst>
          </p:cNvPr>
          <p:cNvSpPr txBox="1"/>
          <p:nvPr/>
        </p:nvSpPr>
        <p:spPr>
          <a:xfrm>
            <a:off x="566928" y="4645152"/>
            <a:ext cx="566928" cy="457200"/>
          </a:xfrm>
          <a:prstGeom prst="rect">
            <a:avLst/>
          </a:prstGeom>
          <a:noFill/>
          <a:ln/>
        </p:spPr>
        <p:txBody>
          <a:bodyPr wrap="square" lIns="0" tIns="0" rIns="0" bIns="0" rtlCol="0" anchor="t"/>
          <a:lstStyle/>
          <a:p>
            <a:pPr marL="0" indent="0" algn="l">
              <a:buNone/>
            </a:pPr>
            <a:r>
              <a:rPr lang="en-US" sz="2800" b="1" dirty="0">
                <a:solidFill>
                  <a:srgbClr val="1A4E8A"/>
                </a:solidFill>
                <a:latin typeface="Calibri" pitchFamily="34" charset="0"/>
                <a:ea typeface="Calibri" pitchFamily="34" charset="-122"/>
                <a:cs typeface="Calibri" pitchFamily="34" charset="-120"/>
              </a:rPr>
              <a:t>3</a:t>
            </a:r>
            <a:endParaRPr lang="en-US" sz="2800" dirty="0"/>
          </a:p>
        </p:txBody>
      </p:sp>
      <p:sp>
        <p:nvSpPr>
          <p:cNvPr id="12" name="Text 10">
            <a:extLst>
              <a:ext uri="{FF2B5EF4-FFF2-40B4-BE49-F238E27FC236}">
                <a16:creationId xmlns:a16="http://schemas.microsoft.com/office/drawing/2014/main" id="{CDC9824B-A9A4-FB56-D25B-3655947D1DD8}"/>
              </a:ext>
            </a:extLst>
          </p:cNvPr>
          <p:cNvSpPr txBox="1"/>
          <p:nvPr/>
        </p:nvSpPr>
        <p:spPr>
          <a:xfrm>
            <a:off x="1207008" y="4709160"/>
            <a:ext cx="10417759" cy="64008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Do two pre-specified interactions improve on the additive Cox model?</a:t>
            </a:r>
            <a:endParaRPr lang="en-US" sz="1800" dirty="0"/>
          </a:p>
        </p:txBody>
      </p:sp>
      <p:sp>
        <p:nvSpPr>
          <p:cNvPr id="13" name="Text 11">
            <a:extLst>
              <a:ext uri="{FF2B5EF4-FFF2-40B4-BE49-F238E27FC236}">
                <a16:creationId xmlns:a16="http://schemas.microsoft.com/office/drawing/2014/main" id="{847EB190-913E-DF71-6F99-D0CFC98BDC38}"/>
              </a:ext>
            </a:extLst>
          </p:cNvPr>
          <p:cNvSpPr txBox="1"/>
          <p:nvPr/>
        </p:nvSpPr>
        <p:spPr>
          <a:xfrm>
            <a:off x="1207008" y="5184648"/>
            <a:ext cx="10417759" cy="274320"/>
          </a:xfrm>
          <a:prstGeom prst="rect">
            <a:avLst/>
          </a:prstGeom>
          <a:noFill/>
          <a:ln/>
        </p:spPr>
        <p:txBody>
          <a:bodyPr wrap="square" lIns="0" tIns="0" rIns="0" bIns="0" rtlCol="0" anchor="ctr"/>
          <a:lstStyle/>
          <a:p>
            <a:pPr marL="0" indent="0">
              <a:buNone/>
            </a:pPr>
            <a:r>
              <a:rPr lang="en-US" sz="1300" i="1" dirty="0">
                <a:solidFill>
                  <a:srgbClr val="767676"/>
                </a:solidFill>
                <a:latin typeface="Calibri" pitchFamily="34" charset="0"/>
                <a:ea typeface="Calibri" pitchFamily="34" charset="-122"/>
                <a:cs typeface="Calibri" pitchFamily="34" charset="-120"/>
              </a:rPr>
              <a:t>ΔBUN × discharge BUN  ·  age × discharge BUN</a:t>
            </a:r>
            <a:endParaRPr lang="en-US" sz="1300" dirty="0"/>
          </a:p>
        </p:txBody>
      </p:sp>
    </p:spTree>
    <p:extLst>
      <p:ext uri="{BB962C8B-B14F-4D97-AF65-F5344CB8AC3E}">
        <p14:creationId xmlns:p14="http://schemas.microsoft.com/office/powerpoint/2010/main" val="2360089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Train–test split</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5</a:t>
            </a:r>
            <a:endParaRPr lang="en-US" sz="1000" dirty="0"/>
          </a:p>
        </p:txBody>
      </p:sp>
      <p:sp>
        <p:nvSpPr>
          <p:cNvPr id="4" name="Shape 2"/>
          <p:cNvSpPr/>
          <p:nvPr/>
        </p:nvSpPr>
        <p:spPr>
          <a:xfrm>
            <a:off x="566928" y="1783080"/>
            <a:ext cx="8846271" cy="1051560"/>
          </a:xfrm>
          <a:prstGeom prst="rect">
            <a:avLst/>
          </a:prstGeom>
          <a:solidFill>
            <a:srgbClr val="1A4E8A"/>
          </a:solidFill>
          <a:ln w="12700">
            <a:solidFill>
              <a:srgbClr val="1A4E8A"/>
            </a:solidFill>
            <a:prstDash val="solid"/>
          </a:ln>
        </p:spPr>
        <p:txBody>
          <a:bodyPr/>
          <a:lstStyle/>
          <a:p>
            <a:endParaRPr lang="en-001"/>
          </a:p>
        </p:txBody>
      </p:sp>
      <p:sp>
        <p:nvSpPr>
          <p:cNvPr id="5" name="Shape 3"/>
          <p:cNvSpPr/>
          <p:nvPr/>
        </p:nvSpPr>
        <p:spPr>
          <a:xfrm>
            <a:off x="9413199" y="1783080"/>
            <a:ext cx="2211568" cy="1051560"/>
          </a:xfrm>
          <a:prstGeom prst="rect">
            <a:avLst/>
          </a:prstGeom>
          <a:solidFill>
            <a:srgbClr val="DCE6F1"/>
          </a:solidFill>
          <a:ln w="12700">
            <a:solidFill>
              <a:srgbClr val="DCE6F1"/>
            </a:solidFill>
            <a:prstDash val="solid"/>
          </a:ln>
        </p:spPr>
        <p:txBody>
          <a:bodyPr/>
          <a:lstStyle/>
          <a:p>
            <a:endParaRPr lang="en-001"/>
          </a:p>
        </p:txBody>
      </p:sp>
      <p:sp>
        <p:nvSpPr>
          <p:cNvPr id="6" name="Text 4"/>
          <p:cNvSpPr txBox="1"/>
          <p:nvPr/>
        </p:nvSpPr>
        <p:spPr>
          <a:xfrm>
            <a:off x="822960" y="1783080"/>
            <a:ext cx="8389071" cy="10515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Training  ·  3,168 patients</a:t>
            </a:r>
            <a:endParaRPr lang="en-US" sz="1800" dirty="0"/>
          </a:p>
        </p:txBody>
      </p:sp>
      <p:sp>
        <p:nvSpPr>
          <p:cNvPr id="7" name="Text 5"/>
          <p:cNvSpPr txBox="1"/>
          <p:nvPr/>
        </p:nvSpPr>
        <p:spPr>
          <a:xfrm>
            <a:off x="9614367" y="1783080"/>
            <a:ext cx="1845808" cy="1051560"/>
          </a:xfrm>
          <a:prstGeom prst="rect">
            <a:avLst/>
          </a:prstGeom>
          <a:noFill/>
          <a:ln/>
        </p:spPr>
        <p:txBody>
          <a:bodyPr wrap="square" lIns="0" tIns="0" rIns="0" bIns="0" rtlCol="0" anchor="ctr"/>
          <a:lstStyle/>
          <a:p>
            <a:pPr marL="0" indent="0">
              <a:buNone/>
            </a:pPr>
            <a:r>
              <a:rPr lang="en-US" sz="1500" b="1" dirty="0">
                <a:solidFill>
                  <a:srgbClr val="1A4E8A"/>
                </a:solidFill>
                <a:latin typeface="Calibri" pitchFamily="34" charset="0"/>
                <a:ea typeface="Calibri" pitchFamily="34" charset="-122"/>
                <a:cs typeface="Calibri" pitchFamily="34" charset="-120"/>
              </a:rPr>
              <a:t>Test  ·  793</a:t>
            </a:r>
            <a:endParaRPr lang="en-US" sz="1500" dirty="0"/>
          </a:p>
        </p:txBody>
      </p:sp>
      <p:sp>
        <p:nvSpPr>
          <p:cNvPr id="8" name="Text 6"/>
          <p:cNvSpPr txBox="1"/>
          <p:nvPr/>
        </p:nvSpPr>
        <p:spPr>
          <a:xfrm>
            <a:off x="566928" y="2926080"/>
            <a:ext cx="8846271"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80%</a:t>
            </a:r>
            <a:endParaRPr lang="en-US" sz="1200" dirty="0"/>
          </a:p>
        </p:txBody>
      </p:sp>
      <p:sp>
        <p:nvSpPr>
          <p:cNvPr id="9" name="Text 7"/>
          <p:cNvSpPr txBox="1"/>
          <p:nvPr/>
        </p:nvSpPr>
        <p:spPr>
          <a:xfrm>
            <a:off x="9413199" y="2926080"/>
            <a:ext cx="2211568"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20%</a:t>
            </a:r>
            <a:endParaRPr lang="en-US" sz="1200" dirty="0"/>
          </a:p>
        </p:txBody>
      </p:sp>
      <p:sp>
        <p:nvSpPr>
          <p:cNvPr id="10" name="Text 8"/>
          <p:cNvSpPr txBox="1"/>
          <p:nvPr/>
        </p:nvSpPr>
        <p:spPr>
          <a:xfrm>
            <a:off x="566927" y="3220720"/>
            <a:ext cx="11057839" cy="1005840"/>
          </a:xfrm>
          <a:prstGeom prst="rect">
            <a:avLst/>
          </a:prstGeom>
          <a:noFill/>
          <a:ln/>
        </p:spPr>
        <p:txBody>
          <a:bodyPr wrap="square" lIns="0" tIns="0" rIns="0" bIns="0" rtlCol="0" anchor="ctr"/>
          <a:lstStyle/>
          <a:p>
            <a:pPr algn="l">
              <a:spcAft>
                <a:spcPts val="1400"/>
              </a:spcAft>
              <a:buSzPct val="100000"/>
            </a:pPr>
            <a:r>
              <a:rPr lang="en-US" sz="1600" dirty="0">
                <a:solidFill>
                  <a:srgbClr val="3A3A3A"/>
                </a:solidFill>
                <a:latin typeface="Calibri" pitchFamily="34" charset="0"/>
                <a:ea typeface="Calibri" pitchFamily="34" charset="-122"/>
                <a:cs typeface="Calibri" pitchFamily="34" charset="-120"/>
              </a:rPr>
              <a:t>Stratified by the event indicator — 42.4% events in both sets</a:t>
            </a:r>
            <a:endParaRPr lang="en-US" sz="1600" dirty="0"/>
          </a:p>
        </p:txBody>
      </p:sp>
      <p:sp>
        <p:nvSpPr>
          <p:cNvPr id="11" name="Text 9"/>
          <p:cNvSpPr txBox="1"/>
          <p:nvPr/>
        </p:nvSpPr>
        <p:spPr>
          <a:xfrm>
            <a:off x="566928" y="3995928"/>
            <a:ext cx="11057839" cy="329184"/>
          </a:xfrm>
          <a:prstGeom prst="rect">
            <a:avLst/>
          </a:prstGeom>
          <a:noFill/>
          <a:ln/>
        </p:spPr>
        <p:txBody>
          <a:bodyPr wrap="square" lIns="0" tIns="0" rIns="0" bIns="0" rtlCol="0" anchor="ctr"/>
          <a:lstStyle/>
          <a:p>
            <a:pPr marL="0" indent="0">
              <a:buNone/>
            </a:pPr>
            <a:r>
              <a:rPr lang="en-US" sz="1700" b="1" dirty="0">
                <a:solidFill>
                  <a:srgbClr val="1A4E8A"/>
                </a:solidFill>
                <a:latin typeface="Calibri" pitchFamily="34" charset="0"/>
                <a:ea typeface="Calibri" pitchFamily="34" charset="-122"/>
                <a:cs typeface="Calibri" pitchFamily="34" charset="-120"/>
              </a:rPr>
              <a:t>748 deaths within 12 months in training  ·  199 in test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The Cox model refitted on training data</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6</a:t>
            </a:r>
            <a:endParaRPr lang="en-US" sz="1000" dirty="0"/>
          </a:p>
        </p:txBody>
      </p:sp>
      <p:sp>
        <p:nvSpPr>
          <p:cNvPr id="4" name="Text 2"/>
          <p:cNvSpPr txBox="1"/>
          <p:nvPr/>
        </p:nvSpPr>
        <p:spPr>
          <a:xfrm>
            <a:off x="566928" y="1170432"/>
            <a:ext cx="11057839" cy="329184"/>
          </a:xfrm>
          <a:prstGeom prst="rect">
            <a:avLst/>
          </a:prstGeom>
          <a:noFill/>
          <a:ln/>
        </p:spPr>
        <p:txBody>
          <a:bodyPr wrap="square" lIns="0" tIns="0" rIns="0" bIns="0" rtlCol="0" anchor="ctr"/>
          <a:lstStyle/>
          <a:p>
            <a:pPr marL="0" indent="0">
              <a:buNone/>
            </a:pPr>
            <a:r>
              <a:rPr lang="en-US" sz="1800" b="1" dirty="0">
                <a:solidFill>
                  <a:srgbClr val="1A4E8A"/>
                </a:solidFill>
                <a:latin typeface="Calibri" pitchFamily="34" charset="0"/>
                <a:ea typeface="Calibri" pitchFamily="34" charset="-122"/>
                <a:cs typeface="Calibri" pitchFamily="34" charset="-120"/>
              </a:rPr>
              <a:t>No hazard ratio moves by more than 2.2%</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2880360"/>
        </p:xfrm>
        <a:graphic>
          <a:graphicData uri="http://schemas.openxmlformats.org/drawingml/2006/table">
            <a:tbl>
              <a:tblPr/>
              <a:tblGrid>
                <a:gridCol w="374263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88036">
                <a:tc>
                  <a:txBody>
                    <a:bodyPr/>
                    <a:lstStyle/>
                    <a:p>
                      <a:pPr marL="0" indent="0" algn="l">
                        <a:buNone/>
                      </a:pPr>
                      <a:r>
                        <a:rPr lang="en-US" sz="1350" b="1" dirty="0">
                          <a:solidFill>
                            <a:srgbClr val="1A1A1A"/>
                          </a:solidFill>
                          <a:latin typeface="Calibri" pitchFamily="34" charset="0"/>
                          <a:ea typeface="Calibri" pitchFamily="34" charset="-122"/>
                          <a:cs typeface="Calibri" pitchFamily="34" charset="-120"/>
                        </a:rPr>
                        <a:t>Covariate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HR train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HR full</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p train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p full</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Age (per year)</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1.0447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1.0438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BUN, discharge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1.0238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1.0213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RDW</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1.1295</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1.1204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ΔBUN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0.9900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0.9903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BNP</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1.0002</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1.0002</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Sodium</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0.9726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0.9728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&lt; 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Length of stay</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1.0083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1.0094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0.010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0.001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Bilirubin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1.0988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1.1208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767676"/>
                          </a:solidFill>
                          <a:latin typeface="Calibri" pitchFamily="34" charset="0"/>
                          <a:ea typeface="Calibri" pitchFamily="34" charset="-122"/>
                          <a:cs typeface="Calibri" pitchFamily="34" charset="-120"/>
                        </a:rPr>
                        <a:t>0.126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0.037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288036">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Potassium</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0.9196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0.9141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767676"/>
                          </a:solidFill>
                          <a:latin typeface="Calibri" pitchFamily="34" charset="0"/>
                          <a:ea typeface="Calibri" pitchFamily="34" charset="-122"/>
                          <a:cs typeface="Calibri" pitchFamily="34" charset="-120"/>
                        </a:rPr>
                        <a:t>0.078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0.038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6" name="Text 3"/>
          <p:cNvSpPr txBox="1"/>
          <p:nvPr/>
        </p:nvSpPr>
        <p:spPr>
          <a:xfrm>
            <a:off x="566928" y="4828032"/>
            <a:ext cx="11057839"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Every full-data estimate falls inside the training confidence interval.  Concordance 0.699 against 0.694.</a:t>
            </a:r>
            <a:endParaRPr lang="en-US" sz="1400" dirty="0"/>
          </a:p>
        </p:txBody>
      </p:sp>
      <p:sp>
        <p:nvSpPr>
          <p:cNvPr id="7" name="Text 4"/>
          <p:cNvSpPr txBox="1"/>
          <p:nvPr/>
        </p:nvSpPr>
        <p:spPr>
          <a:xfrm>
            <a:off x="566928" y="5138928"/>
            <a:ext cx="11057839"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Bilirubin and potassium lose significance — the intervals widen, the effects do not move.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Proportional hazards on the training data</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7</a:t>
            </a:r>
            <a:endParaRPr lang="en-US" sz="1000" dirty="0"/>
          </a:p>
        </p:txBody>
      </p:sp>
      <p:sp>
        <p:nvSpPr>
          <p:cNvPr id="4" name="Text 2"/>
          <p:cNvSpPr txBox="1"/>
          <p:nvPr/>
        </p:nvSpPr>
        <p:spPr>
          <a:xfrm>
            <a:off x="566928" y="1170432"/>
            <a:ext cx="11057839" cy="329184"/>
          </a:xfrm>
          <a:prstGeom prst="rect">
            <a:avLst/>
          </a:prstGeom>
          <a:noFill/>
          <a:ln/>
        </p:spPr>
        <p:txBody>
          <a:bodyPr wrap="square" lIns="0" tIns="0" rIns="0" bIns="0" rtlCol="0" anchor="ctr"/>
          <a:lstStyle/>
          <a:p>
            <a:pPr marL="0" indent="0">
              <a:buNone/>
            </a:pPr>
            <a:r>
              <a:rPr lang="en-US" sz="1800" b="1" dirty="0">
                <a:solidFill>
                  <a:srgbClr val="1A4E8A"/>
                </a:solidFill>
                <a:latin typeface="Calibri" pitchFamily="34" charset="0"/>
                <a:ea typeface="Calibri" pitchFamily="34" charset="-122"/>
                <a:cs typeface="Calibri" pitchFamily="34" charset="-120"/>
              </a:rPr>
              <a:t>No covariate is flagged in both fits</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5989320" cy="2304288"/>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84048">
                <a:tc>
                  <a:txBody>
                    <a:bodyPr/>
                    <a:lstStyle/>
                    <a:p>
                      <a:pPr marL="0" indent="0" algn="l">
                        <a:buNone/>
                      </a:pPr>
                      <a:r>
                        <a:rPr lang="en-US" sz="1350" b="1" dirty="0">
                          <a:solidFill>
                            <a:srgbClr val="1A1A1A"/>
                          </a:solidFill>
                          <a:latin typeface="Calibri" pitchFamily="34" charset="0"/>
                          <a:ea typeface="Calibri" pitchFamily="34" charset="-122"/>
                          <a:cs typeface="Calibri" pitchFamily="34" charset="-120"/>
                        </a:rPr>
                        <a:t>Covariate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p (train)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350" b="1" dirty="0">
                          <a:solidFill>
                            <a:srgbClr val="1A1A1A"/>
                          </a:solidFill>
                          <a:latin typeface="Calibri" pitchFamily="34" charset="0"/>
                          <a:ea typeface="Calibri" pitchFamily="34" charset="-122"/>
                          <a:cs typeface="Calibri" pitchFamily="34" charset="-120"/>
                        </a:rPr>
                        <a:t>p (full)</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Comorbidity burden 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0.021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0.100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Comorbidity burden 2–3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0.025</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0.239</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Bilirubin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0.035</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0.117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BUN, discharge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0.116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0.036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Length of stay</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dirty="0">
                          <a:solidFill>
                            <a:srgbClr val="3A3A3A"/>
                          </a:solidFill>
                          <a:latin typeface="Calibri" pitchFamily="34" charset="0"/>
                          <a:ea typeface="Calibri" pitchFamily="34" charset="-122"/>
                          <a:cs typeface="Calibri" pitchFamily="34" charset="-120"/>
                        </a:rPr>
                        <a:t>0.137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50" b="1" dirty="0">
                          <a:solidFill>
                            <a:srgbClr val="1A4E8A"/>
                          </a:solidFill>
                          <a:latin typeface="Calibri" pitchFamily="34" charset="0"/>
                          <a:ea typeface="Calibri" pitchFamily="34" charset="-122"/>
                          <a:cs typeface="Calibri" pitchFamily="34" charset="-120"/>
                        </a:rPr>
                        <a:t>0.048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txBox="1"/>
          <p:nvPr/>
        </p:nvSpPr>
        <p:spPr>
          <a:xfrm>
            <a:off x="566928" y="4160520"/>
            <a:ext cx="5989320" cy="274320"/>
          </a:xfrm>
          <a:prstGeom prst="rect">
            <a:avLst/>
          </a:prstGeom>
          <a:noFill/>
          <a:ln/>
        </p:spPr>
        <p:txBody>
          <a:bodyPr wrap="square" lIns="0" tIns="0" rIns="0" bIns="0" rtlCol="0" anchor="ctr"/>
          <a:lstStyle/>
          <a:p>
            <a:pPr marL="0" indent="0" algn="l">
              <a:buNone/>
            </a:pPr>
            <a:r>
              <a:rPr lang="en-US" sz="1150" dirty="0">
                <a:solidFill>
                  <a:srgbClr val="767676"/>
                </a:solidFill>
                <a:latin typeface="Calibri" pitchFamily="34" charset="0"/>
                <a:ea typeface="Calibri" pitchFamily="34" charset="-122"/>
                <a:cs typeface="Calibri" pitchFamily="34" charset="-120"/>
              </a:rPr>
              <a:t>Schoenfeld residual test on a rank transform of time; flagged at p &lt; 0.05</a:t>
            </a:r>
            <a:endParaRPr lang="en-US" sz="1150" dirty="0"/>
          </a:p>
        </p:txBody>
      </p:sp>
      <p:sp>
        <p:nvSpPr>
          <p:cNvPr id="7" name="Text 4"/>
          <p:cNvSpPr txBox="1"/>
          <p:nvPr/>
        </p:nvSpPr>
        <p:spPr>
          <a:xfrm>
            <a:off x="7287768" y="1700784"/>
            <a:ext cx="4336999" cy="2743200"/>
          </a:xfrm>
          <a:prstGeom prst="rect">
            <a:avLst/>
          </a:prstGeom>
          <a:noFill/>
          <a:ln/>
        </p:spPr>
        <p:txBody>
          <a:bodyPr wrap="square" lIns="0" tIns="0" rIns="0" bIns="0" rtlCol="0" anchor="ctr"/>
          <a:lstStyle/>
          <a:p>
            <a:pPr marL="342900" indent="-342900" algn="l">
              <a:spcAft>
                <a:spcPts val="1800"/>
              </a:spcAft>
              <a:buSzPct val="100000"/>
              <a:buChar char="•"/>
            </a:pPr>
            <a:r>
              <a:rPr lang="en-US" sz="1500" dirty="0">
                <a:solidFill>
                  <a:srgbClr val="3A3A3A"/>
                </a:solidFill>
                <a:latin typeface="Calibri" pitchFamily="34" charset="0"/>
                <a:ea typeface="Calibri" pitchFamily="34" charset="-122"/>
                <a:cs typeface="Calibri" pitchFamily="34" charset="-120"/>
              </a:rPr>
              <a:t>Training is four fifths of the same cohort — a genuinely time-varying effect would persist in it</a:t>
            </a:r>
            <a:endParaRPr lang="en-US" sz="1500" dirty="0"/>
          </a:p>
          <a:p>
            <a:pPr marL="342900" indent="-342900" algn="l">
              <a:spcAft>
                <a:spcPts val="1800"/>
              </a:spcAft>
              <a:buSzPct val="100000"/>
              <a:buChar char="•"/>
            </a:pPr>
            <a:r>
              <a:rPr lang="en-US" sz="1500" dirty="0">
                <a:solidFill>
                  <a:srgbClr val="3A3A3A"/>
                </a:solidFill>
                <a:latin typeface="Calibri" pitchFamily="34" charset="0"/>
                <a:ea typeface="Calibri" pitchFamily="34" charset="-122"/>
                <a:cs typeface="Calibri" pitchFamily="34" charset="-120"/>
              </a:rPr>
              <a:t>Smallest p anywhere in either fit: 0.021, across sixteen simultaneous tests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One-year survival prediction</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8</a:t>
            </a:r>
            <a:endParaRPr lang="en-US" sz="1000" dirty="0"/>
          </a:p>
        </p:txBody>
      </p:sp>
      <p:pic>
        <p:nvPicPr>
          <p:cNvPr id="4" name="Image 0" descr="/mnt/user-data/uploads/proj tasks/Final Project/figures/fig6_cox_one_year.png"/>
          <p:cNvPicPr>
            <a:picLocks noChangeAspect="1"/>
          </p:cNvPicPr>
          <p:nvPr/>
        </p:nvPicPr>
        <p:blipFill>
          <a:blip r:embed="rId3"/>
          <a:stretch>
            <a:fillRect/>
          </a:stretch>
        </p:blipFill>
        <p:spPr>
          <a:xfrm>
            <a:off x="566928" y="1170432"/>
            <a:ext cx="11057839" cy="3114007"/>
          </a:xfrm>
          <a:prstGeom prst="rect">
            <a:avLst/>
          </a:prstGeom>
        </p:spPr>
      </p:pic>
      <p:sp>
        <p:nvSpPr>
          <p:cNvPr id="5" name="Text 2"/>
          <p:cNvSpPr txBox="1"/>
          <p:nvPr/>
        </p:nvSpPr>
        <p:spPr>
          <a:xfrm>
            <a:off x="566928" y="4375879"/>
            <a:ext cx="11057839" cy="274320"/>
          </a:xfrm>
          <a:prstGeom prst="rect">
            <a:avLst/>
          </a:prstGeom>
          <a:noFill/>
          <a:ln/>
        </p:spPr>
        <p:txBody>
          <a:bodyPr wrap="square" lIns="0" tIns="0" rIns="0" bIns="0" rtlCol="0" anchor="ctr"/>
          <a:lstStyle/>
          <a:p>
            <a:pPr marL="0" indent="0" algn="l">
              <a:buNone/>
            </a:pPr>
            <a:r>
              <a:rPr lang="en-US" sz="1400" dirty="0">
                <a:solidFill>
                  <a:srgbClr val="767676"/>
                </a:solidFill>
                <a:latin typeface="Calibri" pitchFamily="34" charset="0"/>
                <a:ea typeface="Calibri" pitchFamily="34" charset="-122"/>
                <a:cs typeface="Calibri" pitchFamily="34" charset="-120"/>
              </a:rPr>
              <a:t>Grids run from the 1st to the 99th training percentile. Dotted line: the representative patient.</a:t>
            </a:r>
            <a:endParaRPr lang="en-US" sz="1400" dirty="0"/>
          </a:p>
        </p:txBody>
      </p:sp>
      <p:sp>
        <p:nvSpPr>
          <p:cNvPr id="6" name="Text 3"/>
          <p:cNvSpPr txBox="1"/>
          <p:nvPr/>
        </p:nvSpPr>
        <p:spPr>
          <a:xfrm>
            <a:off x="566928" y="4846320"/>
            <a:ext cx="11057839" cy="329184"/>
          </a:xfrm>
          <a:prstGeom prst="rect">
            <a:avLst/>
          </a:prstGeom>
          <a:noFill/>
          <a:ln/>
        </p:spPr>
        <p:txBody>
          <a:bodyPr wrap="square" lIns="0" tIns="0" rIns="0" bIns="0" rtlCol="0" anchor="ctr"/>
          <a:lstStyle/>
          <a:p>
            <a:pPr marL="0" indent="0">
              <a:buNone/>
            </a:pPr>
            <a:r>
              <a:rPr lang="en-US" sz="1600" b="1" dirty="0">
                <a:solidFill>
                  <a:srgbClr val="1A4E8A"/>
                </a:solidFill>
                <a:latin typeface="Calibri" pitchFamily="34" charset="0"/>
                <a:ea typeface="Calibri" pitchFamily="34" charset="-122"/>
                <a:cs typeface="Calibri" pitchFamily="34" charset="-120"/>
              </a:rPr>
              <a:t>Representative patient — a man of 76 with median labs — has predicted one-year survival 0.821</a:t>
            </a:r>
            <a:endParaRPr lang="en-US" sz="1600" dirty="0"/>
          </a:p>
        </p:txBody>
      </p:sp>
      <p:sp>
        <p:nvSpPr>
          <p:cNvPr id="7" name="Text 4"/>
          <p:cNvSpPr txBox="1"/>
          <p:nvPr/>
        </p:nvSpPr>
        <p:spPr>
          <a:xfrm>
            <a:off x="566928" y="5303520"/>
            <a:ext cx="5120640" cy="256032"/>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Across the plotted grid</a:t>
            </a:r>
            <a:endParaRPr lang="en-US" sz="1300" dirty="0"/>
          </a:p>
        </p:txBody>
      </p:sp>
      <p:sp>
        <p:nvSpPr>
          <p:cNvPr id="8" name="Text 5"/>
          <p:cNvSpPr txBox="1"/>
          <p:nvPr/>
        </p:nvSpPr>
        <p:spPr>
          <a:xfrm>
            <a:off x="566928" y="5577840"/>
            <a:ext cx="5394960" cy="256032"/>
          </a:xfrm>
          <a:prstGeom prst="rect">
            <a:avLst/>
          </a:prstGeom>
          <a:noFill/>
          <a:ln/>
        </p:spPr>
        <p:txBody>
          <a:bodyPr wrap="square" lIns="0" tIns="0" rIns="0" bIns="0" rtlCol="0" anchor="ctr"/>
          <a:lstStyle/>
          <a:p>
            <a:pPr marL="0" indent="0">
              <a:buNone/>
            </a:pPr>
            <a:r>
              <a:rPr lang="en-US" sz="1300" dirty="0">
                <a:solidFill>
                  <a:srgbClr val="3A3A3A"/>
                </a:solidFill>
                <a:latin typeface="Calibri" pitchFamily="34" charset="0"/>
                <a:ea typeface="Calibri" pitchFamily="34" charset="-122"/>
                <a:cs typeface="Calibri" pitchFamily="34" charset="-120"/>
              </a:rPr>
              <a:t>BUN 0.876 → 0.298   ·   age 0.962 → 0.641   ·   RDW 0.864 → 0.659</a:t>
            </a:r>
            <a:endParaRPr lang="en-US" sz="1300" dirty="0"/>
          </a:p>
        </p:txBody>
      </p:sp>
      <p:sp>
        <p:nvSpPr>
          <p:cNvPr id="9" name="Text 6"/>
          <p:cNvSpPr txBox="1"/>
          <p:nvPr/>
        </p:nvSpPr>
        <p:spPr>
          <a:xfrm>
            <a:off x="6327648" y="5303520"/>
            <a:ext cx="5303520" cy="256032"/>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Over the interquartile range the order reverses</a:t>
            </a:r>
            <a:endParaRPr lang="en-US" sz="1300" dirty="0"/>
          </a:p>
        </p:txBody>
      </p:sp>
      <p:sp>
        <p:nvSpPr>
          <p:cNvPr id="10" name="Text 7"/>
          <p:cNvSpPr txBox="1"/>
          <p:nvPr/>
        </p:nvSpPr>
        <p:spPr>
          <a:xfrm>
            <a:off x="6327648" y="5577840"/>
            <a:ext cx="5303520" cy="256032"/>
          </a:xfrm>
          <a:prstGeom prst="rect">
            <a:avLst/>
          </a:prstGeom>
          <a:noFill/>
          <a:ln/>
        </p:spPr>
        <p:txBody>
          <a:bodyPr wrap="square" lIns="0" tIns="0" rIns="0" bIns="0" rtlCol="0" anchor="ctr"/>
          <a:lstStyle/>
          <a:p>
            <a:pPr marL="0" indent="0">
              <a:buNone/>
            </a:pPr>
            <a:r>
              <a:rPr lang="en-US" sz="1300" dirty="0">
                <a:solidFill>
                  <a:srgbClr val="3A3A3A"/>
                </a:solidFill>
                <a:latin typeface="Calibri" pitchFamily="34" charset="0"/>
                <a:ea typeface="Calibri" pitchFamily="34" charset="-122"/>
                <a:cs typeface="Calibri" pitchFamily="34" charset="-120"/>
              </a:rPr>
              <a:t>age 0.11   ·   BUN 0.06   ·   RDW 0.03</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200" b="1" dirty="0">
                <a:solidFill>
                  <a:srgbClr val="1A1A1A"/>
                </a:solidFill>
                <a:latin typeface="Calibri" pitchFamily="34" charset="0"/>
                <a:ea typeface="Calibri" pitchFamily="34" charset="-122"/>
                <a:cs typeface="Calibri" pitchFamily="34" charset="-120"/>
              </a:rPr>
              <a:t>Three more flexible models</a:t>
            </a:r>
            <a:endParaRPr lang="en-US" sz="32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9</a:t>
            </a:r>
            <a:endParaRPr lang="en-US" sz="1000" dirty="0"/>
          </a:p>
        </p:txBody>
      </p:sp>
      <p:sp>
        <p:nvSpPr>
          <p:cNvPr id="4" name="Text 2"/>
          <p:cNvSpPr txBox="1"/>
          <p:nvPr/>
        </p:nvSpPr>
        <p:spPr>
          <a:xfrm>
            <a:off x="566928" y="1100000"/>
            <a:ext cx="11057839" cy="329184"/>
          </a:xfrm>
          <a:prstGeom prst="rect">
            <a:avLst/>
          </a:prstGeom>
          <a:noFill/>
          <a:ln/>
        </p:spPr>
        <p:txBody>
          <a:bodyPr wrap="square" lIns="0" tIns="0" rIns="0" bIns="0" rtlCol="0" anchor="ctr"/>
          <a:lstStyle/>
          <a:p>
            <a:pPr marL="0" indent="0">
              <a:buNone/>
            </a:pPr>
            <a:r>
              <a:rPr lang="en-US" sz="1800" b="1" dirty="0">
                <a:solidFill>
                  <a:srgbClr val="1A4E8A"/>
                </a:solidFill>
                <a:latin typeface="Calibri" pitchFamily="34" charset="0"/>
                <a:ea typeface="Calibri" pitchFamily="34" charset="-122"/>
                <a:cs typeface="Calibri" pitchFamily="34" charset="-120"/>
              </a:rPr>
              <a:t>Each model drops a different Cox assumption</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3297159535"/>
              </p:ext>
            </p:extLst>
          </p:nvPr>
        </p:nvGraphicFramePr>
        <p:xfrm>
          <a:off x="566928" y="1560000"/>
          <a:ext cx="11057840" cy="2639440"/>
        </p:xfrm>
        <a:graphic>
          <a:graphicData uri="http://schemas.openxmlformats.org/drawingml/2006/table">
            <a:tbl>
              <a:tblPr/>
              <a:tblGrid>
                <a:gridCol w="2600000">
                  <a:extLst>
                    <a:ext uri="{9D8B030D-6E8A-4147-A177-3AD203B41FA5}">
                      <a16:colId xmlns:a16="http://schemas.microsoft.com/office/drawing/2014/main" val="20000"/>
                    </a:ext>
                  </a:extLst>
                </a:gridCol>
                <a:gridCol w="2114460">
                  <a:extLst>
                    <a:ext uri="{9D8B030D-6E8A-4147-A177-3AD203B41FA5}">
                      <a16:colId xmlns:a16="http://schemas.microsoft.com/office/drawing/2014/main" val="20001"/>
                    </a:ext>
                  </a:extLst>
                </a:gridCol>
                <a:gridCol w="2114460">
                  <a:extLst>
                    <a:ext uri="{9D8B030D-6E8A-4147-A177-3AD203B41FA5}">
                      <a16:colId xmlns:a16="http://schemas.microsoft.com/office/drawing/2014/main" val="20002"/>
                    </a:ext>
                  </a:extLst>
                </a:gridCol>
                <a:gridCol w="2114460">
                  <a:extLst>
                    <a:ext uri="{9D8B030D-6E8A-4147-A177-3AD203B41FA5}">
                      <a16:colId xmlns:a16="http://schemas.microsoft.com/office/drawing/2014/main" val="20003"/>
                    </a:ext>
                  </a:extLst>
                </a:gridCol>
                <a:gridCol w="2114460">
                  <a:extLst>
                    <a:ext uri="{9D8B030D-6E8A-4147-A177-3AD203B41FA5}">
                      <a16:colId xmlns:a16="http://schemas.microsoft.com/office/drawing/2014/main" val="20004"/>
                    </a:ext>
                  </a:extLst>
                </a:gridCol>
              </a:tblGrid>
              <a:tr h="340000">
                <a:tc>
                  <a:txBody>
                    <a:bodyPr/>
                    <a:lstStyle/>
                    <a:p>
                      <a:pPr marL="0" indent="0" algn="l">
                        <a:buNone/>
                      </a:pP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800" b="1" dirty="0">
                          <a:solidFill>
                            <a:srgbClr val="1A1A1A"/>
                          </a:solidFill>
                          <a:latin typeface="Calibri" pitchFamily="34" charset="0"/>
                          <a:ea typeface="Calibri" pitchFamily="34" charset="-122"/>
                          <a:cs typeface="Calibri" pitchFamily="34" charset="-120"/>
                        </a:rPr>
                        <a:t>Cox</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800" b="1" dirty="0">
                          <a:solidFill>
                            <a:srgbClr val="1A1A1A"/>
                          </a:solidFill>
                          <a:latin typeface="Calibri" pitchFamily="34" charset="0"/>
                          <a:ea typeface="Calibri" pitchFamily="34" charset="-122"/>
                          <a:cs typeface="Calibri" pitchFamily="34" charset="-120"/>
                        </a:rPr>
                        <a:t>DeepSurv</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800" b="1" dirty="0">
                          <a:solidFill>
                            <a:srgbClr val="1A1A1A"/>
                          </a:solidFill>
                          <a:latin typeface="Calibri" pitchFamily="34" charset="0"/>
                          <a:ea typeface="Calibri" pitchFamily="34" charset="-122"/>
                          <a:cs typeface="Calibri" pitchFamily="34" charset="-120"/>
                        </a:rPr>
                        <a:t>Cox-Time</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800" b="1" dirty="0">
                          <a:solidFill>
                            <a:srgbClr val="1A1A1A"/>
                          </a:solidFill>
                          <a:latin typeface="Calibri" pitchFamily="34" charset="0"/>
                          <a:ea typeface="Calibri" pitchFamily="34" charset="-122"/>
                          <a:cs typeface="Calibri" pitchFamily="34" charset="-120"/>
                        </a:rPr>
                        <a:t>RSF</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4000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Risk score</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β′x</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g(x; θ)</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g(t, x; θ)</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none  (tree splits)</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4000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Linearity</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assumed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relaxed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relaxed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relaxed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34000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Additivity</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assumed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relaxed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relaxed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relaxed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34000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Proportional hazards</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assumed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assumed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relaxed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relaxed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34000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Fitted by</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partial lik.</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partial </a:t>
                      </a:r>
                      <a:r>
                        <a:rPr lang="en-US" sz="1800" dirty="0" err="1">
                          <a:solidFill>
                            <a:srgbClr val="3A3A3A"/>
                          </a:solidFill>
                          <a:latin typeface="Calibri" pitchFamily="34" charset="0"/>
                          <a:ea typeface="Calibri" pitchFamily="34" charset="-122"/>
                          <a:cs typeface="Calibri" pitchFamily="34" charset="-120"/>
                        </a:rPr>
                        <a:t>lik</a:t>
                      </a:r>
                      <a:r>
                        <a:rPr lang="en-US" sz="1800" dirty="0">
                          <a:solidFill>
                            <a:srgbClr val="3A3A3A"/>
                          </a:solidFill>
                          <a:latin typeface="Calibri" pitchFamily="34" charset="0"/>
                          <a:ea typeface="Calibri" pitchFamily="34" charset="-122"/>
                          <a:cs typeface="Calibri" pitchFamily="34" charset="-120"/>
                        </a:rPr>
                        <a:t>.</a:t>
                      </a:r>
                    </a:p>
                    <a:p>
                      <a:pPr marL="0" indent="0" algn="ctr">
                        <a:buNone/>
                      </a:pPr>
                      <a:r>
                        <a:rPr lang="en-US" dirty="0"/>
                        <a:t>(mini-batch)</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partial </a:t>
                      </a:r>
                      <a:r>
                        <a:rPr lang="en-US" sz="1800" dirty="0" err="1">
                          <a:solidFill>
                            <a:srgbClr val="3A3A3A"/>
                          </a:solidFill>
                          <a:latin typeface="Calibri" pitchFamily="34" charset="0"/>
                          <a:ea typeface="Calibri" pitchFamily="34" charset="-122"/>
                          <a:cs typeface="Calibri" pitchFamily="34" charset="-120"/>
                        </a:rPr>
                        <a:t>lik</a:t>
                      </a:r>
                      <a:r>
                        <a:rPr lang="en-US" sz="1800" dirty="0">
                          <a:solidFill>
                            <a:srgbClr val="3A3A3A"/>
                          </a:solidFill>
                          <a:latin typeface="Calibri" pitchFamily="34" charset="0"/>
                          <a:ea typeface="Calibri" pitchFamily="34" charset="-122"/>
                          <a:cs typeface="Calibri" pitchFamily="34" charset="-120"/>
                        </a:rPr>
                        <a:t>.</a:t>
                      </a:r>
                    </a:p>
                    <a:p>
                      <a:pPr marL="0" indent="0" algn="ctr">
                        <a:buNone/>
                      </a:pPr>
                      <a:r>
                        <a:rPr lang="en-US" sz="1800" dirty="0">
                          <a:solidFill>
                            <a:srgbClr val="3A3A3A"/>
                          </a:solidFill>
                          <a:latin typeface="Calibri" pitchFamily="34" charset="0"/>
                          <a:ea typeface="Calibri" pitchFamily="34" charset="-122"/>
                          <a:cs typeface="Calibri" pitchFamily="34" charset="-120"/>
                        </a:rPr>
                        <a:t>(sampled)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log-rank splits</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34000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Baseline hazard</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Breslow</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Breslow</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Breslow</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Nelson–Aalen (leaf)</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1" name="Tuning strip"/>
          <p:cNvSpPr txBox="1"/>
          <p:nvPr/>
        </p:nvSpPr>
        <p:spPr>
          <a:xfrm>
            <a:off x="566927" y="4950000"/>
            <a:ext cx="11057839" cy="1000000"/>
          </a:xfrm>
          <a:prstGeom prst="rect">
            <a:avLst/>
          </a:prstGeom>
          <a:noFill/>
          <a:ln/>
        </p:spPr>
        <p:txBody>
          <a:bodyPr wrap="square" lIns="0" tIns="0" rIns="0" bIns="0" rtlCol="0" anchor="t"/>
          <a:lstStyle/>
          <a:p>
            <a:pPr marL="0" indent="0" algn="l">
              <a:lnSpc>
                <a:spcPct val="150000"/>
              </a:lnSpc>
              <a:buNone/>
            </a:pPr>
            <a:r>
              <a:rPr lang="en-US" sz="1700" dirty="0">
                <a:solidFill>
                  <a:srgbClr val="767676"/>
                </a:solidFill>
                <a:latin typeface="Calibri" pitchFamily="34" charset="0"/>
                <a:ea typeface="Calibri" pitchFamily="34" charset="-122"/>
                <a:cs typeface="Calibri" pitchFamily="34" charset="-120"/>
              </a:rPr>
              <a:t>Tuning — 5-fold CV in the training set, scored by IBS over the first year, one-SE rule.</a:t>
            </a:r>
          </a:p>
          <a:p>
            <a:pPr marL="0" indent="0" algn="l">
              <a:lnSpc>
                <a:spcPct val="150000"/>
              </a:lnSpc>
              <a:buNone/>
            </a:pPr>
            <a:r>
              <a:rPr lang="en-US" sz="1700" b="1" dirty="0">
                <a:solidFill>
                  <a:srgbClr val="1A1A1A"/>
                </a:solidFill>
                <a:latin typeface="Calibri" pitchFamily="34" charset="0"/>
                <a:ea typeface="Calibri" pitchFamily="34" charset="-122"/>
                <a:cs typeface="Calibri" pitchFamily="34" charset="-120"/>
              </a:rPr>
              <a:t>Selected:  </a:t>
            </a:r>
            <a:r>
              <a:rPr lang="en-US" sz="1700" dirty="0">
                <a:solidFill>
                  <a:srgbClr val="3A3A3A"/>
                </a:solidFill>
                <a:latin typeface="Calibri" pitchFamily="34" charset="0"/>
                <a:ea typeface="Calibri" pitchFamily="34" charset="-122"/>
                <a:cs typeface="Calibri" pitchFamily="34" charset="-120"/>
              </a:rPr>
              <a:t>RSF 500 trees / leaf 50 / mtry 4   ·   DeepSurv [16], dropout 0.4, lr 0.001   ·   Cox-Time [16], dropout 0.4, lr 0.01</a:t>
            </a:r>
          </a:p>
          <a:p>
            <a:pPr marL="0" indent="0" algn="l">
              <a:lnSpc>
                <a:spcPct val="150000"/>
              </a:lnSpc>
              <a:buNone/>
            </a:pPr>
            <a:r>
              <a:rPr lang="en-US" sz="1700" b="1" dirty="0">
                <a:solidFill>
                  <a:srgbClr val="1A4E8A"/>
                </a:solidFill>
                <a:latin typeface="Calibri" pitchFamily="34" charset="0"/>
                <a:ea typeface="Calibri" pitchFamily="34" charset="-122"/>
                <a:cs typeface="Calibri" pitchFamily="34" charset="-120"/>
              </a:rPr>
              <a:t>All four CV scores land within one SE of each other (IBS 0.110 ± 0.003).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Do the flexible models see the covariates differently?</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10</a:t>
            </a:r>
            <a:endParaRPr lang="en-US" sz="1000" dirty="0"/>
          </a:p>
        </p:txBody>
      </p:sp>
      <p:pic>
        <p:nvPicPr>
          <p:cNvPr id="4" name="Image 0" descr="/mnt/user-data/uploads/proj tasks/Final Project/figures/fig6_cox_one_year.png"/>
          <p:cNvPicPr>
            <a:picLocks noChangeAspect="1"/>
          </p:cNvPicPr>
          <p:nvPr/>
        </p:nvPicPr>
        <p:blipFill>
          <a:blip r:embed="rId3"/>
          <a:stretch>
            <a:fillRect/>
          </a:stretch>
        </p:blipFill>
        <p:spPr>
          <a:xfrm>
            <a:off x="566928" y="1170432"/>
            <a:ext cx="11057839" cy="2713342"/>
          </a:xfrm>
          <a:prstGeom prst="rect">
            <a:avLst/>
          </a:prstGeom>
        </p:spPr>
      </p:pic>
      <p:sp>
        <p:nvSpPr>
          <p:cNvPr id="6" name="Text 3"/>
          <p:cNvSpPr txBox="1"/>
          <p:nvPr/>
        </p:nvSpPr>
        <p:spPr>
          <a:xfrm>
            <a:off x="566927" y="4196590"/>
            <a:ext cx="11057839" cy="329184"/>
          </a:xfrm>
          <a:prstGeom prst="rect">
            <a:avLst/>
          </a:prstGeom>
          <a:noFill/>
          <a:ln/>
        </p:spPr>
        <p:txBody>
          <a:bodyPr wrap="square" lIns="0" tIns="0" rIns="0" bIns="0" rtlCol="0" anchor="ctr"/>
          <a:lstStyle/>
          <a:p>
            <a:pPr marL="0" indent="0">
              <a:buNone/>
            </a:pPr>
            <a:r>
              <a:rPr lang="en-US" sz="2000" b="1" dirty="0">
                <a:solidFill>
                  <a:srgbClr val="1A4E8A"/>
                </a:solidFill>
                <a:latin typeface="Calibri" pitchFamily="34" charset="0"/>
                <a:ea typeface="Calibri" pitchFamily="34" charset="-122"/>
                <a:cs typeface="Calibri" pitchFamily="34" charset="-120"/>
              </a:rPr>
              <a:t>They agree over the IQR, where most patients lie — and disagree mainly in the sparse tails</a:t>
            </a:r>
            <a:endParaRPr lang="en-US" sz="2000" dirty="0"/>
          </a:p>
        </p:txBody>
      </p:sp>
      <p:sp>
        <p:nvSpPr>
          <p:cNvPr id="7" name="Text 4"/>
          <p:cNvSpPr txBox="1"/>
          <p:nvPr/>
        </p:nvSpPr>
        <p:spPr>
          <a:xfrm>
            <a:off x="566928" y="4893774"/>
            <a:ext cx="5120640" cy="256032"/>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Drop over the IQR — age: all four rank it first</a:t>
            </a:r>
            <a:endParaRPr lang="en-US" sz="1800" dirty="0"/>
          </a:p>
        </p:txBody>
      </p:sp>
      <p:sp>
        <p:nvSpPr>
          <p:cNvPr id="8" name="Text 5"/>
          <p:cNvSpPr txBox="1"/>
          <p:nvPr/>
        </p:nvSpPr>
        <p:spPr>
          <a:xfrm>
            <a:off x="566928" y="5340000"/>
            <a:ext cx="5700000" cy="560000"/>
          </a:xfrm>
          <a:prstGeom prst="rect">
            <a:avLst/>
          </a:prstGeom>
          <a:noFill/>
          <a:ln/>
        </p:spPr>
        <p:txBody>
          <a:bodyPr wrap="square" lIns="0" tIns="0" rIns="0" bIns="0" rtlCol="0" anchor="ctr"/>
          <a:lstStyle/>
          <a:p>
            <a:pPr marL="0" indent="0">
              <a:buNone/>
            </a:pPr>
            <a:r>
              <a:rPr lang="en-US" sz="1600" dirty="0">
                <a:solidFill>
                  <a:srgbClr val="3A3A3A"/>
                </a:solidFill>
                <a:latin typeface="Calibri" pitchFamily="34" charset="0"/>
                <a:ea typeface="Calibri" pitchFamily="34" charset="-122"/>
                <a:cs typeface="Calibri" pitchFamily="34" charset="-120"/>
              </a:rPr>
              <a:t>Cox 0.110  ·  RSF 0.118  ·  DeepSurv 0.105  ·  Cox-Time 0.114</a:t>
            </a:r>
            <a:endParaRPr lang="en-US" sz="1600" dirty="0"/>
          </a:p>
        </p:txBody>
      </p:sp>
      <p:sp>
        <p:nvSpPr>
          <p:cNvPr id="9" name="Text 6"/>
          <p:cNvSpPr txBox="1"/>
          <p:nvPr/>
        </p:nvSpPr>
        <p:spPr>
          <a:xfrm>
            <a:off x="6327648" y="4893774"/>
            <a:ext cx="5303520" cy="256032"/>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Top of the BUN grid — models diverge most</a:t>
            </a:r>
            <a:endParaRPr lang="en-US" sz="1800" dirty="0"/>
          </a:p>
        </p:txBody>
      </p:sp>
      <p:sp>
        <p:nvSpPr>
          <p:cNvPr id="10" name="Text 7"/>
          <p:cNvSpPr txBox="1"/>
          <p:nvPr/>
        </p:nvSpPr>
        <p:spPr>
          <a:xfrm>
            <a:off x="6327648" y="5340000"/>
            <a:ext cx="5303520" cy="560000"/>
          </a:xfrm>
          <a:prstGeom prst="rect">
            <a:avLst/>
          </a:prstGeom>
          <a:noFill/>
          <a:ln/>
        </p:spPr>
        <p:txBody>
          <a:bodyPr wrap="square" lIns="0" tIns="0" rIns="0" bIns="0" rtlCol="0" anchor="ctr"/>
          <a:lstStyle/>
          <a:p>
            <a:pPr marL="0" indent="0">
              <a:buNone/>
            </a:pPr>
            <a:r>
              <a:rPr lang="en-US" sz="1600" dirty="0">
                <a:solidFill>
                  <a:srgbClr val="3A3A3A"/>
                </a:solidFill>
                <a:latin typeface="Calibri" pitchFamily="34" charset="0"/>
                <a:ea typeface="Calibri" pitchFamily="34" charset="-122"/>
                <a:cs typeface="Calibri" pitchFamily="34" charset="-120"/>
              </a:rPr>
              <a:t>Cox 0.298  ·  Cox-Time 0.389  ·  DeepSurv 0.465  ·  RSF 0.719</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Test-set model comparison (RQ1)</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11</a:t>
            </a:r>
            <a:endParaRPr lang="en-US" sz="1000" dirty="0"/>
          </a:p>
        </p:txBody>
      </p:sp>
      <p:sp>
        <p:nvSpPr>
          <p:cNvPr id="4" name="Text 2"/>
          <p:cNvSpPr txBox="1"/>
          <p:nvPr/>
        </p:nvSpPr>
        <p:spPr>
          <a:xfrm>
            <a:off x="566928" y="1170432"/>
            <a:ext cx="11057839" cy="329184"/>
          </a:xfrm>
          <a:prstGeom prst="rect">
            <a:avLst/>
          </a:prstGeom>
          <a:noFill/>
          <a:ln/>
        </p:spPr>
        <p:txBody>
          <a:bodyPr wrap="square" lIns="0" tIns="0" rIns="0" bIns="0" rtlCol="0" anchor="ctr"/>
          <a:lstStyle/>
          <a:p>
            <a:pPr marL="0" indent="0">
              <a:buNone/>
            </a:pPr>
            <a:r>
              <a:rPr lang="en-US" sz="2000" b="1" dirty="0">
                <a:solidFill>
                  <a:srgbClr val="1A4E8A"/>
                </a:solidFill>
                <a:latin typeface="Calibri" pitchFamily="34" charset="0"/>
                <a:ea typeface="Calibri" pitchFamily="34" charset="-122"/>
                <a:cs typeface="Calibri" pitchFamily="34" charset="-120"/>
              </a:rPr>
              <a:t>793 test patients, used once </a:t>
            </a:r>
            <a:r>
              <a:rPr lang="en-US" b="1" dirty="0">
                <a:solidFill>
                  <a:srgbClr val="1A4E8A"/>
                </a:solidFill>
                <a:latin typeface="Calibri" pitchFamily="34" charset="0"/>
                <a:ea typeface="Calibri" pitchFamily="34" charset="-122"/>
                <a:cs typeface="Calibri" pitchFamily="34" charset="-120"/>
              </a:rPr>
              <a:t>|</a:t>
            </a:r>
            <a:r>
              <a:rPr lang="en-US" sz="2000" b="1" dirty="0">
                <a:solidFill>
                  <a:srgbClr val="1A4E8A"/>
                </a:solidFill>
                <a:latin typeface="Calibri" pitchFamily="34" charset="0"/>
                <a:ea typeface="Calibri" pitchFamily="34" charset="-122"/>
                <a:cs typeface="Calibri" pitchFamily="34" charset="-120"/>
              </a:rPr>
              <a:t> no model is meaningfully better than Cox</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227666690"/>
              </p:ext>
            </p:extLst>
          </p:nvPr>
        </p:nvGraphicFramePr>
        <p:xfrm>
          <a:off x="566928" y="1645920"/>
          <a:ext cx="11057839" cy="2279440"/>
        </p:xfrm>
        <a:graphic>
          <a:graphicData uri="http://schemas.openxmlformats.org/drawingml/2006/table">
            <a:tbl>
              <a:tblPr/>
              <a:tblGrid>
                <a:gridCol w="1534015">
                  <a:extLst>
                    <a:ext uri="{9D8B030D-6E8A-4147-A177-3AD203B41FA5}">
                      <a16:colId xmlns:a16="http://schemas.microsoft.com/office/drawing/2014/main" val="20000"/>
                    </a:ext>
                  </a:extLst>
                </a:gridCol>
                <a:gridCol w="3174608">
                  <a:extLst>
                    <a:ext uri="{9D8B030D-6E8A-4147-A177-3AD203B41FA5}">
                      <a16:colId xmlns:a16="http://schemas.microsoft.com/office/drawing/2014/main" val="20001"/>
                    </a:ext>
                  </a:extLst>
                </a:gridCol>
                <a:gridCol w="3174608">
                  <a:extLst>
                    <a:ext uri="{9D8B030D-6E8A-4147-A177-3AD203B41FA5}">
                      <a16:colId xmlns:a16="http://schemas.microsoft.com/office/drawing/2014/main" val="20002"/>
                    </a:ext>
                  </a:extLst>
                </a:gridCol>
                <a:gridCol w="3174608">
                  <a:extLst>
                    <a:ext uri="{9D8B030D-6E8A-4147-A177-3AD203B41FA5}">
                      <a16:colId xmlns:a16="http://schemas.microsoft.com/office/drawing/2014/main" val="20003"/>
                    </a:ext>
                  </a:extLst>
                </a:gridCol>
              </a:tblGrid>
              <a:tr h="420000">
                <a:tc>
                  <a:txBody>
                    <a:bodyPr/>
                    <a:lstStyle/>
                    <a:p>
                      <a:pPr marL="0" indent="0" algn="l">
                        <a:buNone/>
                      </a:pPr>
                      <a:r>
                        <a:rPr lang="en-US" sz="2000" b="1" dirty="0">
                          <a:solidFill>
                            <a:srgbClr val="1A1A1A"/>
                          </a:solidFill>
                          <a:latin typeface="Calibri" pitchFamily="34" charset="0"/>
                          <a:ea typeface="Calibri" pitchFamily="34" charset="0"/>
                          <a:cs typeface="Calibri" pitchFamily="34" charset="0"/>
                        </a:rPr>
                        <a:t>Model</a:t>
                      </a: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2000" b="1" dirty="0">
                          <a:solidFill>
                            <a:srgbClr val="1A1A1A"/>
                          </a:solidFill>
                          <a:latin typeface="Calibri" pitchFamily="34" charset="0"/>
                          <a:ea typeface="Calibri" pitchFamily="34" charset="0"/>
                          <a:cs typeface="Calibri" pitchFamily="34" charset="0"/>
                        </a:rPr>
                        <a:t>Uno's C, τ = 12 mo</a:t>
                      </a:r>
                    </a:p>
                    <a:p>
                      <a:pPr marL="0" indent="0" algn="ctr">
                        <a:buNone/>
                      </a:pPr>
                      <a:r>
                        <a:rPr lang="en-US" sz="1600" dirty="0">
                          <a:solidFill>
                            <a:srgbClr val="767676"/>
                          </a:solidFill>
                          <a:latin typeface="Calibri" pitchFamily="34" charset="0"/>
                          <a:ea typeface="Calibri" pitchFamily="34" charset="0"/>
                          <a:cs typeface="Calibri" pitchFamily="34" charset="0"/>
                        </a:rPr>
                        <a:t>ranks patients correctly</a:t>
                      </a: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2000" b="1" dirty="0">
                          <a:solidFill>
                            <a:srgbClr val="1A1A1A"/>
                          </a:solidFill>
                          <a:latin typeface="Calibri" pitchFamily="34" charset="0"/>
                          <a:ea typeface="Calibri" pitchFamily="34" charset="0"/>
                          <a:cs typeface="Calibri" pitchFamily="34" charset="0"/>
                        </a:rPr>
                        <a:t>IBS, 0–12 mo</a:t>
                      </a:r>
                    </a:p>
                    <a:p>
                      <a:pPr marL="0" indent="0" algn="ctr">
                        <a:buNone/>
                      </a:pPr>
                      <a:r>
                        <a:rPr lang="en-US" sz="1600" dirty="0">
                          <a:solidFill>
                            <a:srgbClr val="767676"/>
                          </a:solidFill>
                          <a:latin typeface="Calibri" pitchFamily="34" charset="0"/>
                          <a:ea typeface="Calibri" pitchFamily="34" charset="0"/>
                          <a:cs typeface="Calibri" pitchFamily="34" charset="0"/>
                        </a:rPr>
                        <a:t>squared error over the year</a:t>
                      </a: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2000" b="1" dirty="0">
                          <a:solidFill>
                            <a:srgbClr val="1A1A1A"/>
                          </a:solidFill>
                          <a:latin typeface="Calibri" pitchFamily="34" charset="0"/>
                          <a:ea typeface="Calibri" pitchFamily="34" charset="0"/>
                          <a:cs typeface="Calibri" pitchFamily="34" charset="0"/>
                        </a:rPr>
                        <a:t>Mean |obs − pred|</a:t>
                      </a:r>
                    </a:p>
                    <a:p>
                      <a:pPr marL="0" indent="0" algn="ctr">
                        <a:buNone/>
                      </a:pPr>
                      <a:r>
                        <a:rPr lang="en-US" sz="1600" dirty="0">
                          <a:solidFill>
                            <a:srgbClr val="767676"/>
                          </a:solidFill>
                          <a:latin typeface="Calibri" pitchFamily="34" charset="0"/>
                          <a:ea typeface="Calibri" pitchFamily="34" charset="0"/>
                          <a:cs typeface="Calibri" pitchFamily="34" charset="0"/>
                        </a:rPr>
                        <a:t>decile calibration gap</a:t>
                      </a: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42000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Cox</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0.6959</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0.1150</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b="1" dirty="0">
                          <a:solidFill>
                            <a:srgbClr val="3A3A3A"/>
                          </a:solidFill>
                          <a:latin typeface="Calibri" pitchFamily="34" charset="0"/>
                          <a:ea typeface="Calibri" pitchFamily="34" charset="-122"/>
                          <a:cs typeface="Calibri" pitchFamily="34" charset="-120"/>
                        </a:rPr>
                        <a:t>0.0367</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42000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RSF</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0.6805</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0.1169</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0.0385</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42000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DeepSurv</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0.6909</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0.1153</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0.0420</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42000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Cox-Time</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b="1" dirty="0">
                          <a:solidFill>
                            <a:srgbClr val="3A3A3A"/>
                          </a:solidFill>
                          <a:latin typeface="Calibri" pitchFamily="34" charset="0"/>
                          <a:ea typeface="Calibri" pitchFamily="34" charset="-122"/>
                          <a:cs typeface="Calibri" pitchFamily="34" charset="-120"/>
                        </a:rPr>
                        <a:t>0.6967</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b="1" dirty="0">
                          <a:solidFill>
                            <a:srgbClr val="3A3A3A"/>
                          </a:solidFill>
                          <a:latin typeface="Calibri" pitchFamily="34" charset="0"/>
                          <a:ea typeface="Calibri" pitchFamily="34" charset="-122"/>
                          <a:cs typeface="Calibri" pitchFamily="34" charset="-120"/>
                        </a:rPr>
                        <a:t>0.1142</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0.0422</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 name="Honesty line"/>
          <p:cNvSpPr txBox="1"/>
          <p:nvPr/>
        </p:nvSpPr>
        <p:spPr>
          <a:xfrm>
            <a:off x="566928" y="4030000"/>
            <a:ext cx="11057839" cy="500000"/>
          </a:xfrm>
          <a:prstGeom prst="rect">
            <a:avLst/>
          </a:prstGeom>
          <a:noFill/>
          <a:ln/>
        </p:spPr>
        <p:txBody>
          <a:bodyPr wrap="square" lIns="0" tIns="0" rIns="0" bIns="0" rtlCol="0" anchor="t"/>
          <a:lstStyle/>
          <a:p>
            <a:pPr marL="0" indent="0" algn="l">
              <a:buNone/>
            </a:pPr>
            <a:r>
              <a:rPr lang="en-US" b="1" dirty="0">
                <a:solidFill>
                  <a:srgbClr val="1A4E8A"/>
                </a:solidFill>
                <a:latin typeface="Calibri" pitchFamily="34" charset="0"/>
                <a:ea typeface="Calibri" pitchFamily="34" charset="-122"/>
                <a:cs typeface="Calibri" pitchFamily="34" charset="-120"/>
              </a:rPr>
              <a:t>Cox-Time beats Cox by 0.0008 on both measures — with 199 one-year deaths, that is not a ranking.</a:t>
            </a:r>
          </a:p>
        </p:txBody>
      </p:sp>
      <p:sp>
        <p:nvSpPr>
          <p:cNvPr id="21" name="Support lines"/>
          <p:cNvSpPr txBox="1"/>
          <p:nvPr/>
        </p:nvSpPr>
        <p:spPr>
          <a:xfrm>
            <a:off x="566928" y="4550000"/>
            <a:ext cx="11057839" cy="800000"/>
          </a:xfrm>
          <a:prstGeom prst="rect">
            <a:avLst/>
          </a:prstGeom>
          <a:noFill/>
          <a:ln/>
        </p:spPr>
        <p:txBody>
          <a:bodyPr wrap="square" lIns="0" tIns="0" rIns="0" bIns="0" rtlCol="0" anchor="t"/>
          <a:lstStyle/>
          <a:p>
            <a:pPr marL="0" indent="0" algn="l">
              <a:lnSpc>
                <a:spcPct val="150000"/>
              </a:lnSpc>
              <a:buNone/>
            </a:pPr>
            <a:r>
              <a:rPr lang="en-US" sz="1800" dirty="0">
                <a:solidFill>
                  <a:srgbClr val="3A3A3A"/>
                </a:solidFill>
                <a:latin typeface="Calibri" pitchFamily="34" charset="0"/>
                <a:ea typeface="Calibri" pitchFamily="34" charset="-122"/>
                <a:cs typeface="Calibri" pitchFamily="34" charset="-120"/>
              </a:rPr>
              <a:t>Cox, DeepSurv and Cox-Time are essentially equivalent; only the forest trails consistently.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Do the models flag the same patients?</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12</a:t>
            </a:r>
            <a:endParaRPr lang="en-US" sz="1000" dirty="0"/>
          </a:p>
        </p:txBody>
      </p:sp>
      <p:sp>
        <p:nvSpPr>
          <p:cNvPr id="4" name="Text 2"/>
          <p:cNvSpPr txBox="1"/>
          <p:nvPr/>
        </p:nvSpPr>
        <p:spPr>
          <a:xfrm>
            <a:off x="566928" y="1024128"/>
            <a:ext cx="11057839" cy="329184"/>
          </a:xfrm>
          <a:prstGeom prst="rect">
            <a:avLst/>
          </a:prstGeom>
          <a:noFill/>
          <a:ln/>
        </p:spPr>
        <p:txBody>
          <a:bodyPr wrap="square" lIns="0" tIns="0" rIns="0" bIns="0" rtlCol="0" anchor="ctr"/>
          <a:lstStyle/>
          <a:p>
            <a:pPr marL="0" indent="0">
              <a:buNone/>
            </a:pPr>
            <a:r>
              <a:rPr lang="en-US" sz="1900" b="1" dirty="0">
                <a:solidFill>
                  <a:srgbClr val="1A4E8A"/>
                </a:solidFill>
                <a:latin typeface="Calibri" pitchFamily="34" charset="0"/>
                <a:ea typeface="Calibri" pitchFamily="34" charset="-122"/>
                <a:cs typeface="Calibri" pitchFamily="34" charset="-120"/>
              </a:rPr>
              <a:t>Equal C-indices could hide different rankings. They mostly do not.</a:t>
            </a:r>
            <a:endParaRPr lang="en-US" sz="1900" dirty="0"/>
          </a:p>
        </p:txBody>
      </p:sp>
      <p:pic>
        <p:nvPicPr>
          <p:cNvPr id="5" name="Image 0" descr="/mnt/user-data/uploads/proj tasks/Final Project/figures/fig3_km_age_bun.png"/>
          <p:cNvPicPr>
            <a:picLocks noChangeAspect="1"/>
          </p:cNvPicPr>
          <p:nvPr/>
        </p:nvPicPr>
        <p:blipFill>
          <a:blip r:embed="rId3"/>
          <a:stretch>
            <a:fillRect/>
          </a:stretch>
        </p:blipFill>
        <p:spPr>
          <a:xfrm>
            <a:off x="566928" y="1517904"/>
            <a:ext cx="11057839" cy="4008955"/>
          </a:xfrm>
          <a:prstGeom prst="rect">
            <a:avLst/>
          </a:prstGeom>
        </p:spPr>
      </p:pic>
      <p:sp>
        <p:nvSpPr>
          <p:cNvPr id="6" name="Text 3"/>
          <p:cNvSpPr txBox="1"/>
          <p:nvPr/>
        </p:nvSpPr>
        <p:spPr>
          <a:xfrm>
            <a:off x="566928" y="5676859"/>
            <a:ext cx="11057839" cy="560000"/>
          </a:xfrm>
          <a:prstGeom prst="rect">
            <a:avLst/>
          </a:prstGeom>
          <a:noFill/>
          <a:ln/>
        </p:spPr>
        <p:txBody>
          <a:bodyPr wrap="square" lIns="0" tIns="0" rIns="0" bIns="0" rtlCol="0" anchor="ctr"/>
          <a:lstStyle/>
          <a:p>
            <a:pPr marL="0" indent="0" algn="l">
              <a:buNone/>
            </a:pPr>
            <a:r>
              <a:rPr lang="en-US" sz="1800" dirty="0">
                <a:solidFill>
                  <a:srgbClr val="767676"/>
                </a:solidFill>
                <a:latin typeface="Calibri" pitchFamily="34" charset="0"/>
                <a:ea typeface="Calibri" pitchFamily="34" charset="-122"/>
                <a:cs typeface="Calibri" pitchFamily="34" charset="-120"/>
              </a:rPr>
              <a:t>Cox, DeepSurv and Cox-Time: Spearman ≥ 0.976, sharing ~88% of the top-risk quintile</a:t>
            </a:r>
          </a:p>
          <a:p>
            <a:pPr marL="0" indent="0" algn="l">
              <a:buNone/>
            </a:pPr>
            <a:r>
              <a:rPr lang="en-US" sz="1800" dirty="0">
                <a:solidFill>
                  <a:srgbClr val="767676"/>
                </a:solidFill>
                <a:latin typeface="Calibri" pitchFamily="34" charset="0"/>
                <a:ea typeface="Calibri" pitchFamily="34" charset="-122"/>
                <a:cs typeface="Calibri" pitchFamily="34" charset="-120"/>
              </a:rPr>
              <a:t>Cox ↔ RSF: Spearman 0.884, sharing 71%  ·  Cox tertiles 0.89/0.78/0.55  ·  RSF compresses mid &amp; high to &lt;0.08 apart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Performance in clinically meaningful subgroups</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13</a:t>
            </a:r>
            <a:endParaRPr lang="en-US" sz="1000" dirty="0"/>
          </a:p>
        </p:txBody>
      </p:sp>
      <p:sp>
        <p:nvSpPr>
          <p:cNvPr id="4" name="Text 2"/>
          <p:cNvSpPr txBox="1"/>
          <p:nvPr/>
        </p:nvSpPr>
        <p:spPr>
          <a:xfrm>
            <a:off x="566928" y="1170432"/>
            <a:ext cx="11057839" cy="329184"/>
          </a:xfrm>
          <a:prstGeom prst="rect">
            <a:avLst/>
          </a:prstGeom>
          <a:noFill/>
          <a:ln/>
        </p:spPr>
        <p:txBody>
          <a:bodyPr wrap="square" lIns="0" tIns="0" rIns="0" bIns="0" rtlCol="0" anchor="ctr"/>
          <a:lstStyle/>
          <a:p>
            <a:pPr marL="0" indent="0">
              <a:buNone/>
            </a:pPr>
            <a:r>
              <a:rPr lang="en-US" sz="2000" b="1" dirty="0">
                <a:solidFill>
                  <a:srgbClr val="1A4E8A"/>
                </a:solidFill>
                <a:latin typeface="Calibri" pitchFamily="34" charset="0"/>
                <a:ea typeface="Calibri" pitchFamily="34" charset="-122"/>
                <a:cs typeface="Calibri" pitchFamily="34" charset="-120"/>
              </a:rPr>
              <a:t>Split where the models disagreed most; the ranking barely moves (Uno's C)</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3494414170"/>
              </p:ext>
            </p:extLst>
          </p:nvPr>
        </p:nvGraphicFramePr>
        <p:xfrm>
          <a:off x="566928" y="1796143"/>
          <a:ext cx="10547387" cy="2114440"/>
        </p:xfrm>
        <a:graphic>
          <a:graphicData uri="http://schemas.openxmlformats.org/drawingml/2006/table">
            <a:tbl>
              <a:tblPr/>
              <a:tblGrid>
                <a:gridCol w="1919233">
                  <a:extLst>
                    <a:ext uri="{9D8B030D-6E8A-4147-A177-3AD203B41FA5}">
                      <a16:colId xmlns:a16="http://schemas.microsoft.com/office/drawing/2014/main" val="20000"/>
                    </a:ext>
                  </a:extLst>
                </a:gridCol>
                <a:gridCol w="1725631">
                  <a:extLst>
                    <a:ext uri="{9D8B030D-6E8A-4147-A177-3AD203B41FA5}">
                      <a16:colId xmlns:a16="http://schemas.microsoft.com/office/drawing/2014/main" val="3536607976"/>
                    </a:ext>
                  </a:extLst>
                </a:gridCol>
                <a:gridCol w="1725631">
                  <a:extLst>
                    <a:ext uri="{9D8B030D-6E8A-4147-A177-3AD203B41FA5}">
                      <a16:colId xmlns:a16="http://schemas.microsoft.com/office/drawing/2014/main" val="20001"/>
                    </a:ext>
                  </a:extLst>
                </a:gridCol>
                <a:gridCol w="1725631">
                  <a:extLst>
                    <a:ext uri="{9D8B030D-6E8A-4147-A177-3AD203B41FA5}">
                      <a16:colId xmlns:a16="http://schemas.microsoft.com/office/drawing/2014/main" val="20002"/>
                    </a:ext>
                  </a:extLst>
                </a:gridCol>
                <a:gridCol w="1725631">
                  <a:extLst>
                    <a:ext uri="{9D8B030D-6E8A-4147-A177-3AD203B41FA5}">
                      <a16:colId xmlns:a16="http://schemas.microsoft.com/office/drawing/2014/main" val="20003"/>
                    </a:ext>
                  </a:extLst>
                </a:gridCol>
                <a:gridCol w="1725630">
                  <a:extLst>
                    <a:ext uri="{9D8B030D-6E8A-4147-A177-3AD203B41FA5}">
                      <a16:colId xmlns:a16="http://schemas.microsoft.com/office/drawing/2014/main" val="20004"/>
                    </a:ext>
                  </a:extLst>
                </a:gridCol>
              </a:tblGrid>
              <a:tr h="301995">
                <a:tc>
                  <a:txBody>
                    <a:bodyPr/>
                    <a:lstStyle/>
                    <a:p>
                      <a:pPr marL="0" indent="0" algn="l">
                        <a:buNone/>
                      </a:pPr>
                      <a:r>
                        <a:rPr lang="en-US" sz="1800" b="1" dirty="0">
                          <a:solidFill>
                            <a:srgbClr val="1A1A1A"/>
                          </a:solidFill>
                          <a:latin typeface="Calibri" pitchFamily="34" charset="0"/>
                          <a:ea typeface="Calibri" pitchFamily="34" charset="-122"/>
                          <a:cs typeface="Calibri" pitchFamily="34" charset="-120"/>
                        </a:rPr>
                        <a:t>Subgroup</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1A1A1A"/>
                          </a:solidFill>
                          <a:latin typeface="Calibri" pitchFamily="34" charset="0"/>
                          <a:ea typeface="Calibri" pitchFamily="34" charset="-122"/>
                          <a:cs typeface="Calibri" pitchFamily="34" charset="-120"/>
                        </a:rPr>
                        <a:t>n (deaths)</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800" b="1" dirty="0">
                          <a:solidFill>
                            <a:srgbClr val="1A1A1A"/>
                          </a:solidFill>
                          <a:latin typeface="Calibri" pitchFamily="34" charset="0"/>
                          <a:ea typeface="Calibri" pitchFamily="34" charset="-122"/>
                          <a:cs typeface="Calibri" pitchFamily="34" charset="-120"/>
                        </a:rPr>
                        <a:t>Cox</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800" b="1" dirty="0">
                          <a:solidFill>
                            <a:srgbClr val="1A1A1A"/>
                          </a:solidFill>
                          <a:latin typeface="Calibri" pitchFamily="34" charset="0"/>
                          <a:ea typeface="Calibri" pitchFamily="34" charset="-122"/>
                          <a:cs typeface="Calibri" pitchFamily="34" charset="-120"/>
                        </a:rPr>
                        <a:t>RSF</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800" b="1" dirty="0">
                          <a:solidFill>
                            <a:srgbClr val="1A1A1A"/>
                          </a:solidFill>
                          <a:latin typeface="Calibri" pitchFamily="34" charset="0"/>
                          <a:ea typeface="Calibri" pitchFamily="34" charset="-122"/>
                          <a:cs typeface="Calibri" pitchFamily="34" charset="-120"/>
                        </a:rPr>
                        <a:t>DeepSurv</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800" b="1" dirty="0">
                          <a:solidFill>
                            <a:srgbClr val="1A1A1A"/>
                          </a:solidFill>
                          <a:latin typeface="Calibri" pitchFamily="34" charset="0"/>
                          <a:ea typeface="Calibri" pitchFamily="34" charset="-122"/>
                          <a:cs typeface="Calibri" pitchFamily="34" charset="-120"/>
                        </a:rPr>
                        <a:t>Cox-Time</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44733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BUN ≤ 28 mg/dL</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430 (81)</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b="1" dirty="0">
                          <a:solidFill>
                            <a:srgbClr val="3A3A3A"/>
                          </a:solidFill>
                          <a:latin typeface="Calibri" pitchFamily="34" charset="0"/>
                          <a:ea typeface="Calibri" pitchFamily="34" charset="-122"/>
                          <a:cs typeface="Calibri" pitchFamily="34" charset="-120"/>
                        </a:rPr>
                        <a:t>0.7140</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0.6946</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0.7018</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0.7079</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44733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BUN &gt; 28 mg/dL</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363 (118)</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b="1" dirty="0">
                          <a:solidFill>
                            <a:srgbClr val="3A3A3A"/>
                          </a:solidFill>
                          <a:latin typeface="Calibri" pitchFamily="34" charset="0"/>
                          <a:ea typeface="Calibri" pitchFamily="34" charset="-122"/>
                          <a:cs typeface="Calibri" pitchFamily="34" charset="-120"/>
                        </a:rPr>
                        <a:t>0.6361</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0.6173</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0.6346</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0.6349</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44733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Age ≤ 76 years</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406 (62)</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0.6663</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b="1" dirty="0">
                          <a:solidFill>
                            <a:srgbClr val="3A3A3A"/>
                          </a:solidFill>
                          <a:latin typeface="Calibri" pitchFamily="34" charset="0"/>
                          <a:ea typeface="Calibri" pitchFamily="34" charset="-122"/>
                          <a:cs typeface="Calibri" pitchFamily="34" charset="-120"/>
                        </a:rPr>
                        <a:t>0.7010</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0.6785</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0.6815</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44733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Age &gt; 76 years</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1A1A1A"/>
                          </a:solidFill>
                          <a:latin typeface="Calibri" pitchFamily="34" charset="0"/>
                          <a:ea typeface="Calibri" pitchFamily="34" charset="-122"/>
                          <a:cs typeface="Calibri" pitchFamily="34" charset="-120"/>
                        </a:rPr>
                        <a:t>387 (137)</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0.6172</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0.5800</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dirty="0">
                          <a:solidFill>
                            <a:srgbClr val="3A3A3A"/>
                          </a:solidFill>
                          <a:latin typeface="Calibri" pitchFamily="34" charset="0"/>
                          <a:ea typeface="Calibri" pitchFamily="34" charset="-122"/>
                          <a:cs typeface="Calibri" pitchFamily="34" charset="-120"/>
                        </a:rPr>
                        <a:t>0.6085</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800" b="1" dirty="0">
                          <a:solidFill>
                            <a:srgbClr val="3A3A3A"/>
                          </a:solidFill>
                          <a:latin typeface="Calibri" pitchFamily="34" charset="0"/>
                          <a:ea typeface="Calibri" pitchFamily="34" charset="-122"/>
                          <a:cs typeface="Calibri" pitchFamily="34" charset="-120"/>
                        </a:rPr>
                        <a:t>0.6203</a:t>
                      </a:r>
                      <a:endParaRPr lang="en-US" sz="18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 name="Notes"/>
          <p:cNvSpPr txBox="1"/>
          <p:nvPr/>
        </p:nvSpPr>
        <p:spPr>
          <a:xfrm>
            <a:off x="566927" y="3887457"/>
            <a:ext cx="11057839" cy="900000"/>
          </a:xfrm>
          <a:prstGeom prst="rect">
            <a:avLst/>
          </a:prstGeom>
          <a:noFill/>
          <a:ln/>
        </p:spPr>
        <p:txBody>
          <a:bodyPr wrap="square" lIns="0" tIns="0" rIns="0" bIns="0" rtlCol="0" anchor="t"/>
          <a:lstStyle/>
          <a:p>
            <a:pPr marL="0" indent="0" algn="l">
              <a:lnSpc>
                <a:spcPct val="150000"/>
              </a:lnSpc>
              <a:buNone/>
            </a:pPr>
            <a:r>
              <a:rPr lang="en-US" sz="1800" dirty="0">
                <a:solidFill>
                  <a:srgbClr val="3A3A3A"/>
                </a:solidFill>
                <a:latin typeface="Calibri" pitchFamily="34" charset="0"/>
                <a:ea typeface="Calibri" pitchFamily="34" charset="-122"/>
                <a:cs typeface="Calibri" pitchFamily="34" charset="-120"/>
              </a:rPr>
              <a:t>The only reversal is RSF among the younger group (62 deaths) — likely noise.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Two pre-specified interactions (RQ3)</a:t>
            </a:r>
            <a:endParaRPr lang="en-US" sz="3000" dirty="0"/>
          </a:p>
        </p:txBody>
      </p:sp>
      <p:sp>
        <p:nvSpPr>
          <p:cNvPr id="3" name="Text 1"/>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000" dirty="0">
                <a:solidFill>
                  <a:srgbClr val="AFAFAF"/>
                </a:solidFill>
                <a:latin typeface="Calibri" pitchFamily="34" charset="0"/>
                <a:ea typeface="Calibri" pitchFamily="34" charset="-122"/>
                <a:cs typeface="Calibri" pitchFamily="34" charset="-120"/>
              </a:rPr>
              <a:t>14</a:t>
            </a:r>
            <a:endParaRPr lang="en-US" sz="1000" dirty="0"/>
          </a:p>
        </p:txBody>
      </p:sp>
      <p:sp>
        <p:nvSpPr>
          <p:cNvPr id="4" name="Text 2"/>
          <p:cNvSpPr txBox="1"/>
          <p:nvPr/>
        </p:nvSpPr>
        <p:spPr>
          <a:xfrm>
            <a:off x="566928" y="1170432"/>
            <a:ext cx="11057839" cy="329184"/>
          </a:xfrm>
          <a:prstGeom prst="rect">
            <a:avLst/>
          </a:prstGeom>
          <a:noFill/>
          <a:ln/>
        </p:spPr>
        <p:txBody>
          <a:bodyPr wrap="square" lIns="0" tIns="0" rIns="0" bIns="0" rtlCol="0" anchor="ctr"/>
          <a:lstStyle/>
          <a:p>
            <a:pPr marL="0" indent="0">
              <a:buNone/>
            </a:pPr>
            <a:r>
              <a:rPr lang="en-US" sz="1800" b="1" dirty="0">
                <a:solidFill>
                  <a:srgbClr val="1A4E8A"/>
                </a:solidFill>
                <a:latin typeface="Calibri" pitchFamily="34" charset="0"/>
                <a:ea typeface="Calibri" pitchFamily="34" charset="-122"/>
                <a:cs typeface="Calibri" pitchFamily="34" charset="-120"/>
              </a:rPr>
              <a:t>One is statistically significant. Neither improves prediction.</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2346205147"/>
              </p:ext>
            </p:extLst>
          </p:nvPr>
        </p:nvGraphicFramePr>
        <p:xfrm>
          <a:off x="566928" y="1645920"/>
          <a:ext cx="11057839" cy="1066800"/>
        </p:xfrm>
        <a:graphic>
          <a:graphicData uri="http://schemas.openxmlformats.org/drawingml/2006/table">
            <a:tbl>
              <a:tblPr/>
              <a:tblGrid>
                <a:gridCol w="320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gridCol w="2200000">
                  <a:extLst>
                    <a:ext uri="{9D8B030D-6E8A-4147-A177-3AD203B41FA5}">
                      <a16:colId xmlns:a16="http://schemas.microsoft.com/office/drawing/2014/main" val="20002"/>
                    </a:ext>
                  </a:extLst>
                </a:gridCol>
                <a:gridCol w="1600000">
                  <a:extLst>
                    <a:ext uri="{9D8B030D-6E8A-4147-A177-3AD203B41FA5}">
                      <a16:colId xmlns:a16="http://schemas.microsoft.com/office/drawing/2014/main" val="20003"/>
                    </a:ext>
                  </a:extLst>
                </a:gridCol>
                <a:gridCol w="2457839">
                  <a:extLst>
                    <a:ext uri="{9D8B030D-6E8A-4147-A177-3AD203B41FA5}">
                      <a16:colId xmlns:a16="http://schemas.microsoft.com/office/drawing/2014/main" val="20004"/>
                    </a:ext>
                  </a:extLst>
                </a:gridCol>
              </a:tblGrid>
              <a:tr h="340000">
                <a:tc>
                  <a:txBody>
                    <a:bodyPr/>
                    <a:lstStyle/>
                    <a:p>
                      <a:pPr marL="0" indent="0" algn="l">
                        <a:buNone/>
                      </a:pPr>
                      <a:r>
                        <a:rPr lang="en-US" sz="2000" b="1" dirty="0">
                          <a:solidFill>
                            <a:srgbClr val="1A1A1A"/>
                          </a:solidFill>
                          <a:latin typeface="Calibri" pitchFamily="34" charset="0"/>
                          <a:ea typeface="Calibri" pitchFamily="34" charset="-122"/>
                          <a:cs typeface="Calibri" pitchFamily="34" charset="-120"/>
                        </a:rPr>
                        <a:t>Interaction</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2000" b="1" dirty="0">
                          <a:solidFill>
                            <a:srgbClr val="1A1A1A"/>
                          </a:solidFill>
                          <a:latin typeface="Calibri" pitchFamily="34" charset="0"/>
                          <a:ea typeface="Calibri" pitchFamily="34" charset="-122"/>
                          <a:cs typeface="Calibri" pitchFamily="34" charset="-120"/>
                        </a:rPr>
                        <a:t>HR</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2000" b="1" dirty="0">
                          <a:solidFill>
                            <a:srgbClr val="1A1A1A"/>
                          </a:solidFill>
                          <a:latin typeface="Calibri" pitchFamily="34" charset="0"/>
                          <a:ea typeface="Calibri" pitchFamily="34" charset="-122"/>
                          <a:cs typeface="Calibri" pitchFamily="34" charset="-120"/>
                        </a:rPr>
                        <a:t>LR stat (1 df)</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2000" b="1" dirty="0">
                          <a:solidFill>
                            <a:srgbClr val="1A1A1A"/>
                          </a:solidFill>
                          <a:latin typeface="Calibri" pitchFamily="34" charset="0"/>
                          <a:ea typeface="Calibri" pitchFamily="34" charset="-122"/>
                          <a:cs typeface="Calibri" pitchFamily="34" charset="-120"/>
                        </a:rPr>
                        <a:t>p</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2000" b="1" dirty="0">
                          <a:solidFill>
                            <a:srgbClr val="1A1A1A"/>
                          </a:solidFill>
                          <a:latin typeface="Calibri" pitchFamily="34" charset="0"/>
                          <a:ea typeface="Calibri" pitchFamily="34" charset="-122"/>
                          <a:cs typeface="Calibri" pitchFamily="34" charset="-120"/>
                        </a:rPr>
                        <a:t>vs. threshold 0.025</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4000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ΔBUN × BUN, discharge</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1.0001</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5.85</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0.016</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b="1" dirty="0">
                          <a:solidFill>
                            <a:srgbClr val="1A4E8A"/>
                          </a:solidFill>
                          <a:latin typeface="Calibri" pitchFamily="34" charset="0"/>
                          <a:ea typeface="Calibri" pitchFamily="34" charset="-122"/>
                          <a:cs typeface="Calibri" pitchFamily="34" charset="-120"/>
                        </a:rPr>
                        <a:t>significant</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4000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Age × BUN, discharge</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1.0001</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0.29</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0.592</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2000" dirty="0">
                          <a:solidFill>
                            <a:srgbClr val="3A3A3A"/>
                          </a:solidFill>
                          <a:latin typeface="Calibri" pitchFamily="34" charset="0"/>
                          <a:ea typeface="Calibri" pitchFamily="34" charset="-122"/>
                          <a:cs typeface="Calibri" pitchFamily="34" charset="-120"/>
                        </a:rPr>
                        <a:t>no evidence</a:t>
                      </a:r>
                      <a:endParaRPr lang="en-US" sz="20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30" name="Image interactions"/>
          <p:cNvPicPr>
            <a:picLocks noChangeAspect="1"/>
          </p:cNvPicPr>
          <p:nvPr/>
        </p:nvPicPr>
        <p:blipFill>
          <a:blip r:embed="rId3"/>
          <a:stretch>
            <a:fillRect/>
          </a:stretch>
        </p:blipFill>
        <p:spPr>
          <a:xfrm>
            <a:off x="3780847" y="2820000"/>
            <a:ext cx="4630000" cy="3360000"/>
          </a:xfrm>
          <a:prstGeom prst="rect">
            <a:avLst/>
          </a:prstGeom>
        </p:spPr>
      </p:pic>
      <p:sp>
        <p:nvSpPr>
          <p:cNvPr id="20" name="Performance line"/>
          <p:cNvSpPr txBox="1"/>
          <p:nvPr/>
        </p:nvSpPr>
        <p:spPr>
          <a:xfrm>
            <a:off x="566928" y="6330000"/>
            <a:ext cx="11057839" cy="400000"/>
          </a:xfrm>
          <a:prstGeom prst="rect">
            <a:avLst/>
          </a:prstGeom>
          <a:noFill/>
          <a:ln/>
        </p:spPr>
        <p:txBody>
          <a:bodyPr wrap="square" lIns="0" tIns="0" rIns="0" bIns="0" rtlCol="0" anchor="t"/>
          <a:lstStyle/>
          <a:p>
            <a:pPr marL="0" indent="0" algn="l">
              <a:lnSpc>
                <a:spcPct val="130000"/>
              </a:lnSpc>
              <a:buNone/>
            </a:pPr>
            <a:r>
              <a:rPr lang="en-US" sz="1500" b="1" dirty="0">
                <a:solidFill>
                  <a:srgbClr val="1A4E8A"/>
                </a:solidFill>
                <a:latin typeface="Calibri" pitchFamily="34" charset="0"/>
                <a:ea typeface="Calibri" pitchFamily="34" charset="-122"/>
                <a:cs typeface="Calibri" pitchFamily="34" charset="-120"/>
              </a:rPr>
              <a:t>Statistically detectable, not predictively useful: </a:t>
            </a:r>
            <a:r>
              <a:rPr lang="en-US" sz="1500" dirty="0">
                <a:solidFill>
                  <a:srgbClr val="3A3A3A"/>
                </a:solidFill>
                <a:latin typeface="Calibri" pitchFamily="34" charset="0"/>
                <a:ea typeface="Calibri" pitchFamily="34" charset="-122"/>
                <a:cs typeface="Calibri" pitchFamily="34" charset="-120"/>
              </a:rPr>
              <a:t>adding it gives test C 0.6933 vs 0.6959, IBS 0.1152 vs 0.1150.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81C36A-F1B1-44BC-6D18-688B7D4E73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4B6545-B7A1-85CC-E0AA-B296508CA065}"/>
              </a:ext>
            </a:extLst>
          </p:cNvPr>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600" b="1" dirty="0">
                <a:solidFill>
                  <a:srgbClr val="1A1A1A"/>
                </a:solidFill>
                <a:latin typeface="Calibri" pitchFamily="34" charset="0"/>
                <a:ea typeface="Calibri" pitchFamily="34" charset="-122"/>
                <a:cs typeface="Calibri" pitchFamily="34" charset="-120"/>
              </a:rPr>
              <a:t>Conclusions</a:t>
            </a:r>
            <a:endParaRPr lang="en-US" sz="3600" dirty="0"/>
          </a:p>
        </p:txBody>
      </p:sp>
      <p:sp>
        <p:nvSpPr>
          <p:cNvPr id="3" name="Text 1">
            <a:extLst>
              <a:ext uri="{FF2B5EF4-FFF2-40B4-BE49-F238E27FC236}">
                <a16:creationId xmlns:a16="http://schemas.microsoft.com/office/drawing/2014/main" id="{F8795825-5313-094C-823F-A1C51F819FC4}"/>
              </a:ext>
            </a:extLst>
          </p:cNvPr>
          <p:cNvSpPr txBox="1"/>
          <p:nvPr/>
        </p:nvSpPr>
        <p:spPr>
          <a:xfrm>
            <a:off x="10893247" y="6263640"/>
            <a:ext cx="731520" cy="274320"/>
          </a:xfrm>
          <a:prstGeom prst="rect">
            <a:avLst/>
          </a:prstGeom>
          <a:noFill/>
          <a:ln/>
        </p:spPr>
        <p:txBody>
          <a:bodyPr wrap="square" lIns="0" tIns="0" rIns="0" bIns="0" rtlCol="0" anchor="ctr"/>
          <a:lstStyle/>
          <a:p>
            <a:pPr marL="0" indent="0" algn="r">
              <a:buNone/>
            </a:pPr>
            <a:r>
              <a:rPr lang="en-US" sz="1100" dirty="0">
                <a:solidFill>
                  <a:srgbClr val="AFAFAF"/>
                </a:solidFill>
                <a:latin typeface="Calibri" pitchFamily="34" charset="0"/>
                <a:ea typeface="Calibri" pitchFamily="34" charset="-122"/>
                <a:cs typeface="Calibri" pitchFamily="34" charset="-120"/>
              </a:rPr>
              <a:t>15</a:t>
            </a:r>
            <a:endParaRPr lang="en-US" sz="1100" dirty="0"/>
          </a:p>
        </p:txBody>
      </p:sp>
      <p:sp>
        <p:nvSpPr>
          <p:cNvPr id="5" name="Text 3">
            <a:extLst>
              <a:ext uri="{FF2B5EF4-FFF2-40B4-BE49-F238E27FC236}">
                <a16:creationId xmlns:a16="http://schemas.microsoft.com/office/drawing/2014/main" id="{4CA84493-860E-BC80-855F-8F1CCD4182FF}"/>
              </a:ext>
            </a:extLst>
          </p:cNvPr>
          <p:cNvSpPr txBox="1"/>
          <p:nvPr/>
        </p:nvSpPr>
        <p:spPr>
          <a:xfrm>
            <a:off x="566928" y="1250000"/>
            <a:ext cx="566928" cy="457200"/>
          </a:xfrm>
          <a:prstGeom prst="rect">
            <a:avLst/>
          </a:prstGeom>
          <a:noFill/>
          <a:ln/>
        </p:spPr>
        <p:txBody>
          <a:bodyPr wrap="square" lIns="0" tIns="0" rIns="0" bIns="0" rtlCol="0" anchor="t"/>
          <a:lstStyle/>
          <a:p>
            <a:pPr marL="0" indent="0" algn="l">
              <a:buNone/>
            </a:pPr>
            <a:r>
              <a:rPr lang="en-US" sz="3600" b="1" dirty="0">
                <a:solidFill>
                  <a:srgbClr val="1A4E8A"/>
                </a:solidFill>
                <a:latin typeface="Calibri" pitchFamily="34" charset="0"/>
                <a:ea typeface="Calibri" pitchFamily="34" charset="-122"/>
                <a:cs typeface="Calibri" pitchFamily="34" charset="-120"/>
              </a:rPr>
              <a:t>1</a:t>
            </a:r>
            <a:endParaRPr lang="en-US" sz="3600" dirty="0"/>
          </a:p>
        </p:txBody>
      </p:sp>
      <p:sp>
        <p:nvSpPr>
          <p:cNvPr id="6" name="Text 4">
            <a:extLst>
              <a:ext uri="{FF2B5EF4-FFF2-40B4-BE49-F238E27FC236}">
                <a16:creationId xmlns:a16="http://schemas.microsoft.com/office/drawing/2014/main" id="{B3155DE5-D761-25F6-183B-84FB9AC4B4F1}"/>
              </a:ext>
            </a:extLst>
          </p:cNvPr>
          <p:cNvSpPr txBox="1"/>
          <p:nvPr/>
        </p:nvSpPr>
        <p:spPr>
          <a:xfrm>
            <a:off x="1207008" y="1314008"/>
            <a:ext cx="10417759" cy="640080"/>
          </a:xfrm>
          <a:prstGeom prst="rect">
            <a:avLst/>
          </a:prstGeom>
          <a:noFill/>
          <a:ln/>
        </p:spPr>
        <p:txBody>
          <a:bodyPr wrap="square" lIns="0" tIns="0" rIns="0" bIns="0" rtlCol="0" anchor="t"/>
          <a:lstStyle/>
          <a:p>
            <a:pPr marL="0" indent="0">
              <a:buNone/>
            </a:pPr>
            <a:r>
              <a:rPr lang="en-US" sz="2400" dirty="0">
                <a:solidFill>
                  <a:srgbClr val="1A1A1A"/>
                </a:solidFill>
                <a:latin typeface="Calibri" pitchFamily="34" charset="0"/>
                <a:ea typeface="Calibri" pitchFamily="34" charset="-122"/>
                <a:cs typeface="Calibri" pitchFamily="34" charset="-120"/>
              </a:rPr>
              <a:t>C ≈ 0.69, IBS ≈ 0.115 at one year from discharge information</a:t>
            </a:r>
            <a:endParaRPr lang="en-US" sz="2400" dirty="0"/>
          </a:p>
        </p:txBody>
      </p:sp>
      <p:sp>
        <p:nvSpPr>
          <p:cNvPr id="7" name="Text 5">
            <a:extLst>
              <a:ext uri="{FF2B5EF4-FFF2-40B4-BE49-F238E27FC236}">
                <a16:creationId xmlns:a16="http://schemas.microsoft.com/office/drawing/2014/main" id="{201F384A-058A-B470-4DAE-16F8EFE05EE6}"/>
              </a:ext>
            </a:extLst>
          </p:cNvPr>
          <p:cNvSpPr txBox="1"/>
          <p:nvPr/>
        </p:nvSpPr>
        <p:spPr>
          <a:xfrm>
            <a:off x="1207008" y="1789496"/>
            <a:ext cx="10417759" cy="274320"/>
          </a:xfrm>
          <a:prstGeom prst="rect">
            <a:avLst/>
          </a:prstGeom>
          <a:noFill/>
          <a:ln/>
        </p:spPr>
        <p:txBody>
          <a:bodyPr wrap="square" lIns="0" tIns="0" rIns="0" bIns="0" rtlCol="0" anchor="ctr"/>
          <a:lstStyle/>
          <a:p>
            <a:pPr marL="0" indent="0">
              <a:buNone/>
            </a:pPr>
            <a:r>
              <a:rPr lang="en-US" sz="1700" i="1" dirty="0">
                <a:solidFill>
                  <a:srgbClr val="767676"/>
                </a:solidFill>
                <a:latin typeface="Calibri" pitchFamily="34" charset="0"/>
                <a:ea typeface="Calibri" pitchFamily="34" charset="-122"/>
                <a:cs typeface="Calibri" pitchFamily="34" charset="-120"/>
              </a:rPr>
              <a:t>No flexible model improves on Cox; the forest is the only one consistently worse</a:t>
            </a:r>
            <a:endParaRPr lang="en-US" sz="1700" dirty="0"/>
          </a:p>
        </p:txBody>
      </p:sp>
      <p:sp>
        <p:nvSpPr>
          <p:cNvPr id="8" name="Text 6">
            <a:extLst>
              <a:ext uri="{FF2B5EF4-FFF2-40B4-BE49-F238E27FC236}">
                <a16:creationId xmlns:a16="http://schemas.microsoft.com/office/drawing/2014/main" id="{F34F3D32-98E2-F487-B94B-029AD1A82009}"/>
              </a:ext>
            </a:extLst>
          </p:cNvPr>
          <p:cNvSpPr txBox="1"/>
          <p:nvPr/>
        </p:nvSpPr>
        <p:spPr>
          <a:xfrm>
            <a:off x="566928" y="2400000"/>
            <a:ext cx="566928" cy="457200"/>
          </a:xfrm>
          <a:prstGeom prst="rect">
            <a:avLst/>
          </a:prstGeom>
          <a:noFill/>
          <a:ln/>
        </p:spPr>
        <p:txBody>
          <a:bodyPr wrap="square" lIns="0" tIns="0" rIns="0" bIns="0" rtlCol="0" anchor="t"/>
          <a:lstStyle/>
          <a:p>
            <a:pPr marL="0" indent="0" algn="l">
              <a:buNone/>
            </a:pPr>
            <a:r>
              <a:rPr lang="en-US" sz="3600" b="1" dirty="0">
                <a:solidFill>
                  <a:srgbClr val="1A4E8A"/>
                </a:solidFill>
                <a:latin typeface="Calibri" pitchFamily="34" charset="0"/>
                <a:ea typeface="Calibri" pitchFamily="34" charset="-122"/>
                <a:cs typeface="Calibri" pitchFamily="34" charset="-120"/>
              </a:rPr>
              <a:t>2</a:t>
            </a:r>
            <a:endParaRPr lang="en-US" sz="3600" dirty="0"/>
          </a:p>
        </p:txBody>
      </p:sp>
      <p:sp>
        <p:nvSpPr>
          <p:cNvPr id="9" name="Text 7">
            <a:extLst>
              <a:ext uri="{FF2B5EF4-FFF2-40B4-BE49-F238E27FC236}">
                <a16:creationId xmlns:a16="http://schemas.microsoft.com/office/drawing/2014/main" id="{A940FC37-50FE-9921-D3CF-78F944C22C89}"/>
              </a:ext>
            </a:extLst>
          </p:cNvPr>
          <p:cNvSpPr txBox="1"/>
          <p:nvPr/>
        </p:nvSpPr>
        <p:spPr>
          <a:xfrm>
            <a:off x="1207008" y="2464008"/>
            <a:ext cx="10417759" cy="640080"/>
          </a:xfrm>
          <a:prstGeom prst="rect">
            <a:avLst/>
          </a:prstGeom>
          <a:noFill/>
          <a:ln/>
        </p:spPr>
        <p:txBody>
          <a:bodyPr wrap="square" lIns="0" tIns="0" rIns="0" bIns="0" rtlCol="0" anchor="t"/>
          <a:lstStyle/>
          <a:p>
            <a:pPr marL="0" indent="0">
              <a:buNone/>
            </a:pPr>
            <a:r>
              <a:rPr lang="en-US" sz="2400" dirty="0">
                <a:solidFill>
                  <a:srgbClr val="1A1A1A"/>
                </a:solidFill>
                <a:latin typeface="Calibri" pitchFamily="34" charset="0"/>
                <a:ea typeface="Calibri" pitchFamily="34" charset="-122"/>
                <a:cs typeface="Calibri" pitchFamily="34" charset="-120"/>
              </a:rPr>
              <a:t>None, detectably</a:t>
            </a:r>
            <a:endParaRPr lang="en-US" sz="2400" dirty="0"/>
          </a:p>
        </p:txBody>
      </p:sp>
      <p:sp>
        <p:nvSpPr>
          <p:cNvPr id="10" name="Text 8">
            <a:extLst>
              <a:ext uri="{FF2B5EF4-FFF2-40B4-BE49-F238E27FC236}">
                <a16:creationId xmlns:a16="http://schemas.microsoft.com/office/drawing/2014/main" id="{172F484B-4239-9395-4383-04FB0B335EDB}"/>
              </a:ext>
            </a:extLst>
          </p:cNvPr>
          <p:cNvSpPr txBox="1"/>
          <p:nvPr/>
        </p:nvSpPr>
        <p:spPr>
          <a:xfrm>
            <a:off x="1207008" y="3010000"/>
            <a:ext cx="10417759" cy="420000"/>
          </a:xfrm>
          <a:prstGeom prst="rect">
            <a:avLst/>
          </a:prstGeom>
          <a:noFill/>
          <a:ln/>
        </p:spPr>
        <p:txBody>
          <a:bodyPr wrap="square" lIns="0" tIns="0" rIns="0" bIns="0" rtlCol="0" anchor="ctr"/>
          <a:lstStyle/>
          <a:p>
            <a:pPr marL="0" indent="0">
              <a:buNone/>
            </a:pPr>
            <a:r>
              <a:rPr lang="en-US" sz="1700" i="1" dirty="0">
                <a:solidFill>
                  <a:srgbClr val="767676"/>
                </a:solidFill>
                <a:latin typeface="Calibri" pitchFamily="34" charset="0"/>
                <a:ea typeface="Calibri" pitchFamily="34" charset="-122"/>
                <a:cs typeface="Calibri" pitchFamily="34" charset="-120"/>
              </a:rPr>
              <a:t>DeepSurv and Cox-Time match Cox on predictions and on individual patients (ρ ≥ 0.976); disagreement is confined to sparse tails</a:t>
            </a:r>
            <a:endParaRPr lang="en-US" sz="1700" dirty="0"/>
          </a:p>
        </p:txBody>
      </p:sp>
      <p:sp>
        <p:nvSpPr>
          <p:cNvPr id="11" name="Text 9">
            <a:extLst>
              <a:ext uri="{FF2B5EF4-FFF2-40B4-BE49-F238E27FC236}">
                <a16:creationId xmlns:a16="http://schemas.microsoft.com/office/drawing/2014/main" id="{18391D3A-AB5E-F2FE-4E03-D294832D8B83}"/>
              </a:ext>
            </a:extLst>
          </p:cNvPr>
          <p:cNvSpPr txBox="1"/>
          <p:nvPr/>
        </p:nvSpPr>
        <p:spPr>
          <a:xfrm>
            <a:off x="566928" y="3550000"/>
            <a:ext cx="566928" cy="457200"/>
          </a:xfrm>
          <a:prstGeom prst="rect">
            <a:avLst/>
          </a:prstGeom>
          <a:noFill/>
          <a:ln/>
        </p:spPr>
        <p:txBody>
          <a:bodyPr wrap="square" lIns="0" tIns="0" rIns="0" bIns="0" rtlCol="0" anchor="t"/>
          <a:lstStyle/>
          <a:p>
            <a:pPr marL="0" indent="0" algn="l">
              <a:buNone/>
            </a:pPr>
            <a:r>
              <a:rPr lang="en-US" sz="3600" b="1" dirty="0">
                <a:solidFill>
                  <a:srgbClr val="1A4E8A"/>
                </a:solidFill>
                <a:latin typeface="Calibri" pitchFamily="34" charset="0"/>
                <a:ea typeface="Calibri" pitchFamily="34" charset="-122"/>
                <a:cs typeface="Calibri" pitchFamily="34" charset="-120"/>
              </a:rPr>
              <a:t>3</a:t>
            </a:r>
            <a:endParaRPr lang="en-US" sz="3600" dirty="0"/>
          </a:p>
        </p:txBody>
      </p:sp>
      <p:sp>
        <p:nvSpPr>
          <p:cNvPr id="12" name="Text 10">
            <a:extLst>
              <a:ext uri="{FF2B5EF4-FFF2-40B4-BE49-F238E27FC236}">
                <a16:creationId xmlns:a16="http://schemas.microsoft.com/office/drawing/2014/main" id="{CDC9824B-A9A4-FB56-D25B-3655947D1DD8}"/>
              </a:ext>
            </a:extLst>
          </p:cNvPr>
          <p:cNvSpPr txBox="1"/>
          <p:nvPr/>
        </p:nvSpPr>
        <p:spPr>
          <a:xfrm>
            <a:off x="1207008" y="3614008"/>
            <a:ext cx="10417759" cy="640080"/>
          </a:xfrm>
          <a:prstGeom prst="rect">
            <a:avLst/>
          </a:prstGeom>
          <a:noFill/>
          <a:ln/>
        </p:spPr>
        <p:txBody>
          <a:bodyPr wrap="square" lIns="0" tIns="0" rIns="0" bIns="0" rtlCol="0" anchor="t"/>
          <a:lstStyle/>
          <a:p>
            <a:pPr marL="0" indent="0">
              <a:buNone/>
            </a:pPr>
            <a:r>
              <a:rPr lang="en-US" sz="2400" dirty="0">
                <a:solidFill>
                  <a:srgbClr val="1A1A1A"/>
                </a:solidFill>
                <a:latin typeface="Calibri" pitchFamily="34" charset="0"/>
                <a:ea typeface="Calibri" pitchFamily="34" charset="-122"/>
                <a:cs typeface="Calibri" pitchFamily="34" charset="-120"/>
              </a:rPr>
              <a:t>ΔBUN × discharge BUN is significant (p = 0.016) but does not improve prediction</a:t>
            </a:r>
            <a:endParaRPr lang="en-US" sz="2400" dirty="0"/>
          </a:p>
        </p:txBody>
      </p:sp>
      <p:sp>
        <p:nvSpPr>
          <p:cNvPr id="13" name="Text 11">
            <a:extLst>
              <a:ext uri="{FF2B5EF4-FFF2-40B4-BE49-F238E27FC236}">
                <a16:creationId xmlns:a16="http://schemas.microsoft.com/office/drawing/2014/main" id="{847EB190-913E-DF71-6F99-D0CFC98BDC38}"/>
              </a:ext>
            </a:extLst>
          </p:cNvPr>
          <p:cNvSpPr txBox="1"/>
          <p:nvPr/>
        </p:nvSpPr>
        <p:spPr>
          <a:xfrm>
            <a:off x="1207008" y="4089496"/>
            <a:ext cx="10417759" cy="274320"/>
          </a:xfrm>
          <a:prstGeom prst="rect">
            <a:avLst/>
          </a:prstGeom>
          <a:noFill/>
          <a:ln/>
        </p:spPr>
        <p:txBody>
          <a:bodyPr wrap="square" lIns="0" tIns="0" rIns="0" bIns="0" rtlCol="0" anchor="ctr"/>
          <a:lstStyle/>
          <a:p>
            <a:pPr marL="0" indent="0">
              <a:buNone/>
            </a:pPr>
            <a:r>
              <a:rPr lang="en-US" sz="1700" i="1" dirty="0">
                <a:solidFill>
                  <a:srgbClr val="767676"/>
                </a:solidFill>
                <a:latin typeface="Calibri" pitchFamily="34" charset="0"/>
                <a:ea typeface="Calibri" pitchFamily="34" charset="-122"/>
                <a:cs typeface="Calibri" pitchFamily="34" charset="-120"/>
              </a:rPr>
              <a:t>Age × discharge BUN: no evidence</a:t>
            </a:r>
            <a:endParaRPr lang="en-US" sz="1700" dirty="0"/>
          </a:p>
        </p:txBody>
      </p:sp>
      <p:sp>
        <p:nvSpPr>
          <p:cNvPr id="30" name="Predictors line"/>
          <p:cNvSpPr txBox="1"/>
          <p:nvPr/>
        </p:nvSpPr>
        <p:spPr>
          <a:xfrm>
            <a:off x="566926" y="4830000"/>
            <a:ext cx="11057839" cy="400000"/>
          </a:xfrm>
          <a:prstGeom prst="rect">
            <a:avLst/>
          </a:prstGeom>
          <a:noFill/>
          <a:ln/>
        </p:spPr>
        <p:txBody>
          <a:bodyPr wrap="square" lIns="0" tIns="0" rIns="0" bIns="0" rtlCol="0" anchor="t"/>
          <a:lstStyle/>
          <a:p>
            <a:pPr marL="0" indent="0" algn="l">
              <a:buNone/>
            </a:pPr>
            <a:r>
              <a:rPr lang="en-US" sz="1700" b="1" dirty="0">
                <a:solidFill>
                  <a:srgbClr val="1A1A1A"/>
                </a:solidFill>
                <a:latin typeface="Calibri" pitchFamily="34" charset="0"/>
                <a:ea typeface="Calibri" pitchFamily="34" charset="-122"/>
                <a:cs typeface="Calibri" pitchFamily="34" charset="-120"/>
              </a:rPr>
              <a:t>Strongest predictors — </a:t>
            </a:r>
            <a:r>
              <a:rPr lang="en-US" sz="1700" dirty="0">
                <a:solidFill>
                  <a:srgbClr val="3A3A3A"/>
                </a:solidFill>
                <a:latin typeface="Calibri" pitchFamily="34" charset="0"/>
                <a:ea typeface="Calibri" pitchFamily="34" charset="-122"/>
                <a:cs typeface="Calibri" pitchFamily="34" charset="-120"/>
              </a:rPr>
              <a:t>age (largest over the IQR, ~2× BUN, ~3× RDW), discharge BUN, RDW, BNP, length of stay ↑ hazard; sodium and ΔBUN ↓ hazard</a:t>
            </a:r>
          </a:p>
        </p:txBody>
      </p:sp>
      <p:sp>
        <p:nvSpPr>
          <p:cNvPr id="31" name="Limitations"/>
          <p:cNvSpPr txBox="1"/>
          <p:nvPr/>
        </p:nvSpPr>
        <p:spPr>
          <a:xfrm>
            <a:off x="566927" y="5800000"/>
            <a:ext cx="11057839" cy="760000"/>
          </a:xfrm>
          <a:prstGeom prst="rect">
            <a:avLst/>
          </a:prstGeom>
          <a:noFill/>
          <a:ln/>
        </p:spPr>
        <p:txBody>
          <a:bodyPr wrap="square" lIns="0" tIns="0" rIns="0" bIns="0" rtlCol="0" anchor="t"/>
          <a:lstStyle/>
          <a:p>
            <a:pPr marL="0" indent="0" algn="l">
              <a:lnSpc>
                <a:spcPct val="130000"/>
              </a:lnSpc>
              <a:buNone/>
            </a:pPr>
            <a:r>
              <a:rPr lang="en-US" sz="1700" b="1" dirty="0">
                <a:solidFill>
                  <a:srgbClr val="767676"/>
                </a:solidFill>
                <a:latin typeface="Calibri" pitchFamily="34" charset="0"/>
                <a:ea typeface="Calibri" pitchFamily="34" charset="-122"/>
                <a:cs typeface="Calibri" pitchFamily="34" charset="-120"/>
              </a:rPr>
              <a:t>Limitations — </a:t>
            </a:r>
            <a:r>
              <a:rPr lang="en-US" sz="1700" dirty="0">
                <a:solidFill>
                  <a:srgbClr val="767676"/>
                </a:solidFill>
                <a:latin typeface="Calibri" pitchFamily="34" charset="0"/>
                <a:ea typeface="Calibri" pitchFamily="34" charset="-122"/>
                <a:cs typeface="Calibri" pitchFamily="34" charset="-120"/>
              </a:rPr>
              <a:t>synthetic data  ·  one 80/20 split at one seed  ·  one-year horizon only  ·  199 one-year test deaths limit resolution  ·  IPCW assumes censoring independent of survival given covariates  ·  no external validation</a:t>
            </a:r>
          </a:p>
        </p:txBody>
      </p:sp>
    </p:spTree>
    <p:extLst>
      <p:ext uri="{BB962C8B-B14F-4D97-AF65-F5344CB8AC3E}">
        <p14:creationId xmlns:p14="http://schemas.microsoft.com/office/powerpoint/2010/main" val="2360089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Covariate summary</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sp>
        <p:nvSpPr>
          <p:cNvPr id="4" name="Text 2"/>
          <p:cNvSpPr txBox="1"/>
          <p:nvPr/>
        </p:nvSpPr>
        <p:spPr>
          <a:xfrm>
            <a:off x="566928" y="1097280"/>
            <a:ext cx="11057839"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All 3,961 patients. Continuous: median [Q1, Q3]. Binary: n (%).</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5166360" cy="3127248"/>
        </p:xfrm>
        <a:graphic>
          <a:graphicData uri="http://schemas.openxmlformats.org/drawingml/2006/table">
            <a:tbl>
              <a:tblPr/>
              <a:tblGrid>
                <a:gridCol w="2971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6060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Demographics &amp; comorbidities</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50" b="1" dirty="0">
                          <a:solidFill>
                            <a:srgbClr val="1A1A1A"/>
                          </a:solidFill>
                          <a:latin typeface="Calibri" pitchFamily="34" charset="0"/>
                          <a:ea typeface="Calibri" pitchFamily="34" charset="-122"/>
                          <a:cs typeface="Calibri" pitchFamily="34" charset="-120"/>
                        </a:rPr>
                        <a:t>Summary</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Age (years)</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76.2 [66.9, 83.2]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Female sex</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1,842 (46.5%)</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Diabetes</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2,147 (54.2%)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Hypertension</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3,432 (86.6%)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COPD</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405 (10.2%)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Peripheral vascular disease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367 (9.3%)</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Chronic kidney disease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805 (20.3%)</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Ischaemic heart disease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2,484 (62.7%)</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Atrial fibrillation</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1,608 (40.6%)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Valvular heart disease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981 (24.8%)</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0"/>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Pulmonary hypertension</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737 (18.6%)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446520" y="1481328"/>
          <a:ext cx="5166360" cy="3909060"/>
        </p:xfrm>
        <a:graphic>
          <a:graphicData uri="http://schemas.openxmlformats.org/drawingml/2006/table">
            <a:tbl>
              <a:tblPr/>
              <a:tblGrid>
                <a:gridCol w="3063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26060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Laboratory values &amp; stay</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50" b="1" dirty="0">
                          <a:solidFill>
                            <a:srgbClr val="1A1A1A"/>
                          </a:solidFill>
                          <a:latin typeface="Calibri" pitchFamily="34" charset="0"/>
                          <a:ea typeface="Calibri" pitchFamily="34" charset="-122"/>
                          <a:cs typeface="Calibri" pitchFamily="34" charset="-120"/>
                        </a:rPr>
                        <a:t>Summary</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BNP, admission (pg/mL)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778 [734, 832]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BUN, admission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25.0 [19.0, 37.0]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Creatinine, admission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1.23 [0.95, 1.70]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GFR, admission</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49.8 [34.6, 67.6]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BUN, discharge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28.0 [22.0, 39.0]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Creatinine, discharge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1.23 [1.00, 1.56]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GFR, discharge</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50.4 [34.8, 67.6]</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White blood cells (1000/µL)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8.92 [7.00, 11.42]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Sodium (mEq/L)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138 [135, 140]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RDW (%)</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15.3 [14.5, 16.1]</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0"/>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Platelets (1000/µL)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225 [180, 280]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1"/>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Bilirubin (mg/dL)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0.60 [0.50, 0.72]</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2"/>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Potassium (mEq/L)</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4.30 [3.90, 4.60]</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3"/>
                  </a:ext>
                </a:extLst>
              </a:tr>
              <a:tr h="26060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Length of stay (days)</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50" dirty="0">
                          <a:solidFill>
                            <a:srgbClr val="3A3A3A"/>
                          </a:solidFill>
                          <a:latin typeface="Calibri" pitchFamily="34" charset="0"/>
                          <a:ea typeface="Calibri" pitchFamily="34" charset="-122"/>
                          <a:cs typeface="Calibri" pitchFamily="34" charset="-120"/>
                        </a:rPr>
                        <a:t>5.13 [3.08, 8.34]</a:t>
                      </a:r>
                      <a:endParaRPr lang="en-US" sz="11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PA1: sex and diabetes</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mnt/user-data/uploads/proj tasks/Final Project/figures/fig2_km_stratified.png"/>
          <p:cNvPicPr>
            <a:picLocks noChangeAspect="1"/>
          </p:cNvPicPr>
          <p:nvPr/>
        </p:nvPicPr>
        <p:blipFill>
          <a:blip r:embed="rId3"/>
          <a:stretch>
            <a:fillRect/>
          </a:stretch>
        </p:blipFill>
        <p:spPr>
          <a:xfrm>
            <a:off x="566928" y="1417320"/>
            <a:ext cx="11057839" cy="4012278"/>
          </a:xfrm>
          <a:prstGeom prst="rect">
            <a:avLst/>
          </a:prstGeom>
        </p:spPr>
      </p:pic>
      <p:sp>
        <p:nvSpPr>
          <p:cNvPr id="5" name="Text 2"/>
          <p:cNvSpPr txBox="1"/>
          <p:nvPr/>
        </p:nvSpPr>
        <p:spPr>
          <a:xfrm>
            <a:off x="566928" y="5612478"/>
            <a:ext cx="11057839" cy="274320"/>
          </a:xfrm>
          <a:prstGeom prst="rect">
            <a:avLst/>
          </a:prstGeom>
          <a:noFill/>
          <a:ln/>
        </p:spPr>
        <p:txBody>
          <a:bodyPr wrap="square" lIns="0" tIns="0" rIns="0" bIns="0" rtlCol="0" anchor="ctr"/>
          <a:lstStyle/>
          <a:p>
            <a:pPr marL="0" indent="0" algn="l">
              <a:buNone/>
            </a:pPr>
            <a:r>
              <a:rPr lang="en-US" sz="1600" dirty="0">
                <a:solidFill>
                  <a:srgbClr val="767676"/>
                </a:solidFill>
                <a:latin typeface="Calibri" pitchFamily="34" charset="0"/>
                <a:ea typeface="Calibri" pitchFamily="34" charset="-122"/>
                <a:cs typeface="Calibri" pitchFamily="34" charset="-120"/>
              </a:rPr>
              <a:t>One-year survival 0.770 against 0.733 by sex, and 0.740 against 0.764 by diabetes. Neither separates the cohort.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Refitted Cox model — all sixteen terms</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4585716"/>
        </p:xfrm>
        <a:graphic>
          <a:graphicData uri="http://schemas.openxmlformats.org/drawingml/2006/table">
            <a:tbl>
              <a:tblPr/>
              <a:tblGrid>
                <a:gridCol w="2645359">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1691640">
                  <a:extLst>
                    <a:ext uri="{9D8B030D-6E8A-4147-A177-3AD203B41FA5}">
                      <a16:colId xmlns:a16="http://schemas.microsoft.com/office/drawing/2014/main" val="20005"/>
                    </a:ext>
                  </a:extLst>
                </a:gridCol>
              </a:tblGrid>
              <a:tr h="269748">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Covariate</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HR (train)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95% CI (train)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p (train)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HR (full)</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r">
                        <a:buNone/>
                      </a:pPr>
                      <a:r>
                        <a:rPr lang="en-US" sz="1100" b="1" dirty="0">
                          <a:solidFill>
                            <a:srgbClr val="1A1A1A"/>
                          </a:solidFill>
                          <a:latin typeface="Calibri" pitchFamily="34" charset="0"/>
                          <a:ea typeface="Calibri" pitchFamily="34" charset="-122"/>
                          <a:cs typeface="Calibri" pitchFamily="34" charset="-120"/>
                        </a:rPr>
                        <a:t>p (full)</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Age (years)</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1.0447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1.0384 – 1.0511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1.0438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BUN, discharge</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1.0238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1.0197 – 1.0279</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1.0213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RDW</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1.1295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1.0963 – 1.1638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1.1204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ΔBUN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0.9900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0.9861 – 0.9940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0.9903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BNP</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1.0001 – 1.0002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Sodium</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0.9726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0.9611 – 0.9843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0.9728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Length of stay</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1.0083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1.0020 – 1.0146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0.010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1.0094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Bilirubin</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1.0988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0.9738 – 1.2400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0.126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1.1208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0.037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Potassium</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0.9196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0.8376 – 1.0096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0.078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0.9141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0.038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Platelets</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0.9998 – 1.0012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0.147</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0.100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0"/>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Creatinine, discharge</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0.9172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0.8345 – 1.0080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0.073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0.9376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0.132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1"/>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Comorbidity burden 2–3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0.8754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0.7181 – 1.0672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0.188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0.8885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0.195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2"/>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White blood cells</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1.0001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0.9918 – 1.0085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0.976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1.0028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0.436</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3"/>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Female sex</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0.9809</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0.8720 – 1.1035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0.749</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0.9693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0.558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4"/>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GFR, discharge</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1.0014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0.9975 – 1.0053</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0.492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1.0010</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0.585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5"/>
                  </a:ext>
                </a:extLst>
              </a:tr>
              <a:tr h="269748">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Comorbidity burden 4+</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0.9835</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0.8046 – 1.2021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0.871</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0.9882</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100" dirty="0">
                          <a:solidFill>
                            <a:srgbClr val="3A3A3A"/>
                          </a:solidFill>
                          <a:latin typeface="Calibri" pitchFamily="34" charset="0"/>
                          <a:ea typeface="Calibri" pitchFamily="34" charset="-122"/>
                          <a:cs typeface="Calibri" pitchFamily="34" charset="-120"/>
                        </a:rPr>
                        <a:t>0.898</a:t>
                      </a:r>
                      <a:endParaRPr lang="en-US" sz="11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Scaled Schoenfeld residuals — training fit  (1 of 2)</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tmp/claude-0/-home-claude/7d42a986-200d-5c8f-b8d4-b6d3f2fe4180/scratchpad/schoen_top.png"/>
          <p:cNvPicPr>
            <a:picLocks noChangeAspect="1"/>
          </p:cNvPicPr>
          <p:nvPr/>
        </p:nvPicPr>
        <p:blipFill>
          <a:blip r:embed="rId3"/>
          <a:stretch>
            <a:fillRect/>
          </a:stretch>
        </p:blipFill>
        <p:spPr>
          <a:xfrm>
            <a:off x="566928" y="1389888"/>
            <a:ext cx="11057839" cy="4031147"/>
          </a:xfrm>
          <a:prstGeom prst="rect">
            <a:avLst/>
          </a:prstGeom>
        </p:spPr>
      </p:pic>
      <p:sp>
        <p:nvSpPr>
          <p:cNvPr id="5" name="Text 2"/>
          <p:cNvSpPr txBox="1"/>
          <p:nvPr/>
        </p:nvSpPr>
        <p:spPr>
          <a:xfrm>
            <a:off x="566928" y="5567339"/>
            <a:ext cx="11057839"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Lowess smoother in red. The comorbidity panels band because the variable enters as dummy indicators — coding, not a violation.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Scaled Schoenfeld residuals — training fit  (2 of 2)</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tmp/claude-0/-home-claude/7d42a986-200d-5c8f-b8d4-b6d3f2fe4180/scratchpad/schoen_bottom.png"/>
          <p:cNvPicPr>
            <a:picLocks noChangeAspect="1"/>
          </p:cNvPicPr>
          <p:nvPr/>
        </p:nvPicPr>
        <p:blipFill>
          <a:blip r:embed="rId3"/>
          <a:stretch>
            <a:fillRect/>
          </a:stretch>
        </p:blipFill>
        <p:spPr>
          <a:xfrm>
            <a:off x="566928" y="1389888"/>
            <a:ext cx="11057839" cy="4110721"/>
          </a:xfrm>
          <a:prstGeom prst="rect">
            <a:avLst/>
          </a:prstGeom>
        </p:spPr>
      </p:pic>
      <p:sp>
        <p:nvSpPr>
          <p:cNvPr id="5" name="Text 2"/>
          <p:cNvSpPr txBox="1"/>
          <p:nvPr/>
        </p:nvSpPr>
        <p:spPr>
          <a:xfrm>
            <a:off x="566928" y="5646913"/>
            <a:ext cx="11057839" cy="274320"/>
          </a:xfrm>
          <a:prstGeom prst="rect">
            <a:avLst/>
          </a:prstGeom>
          <a:noFill/>
          <a:ln/>
        </p:spPr>
        <p:txBody>
          <a:bodyPr wrap="square" lIns="0" tIns="0" rIns="0" bIns="0" rtlCol="0" anchor="ctr"/>
          <a:lstStyle/>
          <a:p>
            <a:pPr marL="0" indent="0" algn="l">
              <a:buNone/>
            </a:pPr>
            <a:r>
              <a:rPr lang="en-US" sz="1200" dirty="0">
                <a:solidFill>
                  <a:srgbClr val="767676"/>
                </a:solidFill>
                <a:latin typeface="Calibri" pitchFamily="34" charset="0"/>
                <a:ea typeface="Calibri" pitchFamily="34" charset="-122"/>
                <a:cs typeface="Calibri" pitchFamily="34" charset="-120"/>
              </a:rPr>
              <a:t>Panel titles are the raw model terms; delta_BUN is ΔBUN and C(cat_comorbidities) the comorbidity burden dummies.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Calibration on the test set</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mnt/user-data/uploads/proj tasks/Final Project/figures/fig2_km_stratified.png"/>
          <p:cNvPicPr>
            <a:picLocks noChangeAspect="1"/>
          </p:cNvPicPr>
          <p:nvPr/>
        </p:nvPicPr>
        <p:blipFill>
          <a:blip r:embed="rId3"/>
          <a:stretch>
            <a:fillRect/>
          </a:stretch>
        </p:blipFill>
        <p:spPr>
          <a:xfrm>
            <a:off x="566928" y="1417320"/>
            <a:ext cx="11057839" cy="2763052"/>
          </a:xfrm>
          <a:prstGeom prst="rect">
            <a:avLst/>
          </a:prstGeom>
        </p:spPr>
      </p:pic>
      <p:sp>
        <p:nvSpPr>
          <p:cNvPr id="5" name="Text 2"/>
          <p:cNvSpPr txBox="1"/>
          <p:nvPr/>
        </p:nvSpPr>
        <p:spPr>
          <a:xfrm>
            <a:off x="566928" y="4360372"/>
            <a:ext cx="11057839" cy="274320"/>
          </a:xfrm>
          <a:prstGeom prst="rect">
            <a:avLst/>
          </a:prstGeom>
          <a:noFill/>
          <a:ln/>
        </p:spPr>
        <p:txBody>
          <a:bodyPr wrap="square" lIns="0" tIns="0" rIns="0" bIns="0" rtlCol="0" anchor="ctr"/>
          <a:lstStyle/>
          <a:p>
            <a:pPr marL="0" indent="0" algn="l">
              <a:buNone/>
            </a:pPr>
            <a:r>
              <a:rPr lang="en-US" sz="1800" dirty="0">
                <a:solidFill>
                  <a:srgbClr val="767676"/>
                </a:solidFill>
                <a:latin typeface="Calibri" pitchFamily="34" charset="0"/>
                <a:ea typeface="Calibri" pitchFamily="34" charset="-122"/>
                <a:cs typeface="Calibri" pitchFamily="34" charset="-120"/>
              </a:rPr>
              <a:t>Each point: decile mean predicted vs. Kaplan–Meier observed one-year survival, with 95% CIs. Cox has the lowest overall calibration error; the forest’s range is narrower than the observed outcomes.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Hyperparameter selection</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085039203"/>
              </p:ext>
            </p:extLst>
          </p:nvPr>
        </p:nvGraphicFramePr>
        <p:xfrm>
          <a:off x="566928" y="1298448"/>
          <a:ext cx="11057839" cy="2100000"/>
        </p:xfrm>
        <a:graphic>
          <a:graphicData uri="http://schemas.openxmlformats.org/drawingml/2006/table">
            <a:tbl>
              <a:tblPr/>
              <a:tblGrid>
                <a:gridCol w="1900000">
                  <a:extLst>
                    <a:ext uri="{9D8B030D-6E8A-4147-A177-3AD203B41FA5}">
                      <a16:colId xmlns:a16="http://schemas.microsoft.com/office/drawing/2014/main" val="20000"/>
                    </a:ext>
                  </a:extLst>
                </a:gridCol>
                <a:gridCol w="6157839">
                  <a:extLst>
                    <a:ext uri="{9D8B030D-6E8A-4147-A177-3AD203B41FA5}">
                      <a16:colId xmlns:a16="http://schemas.microsoft.com/office/drawing/2014/main" val="20001"/>
                    </a:ext>
                  </a:extLst>
                </a:gridCol>
                <a:gridCol w="1500000">
                  <a:extLst>
                    <a:ext uri="{9D8B030D-6E8A-4147-A177-3AD203B41FA5}">
                      <a16:colId xmlns:a16="http://schemas.microsoft.com/office/drawing/2014/main" val="20002"/>
                    </a:ext>
                  </a:extLst>
                </a:gridCol>
                <a:gridCol w="1500000">
                  <a:extLst>
                    <a:ext uri="{9D8B030D-6E8A-4147-A177-3AD203B41FA5}">
                      <a16:colId xmlns:a16="http://schemas.microsoft.com/office/drawing/2014/main" val="20003"/>
                    </a:ext>
                  </a:extLst>
                </a:gridCol>
              </a:tblGrid>
              <a:tr h="420000">
                <a:tc>
                  <a:txBody>
                    <a:bodyPr/>
                    <a:lstStyle/>
                    <a:p>
                      <a:pPr marL="0" indent="0" algn="l">
                        <a:buNone/>
                      </a:pPr>
                      <a:r>
                        <a:rPr lang="en-US" sz="1900" b="1" dirty="0">
                          <a:solidFill>
                            <a:srgbClr val="1A1A1A"/>
                          </a:solidFill>
                          <a:latin typeface="Calibri" pitchFamily="34" charset="0"/>
                          <a:ea typeface="Calibri" pitchFamily="34" charset="-122"/>
                          <a:cs typeface="Calibri" pitchFamily="34" charset="-120"/>
                        </a:rPr>
                        <a:t>Model</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l">
                        <a:buNone/>
                      </a:pPr>
                      <a:r>
                        <a:rPr lang="en-US" sz="1900" b="1" dirty="0">
                          <a:solidFill>
                            <a:srgbClr val="1A1A1A"/>
                          </a:solidFill>
                          <a:latin typeface="Calibri" pitchFamily="34" charset="0"/>
                          <a:ea typeface="Calibri" pitchFamily="34" charset="-122"/>
                          <a:cs typeface="Calibri" pitchFamily="34" charset="-120"/>
                        </a:rPr>
                        <a:t>Selected configuration</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900" b="1" dirty="0">
                          <a:solidFill>
                            <a:srgbClr val="1A1A1A"/>
                          </a:solidFill>
                          <a:latin typeface="Calibri" pitchFamily="34" charset="0"/>
                          <a:ea typeface="Calibri" pitchFamily="34" charset="-122"/>
                          <a:cs typeface="Calibri" pitchFamily="34" charset="-120"/>
                        </a:rPr>
                        <a:t>CV IBS</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900" b="1" dirty="0">
                          <a:solidFill>
                            <a:srgbClr val="1A1A1A"/>
                          </a:solidFill>
                          <a:latin typeface="Calibri" pitchFamily="34" charset="0"/>
                          <a:ea typeface="Calibri" pitchFamily="34" charset="-122"/>
                          <a:cs typeface="Calibri" pitchFamily="34" charset="-120"/>
                        </a:rPr>
                        <a:t>SE</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420000">
                <a:tc>
                  <a:txBody>
                    <a:bodyPr/>
                    <a:lstStyle/>
                    <a:p>
                      <a:pPr marL="0" indent="0" algn="l">
                        <a:buNone/>
                      </a:pPr>
                      <a:r>
                        <a:rPr lang="en-US" sz="1900" dirty="0">
                          <a:solidFill>
                            <a:srgbClr val="1A1A1A"/>
                          </a:solidFill>
                          <a:latin typeface="Calibri" pitchFamily="34" charset="0"/>
                          <a:ea typeface="Calibri" pitchFamily="34" charset="-122"/>
                          <a:cs typeface="Calibri" pitchFamily="34" charset="-120"/>
                        </a:rPr>
                        <a:t>Cox (reference)</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900" dirty="0">
                          <a:solidFill>
                            <a:srgbClr val="3A3A3A"/>
                          </a:solidFill>
                          <a:latin typeface="Calibri" pitchFamily="34" charset="0"/>
                          <a:ea typeface="Calibri" pitchFamily="34" charset="-122"/>
                          <a:cs typeface="Calibri" pitchFamily="34" charset="-120"/>
                        </a:rPr>
                        <a:t>no tuning</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900" dirty="0">
                          <a:solidFill>
                            <a:srgbClr val="3A3A3A"/>
                          </a:solidFill>
                          <a:latin typeface="Calibri" pitchFamily="34" charset="0"/>
                          <a:ea typeface="Calibri" pitchFamily="34" charset="-122"/>
                          <a:cs typeface="Calibri" pitchFamily="34" charset="-120"/>
                        </a:rPr>
                        <a:t>0.1097</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900" dirty="0">
                          <a:solidFill>
                            <a:srgbClr val="3A3A3A"/>
                          </a:solidFill>
                          <a:latin typeface="Calibri" pitchFamily="34" charset="0"/>
                          <a:ea typeface="Calibri" pitchFamily="34" charset="-122"/>
                          <a:cs typeface="Calibri" pitchFamily="34" charset="-120"/>
                        </a:rPr>
                        <a:t>0.0030</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420000">
                <a:tc>
                  <a:txBody>
                    <a:bodyPr/>
                    <a:lstStyle/>
                    <a:p>
                      <a:pPr marL="0" indent="0" algn="l">
                        <a:buNone/>
                      </a:pPr>
                      <a:r>
                        <a:rPr lang="en-US" sz="1900" dirty="0">
                          <a:solidFill>
                            <a:srgbClr val="1A1A1A"/>
                          </a:solidFill>
                          <a:latin typeface="Calibri" pitchFamily="34" charset="0"/>
                          <a:ea typeface="Calibri" pitchFamily="34" charset="-122"/>
                          <a:cs typeface="Calibri" pitchFamily="34" charset="-120"/>
                        </a:rPr>
                        <a:t>RSF</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900" dirty="0">
                          <a:solidFill>
                            <a:srgbClr val="3A3A3A"/>
                          </a:solidFill>
                          <a:latin typeface="Calibri" pitchFamily="34" charset="0"/>
                          <a:ea typeface="Calibri" pitchFamily="34" charset="-122"/>
                          <a:cs typeface="Calibri" pitchFamily="34" charset="-120"/>
                        </a:rPr>
                        <a:t>500 trees, min leaf = 50, max features = 4</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900" dirty="0">
                          <a:solidFill>
                            <a:srgbClr val="3A3A3A"/>
                          </a:solidFill>
                          <a:latin typeface="Calibri" pitchFamily="34" charset="0"/>
                          <a:ea typeface="Calibri" pitchFamily="34" charset="-122"/>
                          <a:cs typeface="Calibri" pitchFamily="34" charset="-120"/>
                        </a:rPr>
                        <a:t>0.1116</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900" dirty="0">
                          <a:solidFill>
                            <a:srgbClr val="3A3A3A"/>
                          </a:solidFill>
                          <a:latin typeface="Calibri" pitchFamily="34" charset="0"/>
                          <a:ea typeface="Calibri" pitchFamily="34" charset="-122"/>
                          <a:cs typeface="Calibri" pitchFamily="34" charset="-120"/>
                        </a:rPr>
                        <a:t>0.0033</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420000">
                <a:tc>
                  <a:txBody>
                    <a:bodyPr/>
                    <a:lstStyle/>
                    <a:p>
                      <a:pPr marL="0" indent="0" algn="l">
                        <a:buNone/>
                      </a:pPr>
                      <a:r>
                        <a:rPr lang="en-US" sz="1900" dirty="0">
                          <a:solidFill>
                            <a:srgbClr val="1A1A1A"/>
                          </a:solidFill>
                          <a:latin typeface="Calibri" pitchFamily="34" charset="0"/>
                          <a:ea typeface="Calibri" pitchFamily="34" charset="-122"/>
                          <a:cs typeface="Calibri" pitchFamily="34" charset="-120"/>
                        </a:rPr>
                        <a:t>DeepSurv</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900" dirty="0">
                          <a:solidFill>
                            <a:srgbClr val="3A3A3A"/>
                          </a:solidFill>
                          <a:latin typeface="Calibri" pitchFamily="34" charset="0"/>
                          <a:ea typeface="Calibri" pitchFamily="34" charset="-122"/>
                          <a:cs typeface="Calibri" pitchFamily="34" charset="-120"/>
                        </a:rPr>
                        <a:t>hidden [16], dropout 0.4, lr 0.001, 119 epochs</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900" dirty="0">
                          <a:solidFill>
                            <a:srgbClr val="3A3A3A"/>
                          </a:solidFill>
                          <a:latin typeface="Calibri" pitchFamily="34" charset="0"/>
                          <a:ea typeface="Calibri" pitchFamily="34" charset="-122"/>
                          <a:cs typeface="Calibri" pitchFamily="34" charset="-120"/>
                        </a:rPr>
                        <a:t>0.1096</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900" dirty="0">
                          <a:solidFill>
                            <a:srgbClr val="3A3A3A"/>
                          </a:solidFill>
                          <a:latin typeface="Calibri" pitchFamily="34" charset="0"/>
                          <a:ea typeface="Calibri" pitchFamily="34" charset="-122"/>
                          <a:cs typeface="Calibri" pitchFamily="34" charset="-120"/>
                        </a:rPr>
                        <a:t>0.0027</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420000">
                <a:tc>
                  <a:txBody>
                    <a:bodyPr/>
                    <a:lstStyle/>
                    <a:p>
                      <a:pPr marL="0" indent="0" algn="l">
                        <a:buNone/>
                      </a:pPr>
                      <a:r>
                        <a:rPr lang="en-US" sz="1900" dirty="0">
                          <a:solidFill>
                            <a:srgbClr val="1A1A1A"/>
                          </a:solidFill>
                          <a:latin typeface="Calibri" pitchFamily="34" charset="0"/>
                          <a:ea typeface="Calibri" pitchFamily="34" charset="-122"/>
                          <a:cs typeface="Calibri" pitchFamily="34" charset="-120"/>
                        </a:rPr>
                        <a:t>Cox-Time</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900" dirty="0">
                          <a:solidFill>
                            <a:srgbClr val="3A3A3A"/>
                          </a:solidFill>
                          <a:latin typeface="Calibri" pitchFamily="34" charset="0"/>
                          <a:ea typeface="Calibri" pitchFamily="34" charset="-122"/>
                          <a:cs typeface="Calibri" pitchFamily="34" charset="-120"/>
                        </a:rPr>
                        <a:t>hidden [16], dropout 0.4, lr 0.01, 32 epochs</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900" dirty="0">
                          <a:solidFill>
                            <a:srgbClr val="3A3A3A"/>
                          </a:solidFill>
                          <a:latin typeface="Calibri" pitchFamily="34" charset="0"/>
                          <a:ea typeface="Calibri" pitchFamily="34" charset="-122"/>
                          <a:cs typeface="Calibri" pitchFamily="34" charset="-120"/>
                        </a:rPr>
                        <a:t>0.1105</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900" dirty="0">
                          <a:solidFill>
                            <a:srgbClr val="3A3A3A"/>
                          </a:solidFill>
                          <a:latin typeface="Calibri" pitchFamily="34" charset="0"/>
                          <a:ea typeface="Calibri" pitchFamily="34" charset="-122"/>
                          <a:cs typeface="Calibri" pitchFamily="34" charset="-120"/>
                        </a:rPr>
                        <a:t>0.0030</a:t>
                      </a:r>
                      <a:endParaRPr lang="en-US" sz="19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 name="Caption"/>
          <p:cNvSpPr txBox="1"/>
          <p:nvPr/>
        </p:nvSpPr>
        <p:spPr>
          <a:xfrm>
            <a:off x="566928" y="3648448"/>
            <a:ext cx="11057839" cy="700000"/>
          </a:xfrm>
          <a:prstGeom prst="rect">
            <a:avLst/>
          </a:prstGeom>
          <a:noFill/>
          <a:ln/>
        </p:spPr>
        <p:txBody>
          <a:bodyPr wrap="square" lIns="0" tIns="0" rIns="0" bIns="0" rtlCol="0" anchor="t"/>
          <a:lstStyle/>
          <a:p>
            <a:pPr marL="0" indent="0" algn="l">
              <a:lnSpc>
                <a:spcPct val="140000"/>
              </a:lnSpc>
              <a:buNone/>
            </a:pPr>
            <a:r>
              <a:rPr lang="en-US" dirty="0">
                <a:solidFill>
                  <a:srgbClr val="767676"/>
                </a:solidFill>
                <a:latin typeface="Calibri" pitchFamily="34" charset="0"/>
                <a:ea typeface="Calibri" pitchFamily="34" charset="-122"/>
                <a:cs typeface="Calibri" pitchFamily="34" charset="-120"/>
              </a:rPr>
              <a:t>5-fold CV within the training set, folds drawn once and reused for all three models; one-SE rule selects the simplest configuration within one SE of the best.</a:t>
            </a:r>
          </a:p>
          <a:p>
            <a:pPr marL="0" indent="0" algn="l">
              <a:lnSpc>
                <a:spcPct val="140000"/>
              </a:lnSpc>
              <a:buNone/>
            </a:pPr>
            <a:r>
              <a:rPr lang="en-US" dirty="0">
                <a:solidFill>
                  <a:srgbClr val="767676"/>
                </a:solidFill>
                <a:latin typeface="Calibri" pitchFamily="34" charset="0"/>
                <a:ea typeface="Calibri" pitchFamily="34" charset="-122"/>
                <a:cs typeface="Calibri" pitchFamily="34" charset="-120"/>
              </a:rPr>
              <a:t>Cox row is a same-folds reference that selected nothing; all four scores lie within one SE of each other.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Predicted one-year survival: all four models</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3900000"/>
        </p:xfrm>
        <a:graphic>
          <a:graphicData uri="http://schemas.openxmlformats.org/drawingml/2006/table">
            <a:tbl>
              <a:tblPr/>
              <a:tblGrid>
                <a:gridCol w="2200000">
                  <a:extLst>
                    <a:ext uri="{9D8B030D-6E8A-4147-A177-3AD203B41FA5}">
                      <a16:colId xmlns:a16="http://schemas.microsoft.com/office/drawing/2014/main" val="20000"/>
                    </a:ext>
                  </a:extLst>
                </a:gridCol>
                <a:gridCol w="1700000">
                  <a:extLst>
                    <a:ext uri="{9D8B030D-6E8A-4147-A177-3AD203B41FA5}">
                      <a16:colId xmlns:a16="http://schemas.microsoft.com/office/drawing/2014/main" val="20001"/>
                    </a:ext>
                  </a:extLst>
                </a:gridCol>
                <a:gridCol w="1600000">
                  <a:extLst>
                    <a:ext uri="{9D8B030D-6E8A-4147-A177-3AD203B41FA5}">
                      <a16:colId xmlns:a16="http://schemas.microsoft.com/office/drawing/2014/main" val="20002"/>
                    </a:ext>
                  </a:extLst>
                </a:gridCol>
                <a:gridCol w="1600000">
                  <a:extLst>
                    <a:ext uri="{9D8B030D-6E8A-4147-A177-3AD203B41FA5}">
                      <a16:colId xmlns:a16="http://schemas.microsoft.com/office/drawing/2014/main" val="20003"/>
                    </a:ext>
                  </a:extLst>
                </a:gridCol>
                <a:gridCol w="1978839">
                  <a:extLst>
                    <a:ext uri="{9D8B030D-6E8A-4147-A177-3AD203B41FA5}">
                      <a16:colId xmlns:a16="http://schemas.microsoft.com/office/drawing/2014/main" val="20004"/>
                    </a:ext>
                  </a:extLst>
                </a:gridCol>
                <a:gridCol w="1979000">
                  <a:extLst>
                    <a:ext uri="{9D8B030D-6E8A-4147-A177-3AD203B41FA5}">
                      <a16:colId xmlns:a16="http://schemas.microsoft.com/office/drawing/2014/main" val="20005"/>
                    </a:ext>
                  </a:extLst>
                </a:gridCol>
              </a:tblGrid>
              <a:tr h="300000">
                <a:tc>
                  <a:txBody>
                    <a:bodyPr/>
                    <a:lstStyle/>
                    <a:p>
                      <a:pPr marL="0" indent="0" algn="l">
                        <a:buNone/>
                      </a:pPr>
                      <a:r>
                        <a:rPr lang="en-US" sz="1400" b="1" dirty="0">
                          <a:solidFill>
                            <a:srgbClr val="1A1A1A"/>
                          </a:solidFill>
                          <a:latin typeface="Calibri" pitchFamily="34" charset="0"/>
                          <a:ea typeface="Calibri" pitchFamily="34" charset="-122"/>
                          <a:cs typeface="Calibri" pitchFamily="34" charset="-120"/>
                        </a:rPr>
                        <a:t>Covariate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S at low</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S at high</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Drop over grid</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Drop over IQR</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0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Age (years)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Cox</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0.962</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0.641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0.321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0.110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RSF</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0.924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0.627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0.297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0.118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DeepSurv</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0.945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0.584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0.361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0.105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Cox-Time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0.946</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0.633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0.313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0.114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30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RDW (%)</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Cox</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0.864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0.659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0.205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0.034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RSF</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0.904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0.801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0.103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0.057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DeepSurv</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0.891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0.709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0.183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0.044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Cox-Time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0.885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0.677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0.208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0.043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r h="30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BUN, discharge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Cox</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0.876</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0.298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0.577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0.064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9"/>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RSF</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0.899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0.719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0.180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0.032</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0"/>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DeepSurv</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0.885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0.465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0.420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0.061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1"/>
                  </a:ext>
                </a:extLst>
              </a:tr>
              <a:tr h="30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Cox-Time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0.898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0.389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0.509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0.078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20" name="Caption"/>
          <p:cNvSpPr txBox="1"/>
          <p:nvPr/>
        </p:nvSpPr>
        <p:spPr>
          <a:xfrm>
            <a:off x="566928" y="5598448"/>
            <a:ext cx="11057839" cy="500000"/>
          </a:xfrm>
          <a:prstGeom prst="rect">
            <a:avLst/>
          </a:prstGeom>
          <a:noFill/>
          <a:ln/>
        </p:spPr>
        <p:txBody>
          <a:bodyPr wrap="square" lIns="0" tIns="0" rIns="0" bIns="0" rtlCol="0" anchor="t"/>
          <a:lstStyle/>
          <a:p>
            <a:pPr marL="0" indent="0" algn="l">
              <a:buNone/>
            </a:pPr>
            <a:r>
              <a:rPr lang="en-US" sz="1500" dirty="0">
                <a:solidFill>
                  <a:srgbClr val="767676"/>
                </a:solidFill>
                <a:latin typeface="Calibri" pitchFamily="34" charset="0"/>
                <a:ea typeface="Calibri" pitchFamily="34" charset="-122"/>
                <a:cs typeface="Calibri" pitchFamily="34" charset="-120"/>
              </a:rPr>
              <a:t>S at low / high are predictions at the grid ends (1st/99th training percentile); drop over IQR is the more clinically relevant number for a typical patient.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Agreement between the four models on test-set risk</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sp>
        <p:nvSpPr>
          <p:cNvPr id="4" name="Text 2"/>
          <p:cNvSpPr txBox="1"/>
          <p:nvPr/>
        </p:nvSpPr>
        <p:spPr>
          <a:xfrm>
            <a:off x="566928" y="3850000"/>
            <a:ext cx="11057839" cy="274320"/>
          </a:xfrm>
          <a:prstGeom prst="rect">
            <a:avLst/>
          </a:prstGeom>
          <a:noFill/>
          <a:ln/>
        </p:spPr>
        <p:txBody>
          <a:bodyPr wrap="square" lIns="0" tIns="0" rIns="0" bIns="0" rtlCol="0" anchor="ctr"/>
          <a:lstStyle/>
          <a:p>
            <a:pPr marL="0" indent="0" algn="l">
              <a:buNone/>
            </a:pPr>
            <a:r>
              <a:rPr lang="en-US" sz="1450" dirty="0">
                <a:solidFill>
                  <a:srgbClr val="767676"/>
                </a:solidFill>
                <a:latin typeface="Calibri" pitchFamily="34" charset="0"/>
                <a:ea typeface="Calibri" pitchFamily="34" charset="-122"/>
                <a:cs typeface="Calibri" pitchFamily="34" charset="-120"/>
              </a:rPr>
              <a:t>Panel (a): Spearman rank correlation of predicted risk. Panel (b): overlap of the top-risk quintiles, 159 patients per model.</a:t>
            </a:r>
            <a:endParaRPr lang="en-US" sz="1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5166360" cy="1500000"/>
        </p:xfrm>
        <a:graphic>
          <a:graphicData uri="http://schemas.openxmlformats.org/drawingml/2006/table">
            <a:tbl>
              <a:tblPr/>
              <a:tblGrid>
                <a:gridCol w="1466360">
                  <a:extLst>
                    <a:ext uri="{9D8B030D-6E8A-4147-A177-3AD203B41FA5}">
                      <a16:colId xmlns:a16="http://schemas.microsoft.com/office/drawing/2014/main" val="20000"/>
                    </a:ext>
                  </a:extLst>
                </a:gridCol>
                <a:gridCol w="925000">
                  <a:extLst>
                    <a:ext uri="{9D8B030D-6E8A-4147-A177-3AD203B41FA5}">
                      <a16:colId xmlns:a16="http://schemas.microsoft.com/office/drawing/2014/main" val="172898776"/>
                    </a:ext>
                  </a:extLst>
                </a:gridCol>
                <a:gridCol w="925000">
                  <a:extLst>
                    <a:ext uri="{9D8B030D-6E8A-4147-A177-3AD203B41FA5}">
                      <a16:colId xmlns:a16="http://schemas.microsoft.com/office/drawing/2014/main" val="324723942"/>
                    </a:ext>
                  </a:extLst>
                </a:gridCol>
                <a:gridCol w="925000">
                  <a:extLst>
                    <a:ext uri="{9D8B030D-6E8A-4147-A177-3AD203B41FA5}">
                      <a16:colId xmlns:a16="http://schemas.microsoft.com/office/drawing/2014/main" val="327210190"/>
                    </a:ext>
                  </a:extLst>
                </a:gridCol>
                <a:gridCol w="925000">
                  <a:extLst>
                    <a:ext uri="{9D8B030D-6E8A-4147-A177-3AD203B41FA5}">
                      <a16:colId xmlns:a16="http://schemas.microsoft.com/office/drawing/2014/main" val="20001"/>
                    </a:ext>
                  </a:extLst>
                </a:gridCol>
              </a:tblGrid>
              <a:tr h="300000">
                <a:tc>
                  <a:txBody>
                    <a:bodyPr/>
                    <a:lstStyle/>
                    <a:p>
                      <a:pPr marL="0" indent="0" algn="l">
                        <a:buNone/>
                      </a:pP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350" b="1" dirty="0">
                          <a:solidFill>
                            <a:srgbClr val="1A1A1A"/>
                          </a:solidFill>
                          <a:latin typeface="Calibri" pitchFamily="34" charset="0"/>
                          <a:ea typeface="Calibri" pitchFamily="34" charset="-122"/>
                          <a:cs typeface="Calibri" pitchFamily="34" charset="-120"/>
                        </a:rPr>
                        <a:t>Cox</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350" b="1" dirty="0">
                          <a:solidFill>
                            <a:srgbClr val="1A1A1A"/>
                          </a:solidFill>
                          <a:latin typeface="Calibri" pitchFamily="34" charset="0"/>
                          <a:ea typeface="Calibri" pitchFamily="34" charset="-122"/>
                          <a:cs typeface="Calibri" pitchFamily="34" charset="-120"/>
                        </a:rPr>
                        <a:t>RSF</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350" b="1" dirty="0">
                          <a:solidFill>
                            <a:srgbClr val="1A1A1A"/>
                          </a:solidFill>
                          <a:latin typeface="Calibri" pitchFamily="34" charset="0"/>
                          <a:ea typeface="Calibri" pitchFamily="34" charset="-122"/>
                          <a:cs typeface="Calibri" pitchFamily="34" charset="-120"/>
                        </a:rPr>
                        <a:t>DeepSurv</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350" b="1" dirty="0">
                          <a:solidFill>
                            <a:srgbClr val="1A1A1A"/>
                          </a:solidFill>
                          <a:latin typeface="Calibri" pitchFamily="34" charset="0"/>
                          <a:ea typeface="Calibri" pitchFamily="34" charset="-122"/>
                          <a:cs typeface="Calibri" pitchFamily="34" charset="-120"/>
                        </a:rPr>
                        <a:t>Cox-Time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Cox</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0.884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0.976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0.976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RSF</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0.884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0.911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0.908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DeepSurv</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0.976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0.911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0.980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Cox-Time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0.976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0.908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0.980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300000" y="1481328"/>
          <a:ext cx="5166360" cy="2100000"/>
        </p:xfrm>
        <a:graphic>
          <a:graphicData uri="http://schemas.openxmlformats.org/drawingml/2006/table">
            <a:tbl>
              <a:tblPr/>
              <a:tblGrid>
                <a:gridCol w="1266360">
                  <a:extLst>
                    <a:ext uri="{9D8B030D-6E8A-4147-A177-3AD203B41FA5}">
                      <a16:colId xmlns:a16="http://schemas.microsoft.com/office/drawing/2014/main" val="20000"/>
                    </a:ext>
                  </a:extLst>
                </a:gridCol>
                <a:gridCol w="1300000">
                  <a:extLst>
                    <a:ext uri="{9D8B030D-6E8A-4147-A177-3AD203B41FA5}">
                      <a16:colId xmlns:a16="http://schemas.microsoft.com/office/drawing/2014/main" val="3613344987"/>
                    </a:ext>
                  </a:extLst>
                </a:gridCol>
                <a:gridCol w="900000">
                  <a:extLst>
                    <a:ext uri="{9D8B030D-6E8A-4147-A177-3AD203B41FA5}">
                      <a16:colId xmlns:a16="http://schemas.microsoft.com/office/drawing/2014/main" val="1952793828"/>
                    </a:ext>
                  </a:extLst>
                </a:gridCol>
                <a:gridCol w="850000">
                  <a:extLst>
                    <a:ext uri="{9D8B030D-6E8A-4147-A177-3AD203B41FA5}">
                      <a16:colId xmlns:a16="http://schemas.microsoft.com/office/drawing/2014/main" val="1917028418"/>
                    </a:ext>
                  </a:extLst>
                </a:gridCol>
                <a:gridCol w="850000">
                  <a:extLst>
                    <a:ext uri="{9D8B030D-6E8A-4147-A177-3AD203B41FA5}">
                      <a16:colId xmlns:a16="http://schemas.microsoft.com/office/drawing/2014/main" val="20001"/>
                    </a:ext>
                  </a:extLst>
                </a:gridCol>
              </a:tblGrid>
              <a:tr h="300000">
                <a:tc>
                  <a:txBody>
                    <a:bodyPr/>
                    <a:lstStyle/>
                    <a:p>
                      <a:pPr marL="0" indent="0" algn="l">
                        <a:buNone/>
                      </a:pPr>
                      <a:r>
                        <a:rPr lang="en-US" sz="1350" b="1" dirty="0">
                          <a:solidFill>
                            <a:srgbClr val="1A1A1A"/>
                          </a:solidFill>
                          <a:latin typeface="Calibri" pitchFamily="34" charset="0"/>
                          <a:ea typeface="Calibri" pitchFamily="34" charset="-122"/>
                          <a:cs typeface="Calibri" pitchFamily="34" charset="-120"/>
                        </a:rPr>
                        <a:t>Model A</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l">
                        <a:buNone/>
                      </a:pPr>
                      <a:r>
                        <a:rPr lang="en-US" sz="1350" b="1" dirty="0">
                          <a:solidFill>
                            <a:srgbClr val="1A1A1A"/>
                          </a:solidFill>
                          <a:latin typeface="Calibri" pitchFamily="34" charset="0"/>
                          <a:ea typeface="Calibri" pitchFamily="34" charset="-122"/>
                          <a:cs typeface="Calibri" pitchFamily="34" charset="-120"/>
                        </a:rPr>
                        <a:t>Model B</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350" b="1" dirty="0">
                          <a:solidFill>
                            <a:srgbClr val="1A1A1A"/>
                          </a:solidFill>
                          <a:latin typeface="Calibri" pitchFamily="34" charset="0"/>
                          <a:ea typeface="Calibri" pitchFamily="34" charset="-122"/>
                          <a:cs typeface="Calibri" pitchFamily="34" charset="-120"/>
                        </a:rPr>
                        <a:t>Shared n</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350" b="1" dirty="0">
                          <a:solidFill>
                            <a:srgbClr val="1A1A1A"/>
                          </a:solidFill>
                          <a:latin typeface="Calibri" pitchFamily="34" charset="0"/>
                          <a:ea typeface="Calibri" pitchFamily="34" charset="-122"/>
                          <a:cs typeface="Calibri" pitchFamily="34" charset="-120"/>
                        </a:rPr>
                        <a:t>Shared %</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350" b="1" dirty="0">
                          <a:solidFill>
                            <a:srgbClr val="1A1A1A"/>
                          </a:solidFill>
                          <a:latin typeface="Calibri" pitchFamily="34" charset="0"/>
                          <a:ea typeface="Calibri" pitchFamily="34" charset="-122"/>
                          <a:cs typeface="Calibri" pitchFamily="34" charset="-120"/>
                        </a:rPr>
                        <a:t>Jaccard</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Cox</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RSF</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113</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71.1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0.551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Cox</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DeepSurv</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141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88.7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0.797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Cox</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Cox-Time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140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88.1</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0.787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RSF</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DeepSurv</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124</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78.0</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0.639</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RSF</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Cox-Time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117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73.6</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0.582</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300000">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DeepSurv</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350" dirty="0">
                          <a:solidFill>
                            <a:srgbClr val="1A1A1A"/>
                          </a:solidFill>
                          <a:latin typeface="Calibri" pitchFamily="34" charset="0"/>
                          <a:ea typeface="Calibri" pitchFamily="34" charset="-122"/>
                          <a:cs typeface="Calibri" pitchFamily="34" charset="-120"/>
                        </a:rPr>
                        <a:t>Cox-Time</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138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1A1A1A"/>
                          </a:solidFill>
                          <a:latin typeface="Calibri" pitchFamily="34" charset="0"/>
                          <a:ea typeface="Calibri" pitchFamily="34" charset="-122"/>
                          <a:cs typeface="Calibri" pitchFamily="34" charset="-120"/>
                        </a:rPr>
                        <a:t>86.8</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350" dirty="0">
                          <a:solidFill>
                            <a:srgbClr val="3A3A3A"/>
                          </a:solidFill>
                          <a:latin typeface="Calibri" pitchFamily="34" charset="0"/>
                          <a:ea typeface="Calibri" pitchFamily="34" charset="-122"/>
                          <a:cs typeface="Calibri" pitchFamily="34" charset="-120"/>
                        </a:rPr>
                        <a:t>0.767</a:t>
                      </a:r>
                      <a:endParaRPr lang="en-US" sz="135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0" name="Panel A label"/>
          <p:cNvSpPr txBox="1"/>
          <p:nvPr/>
        </p:nvSpPr>
        <p:spPr>
          <a:xfrm>
            <a:off x="566928" y="1160000"/>
            <a:ext cx="3000000" cy="260000"/>
          </a:xfrm>
          <a:prstGeom prst="rect">
            <a:avLst/>
          </a:prstGeom>
          <a:noFill/>
          <a:ln/>
        </p:spPr>
        <p:txBody>
          <a:bodyPr wrap="square" lIns="0" tIns="0" rIns="0" bIns="0" rtlCol="0" anchor="t"/>
          <a:lstStyle/>
          <a:p>
            <a:pPr marL="0" indent="0" algn="l">
              <a:buNone/>
            </a:pPr>
            <a:r>
              <a:rPr lang="en-US" sz="1550" b="1" dirty="0">
                <a:solidFill>
                  <a:srgbClr val="1A1A1A"/>
                </a:solidFill>
                <a:latin typeface="Calibri" pitchFamily="34" charset="0"/>
                <a:ea typeface="Calibri" pitchFamily="34" charset="-122"/>
                <a:cs typeface="Calibri" pitchFamily="34" charset="-120"/>
              </a:rPr>
              <a:t>(a) Spearman rank correlation</a:t>
            </a:r>
          </a:p>
        </p:txBody>
      </p:sp>
      <p:sp>
        <p:nvSpPr>
          <p:cNvPr id="31" name="Panel B label"/>
          <p:cNvSpPr txBox="1"/>
          <p:nvPr/>
        </p:nvSpPr>
        <p:spPr>
          <a:xfrm>
            <a:off x="6300000" y="1160000"/>
            <a:ext cx="4000000" cy="260000"/>
          </a:xfrm>
          <a:prstGeom prst="rect">
            <a:avLst/>
          </a:prstGeom>
          <a:noFill/>
          <a:ln/>
        </p:spPr>
        <p:txBody>
          <a:bodyPr wrap="square" lIns="0" tIns="0" rIns="0" bIns="0" rtlCol="0" anchor="t"/>
          <a:lstStyle/>
          <a:p>
            <a:pPr marL="0" indent="0" algn="l">
              <a:buNone/>
            </a:pPr>
            <a:r>
              <a:rPr lang="en-US" sz="1550" b="1" dirty="0">
                <a:solidFill>
                  <a:srgbClr val="1A1A1A"/>
                </a:solidFill>
                <a:latin typeface="Calibri" pitchFamily="34" charset="0"/>
                <a:ea typeface="Calibri" pitchFamily="34" charset="-122"/>
                <a:cs typeface="Calibri" pitchFamily="34" charset="-120"/>
              </a:rPr>
              <a:t>(b) Overlap of top-risk quintiles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Test-set performance within subgroups</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2377440"/>
        </p:xfrm>
        <a:graphic>
          <a:graphicData uri="http://schemas.openxmlformats.org/drawingml/2006/table">
            <a:tbl>
              <a:tblPr/>
              <a:tblGrid>
                <a:gridCol w="1750000">
                  <a:extLst>
                    <a:ext uri="{9D8B030D-6E8A-4147-A177-3AD203B41FA5}">
                      <a16:colId xmlns:a16="http://schemas.microsoft.com/office/drawing/2014/main" val="20000"/>
                    </a:ext>
                  </a:extLst>
                </a:gridCol>
                <a:gridCol w="1200000">
                  <a:extLst>
                    <a:ext uri="{9D8B030D-6E8A-4147-A177-3AD203B41FA5}">
                      <a16:colId xmlns:a16="http://schemas.microsoft.com/office/drawing/2014/main" val="2157595074"/>
                    </a:ext>
                  </a:extLst>
                </a:gridCol>
                <a:gridCol w="1207839">
                  <a:extLst>
                    <a:ext uri="{9D8B030D-6E8A-4147-A177-3AD203B41FA5}">
                      <a16:colId xmlns:a16="http://schemas.microsoft.com/office/drawing/2014/main" val="20001"/>
                    </a:ext>
                  </a:extLst>
                </a:gridCol>
                <a:gridCol w="1650000">
                  <a:extLst>
                    <a:ext uri="{9D8B030D-6E8A-4147-A177-3AD203B41FA5}">
                      <a16:colId xmlns:a16="http://schemas.microsoft.com/office/drawing/2014/main" val="20002"/>
                    </a:ext>
                  </a:extLst>
                </a:gridCol>
                <a:gridCol w="1650000">
                  <a:extLst>
                    <a:ext uri="{9D8B030D-6E8A-4147-A177-3AD203B41FA5}">
                      <a16:colId xmlns:a16="http://schemas.microsoft.com/office/drawing/2014/main" val="20003"/>
                    </a:ext>
                  </a:extLst>
                </a:gridCol>
                <a:gridCol w="1650000">
                  <a:extLst>
                    <a:ext uri="{9D8B030D-6E8A-4147-A177-3AD203B41FA5}">
                      <a16:colId xmlns:a16="http://schemas.microsoft.com/office/drawing/2014/main" val="20004"/>
                    </a:ext>
                  </a:extLst>
                </a:gridCol>
                <a:gridCol w="1950000">
                  <a:extLst>
                    <a:ext uri="{9D8B030D-6E8A-4147-A177-3AD203B41FA5}">
                      <a16:colId xmlns:a16="http://schemas.microsoft.com/office/drawing/2014/main" val="20005"/>
                    </a:ext>
                  </a:extLst>
                </a:gridCol>
              </a:tblGrid>
              <a:tr h="260000">
                <a:tc>
                  <a:txBody>
                    <a:bodyPr/>
                    <a:lstStyle/>
                    <a:p>
                      <a:pPr marL="0" indent="0" algn="l">
                        <a:buNone/>
                      </a:pPr>
                      <a:r>
                        <a:rPr lang="en-US" sz="1400" b="1" dirty="0">
                          <a:solidFill>
                            <a:srgbClr val="1A1A1A"/>
                          </a:solidFill>
                          <a:latin typeface="Calibri" pitchFamily="34" charset="0"/>
                          <a:ea typeface="Calibri" pitchFamily="34" charset="-122"/>
                          <a:cs typeface="Calibri" pitchFamily="34" charset="-120"/>
                        </a:rPr>
                        <a:t>Subgroup</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l">
                        <a:buNone/>
                      </a:pPr>
                      <a:r>
                        <a:rPr lang="en-US" sz="1400" b="1" dirty="0">
                          <a:solidFill>
                            <a:srgbClr val="1A1A1A"/>
                          </a:solidFill>
                          <a:latin typeface="Calibri" pitchFamily="34" charset="0"/>
                          <a:ea typeface="Calibri" pitchFamily="34" charset="-122"/>
                          <a:cs typeface="Calibri" pitchFamily="34" charset="-120"/>
                        </a:rPr>
                        <a:t>n (deaths)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Measure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Cox</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RSF</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DeepSurv</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tc>
                  <a:txBody>
                    <a:bodyPr/>
                    <a:lstStyle/>
                    <a:p>
                      <a:pPr marL="0" indent="0" algn="ctr">
                        <a:buNone/>
                      </a:pPr>
                      <a:r>
                        <a:rPr lang="en-US" sz="1400" b="1" dirty="0">
                          <a:solidFill>
                            <a:srgbClr val="1A1A1A"/>
                          </a:solidFill>
                          <a:latin typeface="Calibri" pitchFamily="34" charset="0"/>
                          <a:ea typeface="Calibri" pitchFamily="34" charset="-122"/>
                          <a:cs typeface="Calibri" pitchFamily="34" charset="-120"/>
                        </a:rPr>
                        <a:t>Cox-Time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2700" cap="flat" cmpd="sng" algn="ctr">
                      <a:solidFill>
                        <a:srgbClr val="1A4E8A"/>
                      </a:solidFill>
                      <a:prstDash val="solid"/>
                      <a:round/>
                      <a:headEnd type="none" w="med" len="med"/>
                      <a:tailEnd type="none" w="med" len="med"/>
                    </a:lnB>
                    <a:solidFill>
                      <a:srgbClr val="F2F6FA"/>
                    </a:solidFill>
                  </a:tcPr>
                </a:tc>
                <a:extLst>
                  <a:ext uri="{0D108BD9-81ED-4DB2-BD59-A6C34878D82A}">
                    <a16:rowId xmlns:a16="http://schemas.microsoft.com/office/drawing/2014/main" val="10000"/>
                  </a:ext>
                </a:extLst>
              </a:tr>
              <a:tr h="26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BUN ≤ 28 mg/dL</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430 (81)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Uno's C</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0.7140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0.6946</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0.7018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0.7079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2700" cap="flat" cmpd="sng" algn="ctr">
                      <a:solidFill>
                        <a:srgbClr val="1A4E8A"/>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6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IBS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0.0901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0.0933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0.0910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0.0899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6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BUN &gt; 28 mg/dL</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363 (118)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Uno's C</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0.6361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0.6173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0.6346</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0.6349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6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IBS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0.1446</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0.1449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0.1441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0.1431</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6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Age ≤ 76 years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406 (62)</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Uno's C</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0.6663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0.7010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0.6785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0.6815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6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IBS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0.0787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0.0783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0.0786</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0.0784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r h="26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Age &gt; 76 years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387 (137)</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Uno's C</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0.6172</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0.5800</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0.6085</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0.6203</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7"/>
                  </a:ext>
                </a:extLst>
              </a:tr>
              <a:tr h="260000">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l">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IBS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0.1532</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0.1574</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0.1538</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ctr">
                        <a:buNone/>
                      </a:pPr>
                      <a:r>
                        <a:rPr lang="en-US" sz="1400" dirty="0">
                          <a:solidFill>
                            <a:srgbClr val="3A3A3A"/>
                          </a:solidFill>
                          <a:latin typeface="Calibri" pitchFamily="34" charset="0"/>
                          <a:ea typeface="Calibri" pitchFamily="34" charset="-122"/>
                          <a:cs typeface="Calibri" pitchFamily="34" charset="-120"/>
                        </a:rPr>
                        <a:t>0.1519</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20" name="Caption"/>
          <p:cNvSpPr txBox="1"/>
          <p:nvPr/>
        </p:nvSpPr>
        <p:spPr>
          <a:xfrm>
            <a:off x="566928" y="3888448"/>
            <a:ext cx="11057839" cy="500000"/>
          </a:xfrm>
          <a:prstGeom prst="rect">
            <a:avLst/>
          </a:prstGeom>
          <a:noFill/>
          <a:ln/>
        </p:spPr>
        <p:txBody>
          <a:bodyPr wrap="square" lIns="0" tIns="0" rIns="0" bIns="0" rtlCol="0" anchor="t"/>
          <a:lstStyle/>
          <a:p>
            <a:pPr marL="0" indent="0" algn="l">
              <a:buNone/>
            </a:pPr>
            <a:r>
              <a:rPr lang="en-US" sz="1500" dirty="0">
                <a:solidFill>
                  <a:srgbClr val="767676"/>
                </a:solidFill>
                <a:latin typeface="Calibri" pitchFamily="34" charset="0"/>
                <a:ea typeface="Calibri" pitchFamily="34" charset="-122"/>
                <a:cs typeface="Calibri" pitchFamily="34" charset="-120"/>
              </a:rPr>
              <a:t>Subgroups cut at training-set medians of discharge BUN (28 mg/dL) and age (76 years), so cut points do not depend on the test data.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11057839" cy="566928"/>
          </a:xfrm>
          <a:prstGeom prst="rect">
            <a:avLst/>
          </a:prstGeom>
          <a:noFill/>
          <a:ln/>
        </p:spPr>
        <p:txBody>
          <a:bodyPr wrap="square" lIns="0" tIns="0" rIns="0" bIns="0" rtlCol="0" anchor="ctr"/>
          <a:lstStyle/>
          <a:p>
            <a:pPr marL="0" indent="0" algn="l">
              <a:buNone/>
            </a:pPr>
            <a:r>
              <a:rPr lang="en-US" sz="3000" b="1" dirty="0">
                <a:solidFill>
                  <a:srgbClr val="1A1A1A"/>
                </a:solidFill>
                <a:latin typeface="Calibri" pitchFamily="34" charset="0"/>
                <a:ea typeface="Calibri" pitchFamily="34" charset="-122"/>
                <a:cs typeface="Calibri" pitchFamily="34" charset="-120"/>
              </a:rPr>
              <a:t>The age × discharge BUN interaction</a:t>
            </a:r>
            <a:endParaRPr lang="en-US" sz="3000" dirty="0"/>
          </a:p>
        </p:txBody>
      </p:sp>
      <p:sp>
        <p:nvSpPr>
          <p:cNvPr id="3" name="Text 1"/>
          <p:cNvSpPr txBox="1"/>
          <p:nvPr/>
        </p:nvSpPr>
        <p:spPr>
          <a:xfrm>
            <a:off x="10344607" y="402336"/>
            <a:ext cx="1280160" cy="274320"/>
          </a:xfrm>
          <a:prstGeom prst="rect">
            <a:avLst/>
          </a:prstGeom>
          <a:noFill/>
          <a:ln/>
        </p:spPr>
        <p:txBody>
          <a:bodyPr wrap="square" lIns="0" tIns="0" rIns="0" bIns="0" rtlCol="0" anchor="ctr"/>
          <a:lstStyle/>
          <a:p>
            <a:pPr marL="0" indent="0" algn="r">
              <a:buNone/>
            </a:pPr>
            <a:r>
              <a:rPr lang="en-US" sz="1100" dirty="0">
                <a:solidFill>
                  <a:srgbClr val="767676"/>
                </a:solidFill>
                <a:latin typeface="Calibri" pitchFamily="34" charset="0"/>
                <a:ea typeface="Calibri" pitchFamily="34" charset="-122"/>
                <a:cs typeface="Calibri" pitchFamily="34" charset="-120"/>
              </a:rPr>
              <a:t>Backup</a:t>
            </a:r>
            <a:endParaRPr lang="en-US" sz="1100" dirty="0"/>
          </a:p>
        </p:txBody>
      </p:sp>
      <p:pic>
        <p:nvPicPr>
          <p:cNvPr id="4" name="Image 0" descr="/mnt/user-data/uploads/proj tasks/Final Project/figures/fig2_km_stratified.png"/>
          <p:cNvPicPr>
            <a:picLocks noChangeAspect="1"/>
          </p:cNvPicPr>
          <p:nvPr/>
        </p:nvPicPr>
        <p:blipFill>
          <a:blip r:embed="rId3"/>
          <a:stretch>
            <a:fillRect/>
          </a:stretch>
        </p:blipFill>
        <p:spPr>
          <a:xfrm>
            <a:off x="3346000" y="1417320"/>
            <a:ext cx="5500000" cy="3985169"/>
          </a:xfrm>
          <a:prstGeom prst="rect">
            <a:avLst/>
          </a:prstGeom>
        </p:spPr>
      </p:pic>
      <p:sp>
        <p:nvSpPr>
          <p:cNvPr id="5" name="Text 2"/>
          <p:cNvSpPr txBox="1"/>
          <p:nvPr/>
        </p:nvSpPr>
        <p:spPr>
          <a:xfrm>
            <a:off x="566928" y="5602489"/>
            <a:ext cx="11057839" cy="274320"/>
          </a:xfrm>
          <a:prstGeom prst="rect">
            <a:avLst/>
          </a:prstGeom>
          <a:noFill/>
          <a:ln/>
        </p:spPr>
        <p:txBody>
          <a:bodyPr wrap="square" lIns="0" tIns="0" rIns="0" bIns="0" rtlCol="0" anchor="ctr"/>
          <a:lstStyle/>
          <a:p>
            <a:pPr marL="0" indent="0" algn="l">
              <a:buNone/>
            </a:pPr>
            <a:r>
              <a:rPr lang="en-US" sz="1800" dirty="0">
                <a:solidFill>
                  <a:srgbClr val="767676"/>
                </a:solidFill>
                <a:latin typeface="Calibri" pitchFamily="34" charset="0"/>
                <a:ea typeface="Calibri" pitchFamily="34" charset="-122"/>
                <a:cs typeface="Calibri" pitchFamily="34" charset="-120"/>
              </a:rPr>
              <a:t>Curves for age at Q1/median/Q3 of discharge BUN remain approximately parallel to the additive Cox model — consistent with the non-significant interaction test (LR p = 0.592).</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TotalTime>
  <Words>7139</Words>
  <Application>Microsoft Office PowerPoint</Application>
  <PresentationFormat>מסך רחב</PresentationFormat>
  <Paragraphs>982</Paragraphs>
  <Slides>29</Slides>
  <Notes>29</Notes>
  <HiddenSlides>11</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29</vt:i4>
      </vt:variant>
    </vt:vector>
  </HeadingPairs>
  <TitlesOfParts>
    <vt:vector size="32" baseType="lpstr">
      <vt:lpstr>Arial</vt:lpstr>
      <vt:lpstr>Calibri</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One-Year Survival After Hospital Discharge</dc:title>
  <dc:subject>PptxGenJS Presentation</dc:subject>
  <dc:creator>Diana Morgan</dc:creator>
  <cp:lastModifiedBy>עודד כץ</cp:lastModifiedBy>
  <cp:revision>6</cp:revision>
  <dcterms:created xsi:type="dcterms:W3CDTF">2026-09-12T07:07:23Z</dcterms:created>
  <dcterms:modified xsi:type="dcterms:W3CDTF">2026-09-13T15:37:48Z</dcterms:modified>
</cp:coreProperties>
</file>