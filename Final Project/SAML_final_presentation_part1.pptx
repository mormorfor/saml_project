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7" r:id="rId6"/>
    <p:sldId id="260" r:id="rId7"/>
    <p:sldId id="271" r:id="rId8"/>
    <p:sldId id="261" r:id="rId9"/>
    <p:sldId id="262" r:id="rId10"/>
    <p:sldId id="263" r:id="rId11"/>
    <p:sldId id="264" r:id="rId12"/>
    <p:sldId id="265" r:id="rId13"/>
    <p:sldId id="266"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6096AB-5CDD-4F50-9D7A-CA4EAF066996}" v="58" dt="2026-09-12T09:22:32.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3923" autoAdjust="0"/>
  </p:normalViewPr>
  <p:slideViewPr>
    <p:cSldViewPr snapToGrid="0" snapToObjects="1">
      <p:cViewPr varScale="1">
        <p:scale>
          <a:sx n="70" d="100"/>
          <a:sy n="70" d="100"/>
        </p:scale>
        <p:origin x="21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 Morgan" userId="334510fb-2733-47b8-b384-983263cb66bf" providerId="ADAL" clId="{34705DC1-99F8-4884-9D4F-8933909EB766}"/>
    <pc:docChg chg="undo custSel addSld modSld sldOrd">
      <pc:chgData name="Diana Morgan" userId="334510fb-2733-47b8-b384-983263cb66bf" providerId="ADAL" clId="{34705DC1-99F8-4884-9D4F-8933909EB766}" dt="2026-09-12T09:22:36.466" v="5649" actId="20577"/>
      <pc:docMkLst>
        <pc:docMk/>
      </pc:docMkLst>
      <pc:sldChg chg="modSp mod modNotesTx">
        <pc:chgData name="Diana Morgan" userId="334510fb-2733-47b8-b384-983263cb66bf" providerId="ADAL" clId="{34705DC1-99F8-4884-9D4F-8933909EB766}" dt="2026-09-12T08:17:55.341" v="3462" actId="20577"/>
        <pc:sldMkLst>
          <pc:docMk/>
          <pc:sldMk cId="0" sldId="256"/>
        </pc:sldMkLst>
        <pc:spChg chg="mod">
          <ac:chgData name="Diana Morgan" userId="334510fb-2733-47b8-b384-983263cb66bf" providerId="ADAL" clId="{34705DC1-99F8-4884-9D4F-8933909EB766}" dt="2026-09-12T08:17:47.978" v="3461" actId="403"/>
          <ac:spMkLst>
            <pc:docMk/>
            <pc:sldMk cId="0" sldId="256"/>
            <ac:spMk id="4" creationId="{00000000-0000-0000-0000-000000000000}"/>
          </ac:spMkLst>
        </pc:spChg>
      </pc:sldChg>
      <pc:sldChg chg="modSp mod modNotesTx">
        <pc:chgData name="Diana Morgan" userId="334510fb-2733-47b8-b384-983263cb66bf" providerId="ADAL" clId="{34705DC1-99F8-4884-9D4F-8933909EB766}" dt="2026-09-12T07:38:54.199" v="1712" actId="20577"/>
        <pc:sldMkLst>
          <pc:docMk/>
          <pc:sldMk cId="0" sldId="257"/>
        </pc:sldMkLst>
        <pc:spChg chg="mod">
          <ac:chgData name="Diana Morgan" userId="334510fb-2733-47b8-b384-983263cb66bf" providerId="ADAL" clId="{34705DC1-99F8-4884-9D4F-8933909EB766}" dt="2026-09-12T07:27:11.921" v="819" actId="1076"/>
          <ac:spMkLst>
            <pc:docMk/>
            <pc:sldMk cId="0" sldId="257"/>
            <ac:spMk id="5" creationId="{00000000-0000-0000-0000-000000000000}"/>
          </ac:spMkLst>
        </pc:spChg>
        <pc:spChg chg="mod">
          <ac:chgData name="Diana Morgan" userId="334510fb-2733-47b8-b384-983263cb66bf" providerId="ADAL" clId="{34705DC1-99F8-4884-9D4F-8933909EB766}" dt="2026-09-12T07:24:30.014" v="766" actId="20577"/>
          <ac:spMkLst>
            <pc:docMk/>
            <pc:sldMk cId="0" sldId="257"/>
            <ac:spMk id="13" creationId="{00000000-0000-0000-0000-000000000000}"/>
          </ac:spMkLst>
        </pc:spChg>
      </pc:sldChg>
      <pc:sldChg chg="modSp mod modNotesTx">
        <pc:chgData name="Diana Morgan" userId="334510fb-2733-47b8-b384-983263cb66bf" providerId="ADAL" clId="{34705DC1-99F8-4884-9D4F-8933909EB766}" dt="2026-09-12T07:36:24.887" v="1565" actId="20577"/>
        <pc:sldMkLst>
          <pc:docMk/>
          <pc:sldMk cId="0" sldId="258"/>
        </pc:sldMkLst>
        <pc:spChg chg="mod">
          <ac:chgData name="Diana Morgan" userId="334510fb-2733-47b8-b384-983263cb66bf" providerId="ADAL" clId="{34705DC1-99F8-4884-9D4F-8933909EB766}" dt="2026-09-12T07:28:44.039" v="830" actId="20577"/>
          <ac:spMkLst>
            <pc:docMk/>
            <pc:sldMk cId="0" sldId="258"/>
            <ac:spMk id="2" creationId="{00000000-0000-0000-0000-000000000000}"/>
          </ac:spMkLst>
        </pc:spChg>
        <pc:spChg chg="mod">
          <ac:chgData name="Diana Morgan" userId="334510fb-2733-47b8-b384-983263cb66bf" providerId="ADAL" clId="{34705DC1-99F8-4884-9D4F-8933909EB766}" dt="2026-09-12T07:29:14.904" v="840" actId="14100"/>
          <ac:spMkLst>
            <pc:docMk/>
            <pc:sldMk cId="0" sldId="258"/>
            <ac:spMk id="6" creationId="{00000000-0000-0000-0000-000000000000}"/>
          </ac:spMkLst>
        </pc:spChg>
      </pc:sldChg>
      <pc:sldChg chg="modSp mod modNotesTx">
        <pc:chgData name="Diana Morgan" userId="334510fb-2733-47b8-b384-983263cb66bf" providerId="ADAL" clId="{34705DC1-99F8-4884-9D4F-8933909EB766}" dt="2026-09-12T08:39:30.917" v="3836" actId="20577"/>
        <pc:sldMkLst>
          <pc:docMk/>
          <pc:sldMk cId="0" sldId="259"/>
        </pc:sldMkLst>
        <pc:spChg chg="mod">
          <ac:chgData name="Diana Morgan" userId="334510fb-2733-47b8-b384-983263cb66bf" providerId="ADAL" clId="{34705DC1-99F8-4884-9D4F-8933909EB766}" dt="2026-09-12T07:39:20.817" v="1713" actId="20577"/>
          <ac:spMkLst>
            <pc:docMk/>
            <pc:sldMk cId="0" sldId="259"/>
            <ac:spMk id="2" creationId="{00000000-0000-0000-0000-000000000000}"/>
          </ac:spMkLst>
        </pc:spChg>
        <pc:spChg chg="mod">
          <ac:chgData name="Diana Morgan" userId="334510fb-2733-47b8-b384-983263cb66bf" providerId="ADAL" clId="{34705DC1-99F8-4884-9D4F-8933909EB766}" dt="2026-09-12T07:39:34.451" v="1714" actId="403"/>
          <ac:spMkLst>
            <pc:docMk/>
            <pc:sldMk cId="0" sldId="259"/>
            <ac:spMk id="4" creationId="{00000000-0000-0000-0000-000000000000}"/>
          </ac:spMkLst>
        </pc:spChg>
        <pc:spChg chg="mod">
          <ac:chgData name="Diana Morgan" userId="334510fb-2733-47b8-b384-983263cb66bf" providerId="ADAL" clId="{34705DC1-99F8-4884-9D4F-8933909EB766}" dt="2026-09-12T07:39:37.211" v="1715" actId="403"/>
          <ac:spMkLst>
            <pc:docMk/>
            <pc:sldMk cId="0" sldId="259"/>
            <ac:spMk id="6" creationId="{00000000-0000-0000-0000-000000000000}"/>
          </ac:spMkLst>
        </pc:spChg>
        <pc:spChg chg="mod">
          <ac:chgData name="Diana Morgan" userId="334510fb-2733-47b8-b384-983263cb66bf" providerId="ADAL" clId="{34705DC1-99F8-4884-9D4F-8933909EB766}" dt="2026-09-12T08:06:10.467" v="3260" actId="20577"/>
          <ac:spMkLst>
            <pc:docMk/>
            <pc:sldMk cId="0" sldId="259"/>
            <ac:spMk id="9" creationId="{00000000-0000-0000-0000-000000000000}"/>
          </ac:spMkLst>
        </pc:spChg>
      </pc:sldChg>
      <pc:sldChg chg="delSp modSp mod modNotesTx">
        <pc:chgData name="Diana Morgan" userId="334510fb-2733-47b8-b384-983263cb66bf" providerId="ADAL" clId="{34705DC1-99F8-4884-9D4F-8933909EB766}" dt="2026-09-12T08:49:32.789" v="4372" actId="20577"/>
        <pc:sldMkLst>
          <pc:docMk/>
          <pc:sldMk cId="0" sldId="260"/>
        </pc:sldMkLst>
        <pc:spChg chg="mod">
          <ac:chgData name="Diana Morgan" userId="334510fb-2733-47b8-b384-983263cb66bf" providerId="ADAL" clId="{34705DC1-99F8-4884-9D4F-8933909EB766}" dt="2026-09-12T08:46:56.569" v="4178" actId="20577"/>
          <ac:spMkLst>
            <pc:docMk/>
            <pc:sldMk cId="0" sldId="260"/>
            <ac:spMk id="2" creationId="{00000000-0000-0000-0000-000000000000}"/>
          </ac:spMkLst>
        </pc:spChg>
        <pc:spChg chg="del">
          <ac:chgData name="Diana Morgan" userId="334510fb-2733-47b8-b384-983263cb66bf" providerId="ADAL" clId="{34705DC1-99F8-4884-9D4F-8933909EB766}" dt="2026-09-12T08:47:01.831" v="4179" actId="478"/>
          <ac:spMkLst>
            <pc:docMk/>
            <pc:sldMk cId="0" sldId="260"/>
            <ac:spMk id="4" creationId="{00000000-0000-0000-0000-000000000000}"/>
          </ac:spMkLst>
        </pc:spChg>
        <pc:spChg chg="mod">
          <ac:chgData name="Diana Morgan" userId="334510fb-2733-47b8-b384-983263cb66bf" providerId="ADAL" clId="{34705DC1-99F8-4884-9D4F-8933909EB766}" dt="2026-09-12T08:47:10.080" v="4181" actId="14100"/>
          <ac:spMkLst>
            <pc:docMk/>
            <pc:sldMk cId="0" sldId="260"/>
            <ac:spMk id="6" creationId="{00000000-0000-0000-0000-000000000000}"/>
          </ac:spMkLst>
        </pc:spChg>
        <pc:spChg chg="mod">
          <ac:chgData name="Diana Morgan" userId="334510fb-2733-47b8-b384-983263cb66bf" providerId="ADAL" clId="{34705DC1-99F8-4884-9D4F-8933909EB766}" dt="2026-09-12T08:47:21.065" v="4202" actId="20577"/>
          <ac:spMkLst>
            <pc:docMk/>
            <pc:sldMk cId="0" sldId="260"/>
            <ac:spMk id="7" creationId="{00000000-0000-0000-0000-000000000000}"/>
          </ac:spMkLst>
        </pc:spChg>
        <pc:spChg chg="mod">
          <ac:chgData name="Diana Morgan" userId="334510fb-2733-47b8-b384-983263cb66bf" providerId="ADAL" clId="{34705DC1-99F8-4884-9D4F-8933909EB766}" dt="2026-09-12T08:47:27.056" v="4203"/>
          <ac:spMkLst>
            <pc:docMk/>
            <pc:sldMk cId="0" sldId="260"/>
            <ac:spMk id="9" creationId="{00000000-0000-0000-0000-000000000000}"/>
          </ac:spMkLst>
        </pc:spChg>
        <pc:spChg chg="mod">
          <ac:chgData name="Diana Morgan" userId="334510fb-2733-47b8-b384-983263cb66bf" providerId="ADAL" clId="{34705DC1-99F8-4884-9D4F-8933909EB766}" dt="2026-09-12T08:47:44.793" v="4253" actId="313"/>
          <ac:spMkLst>
            <pc:docMk/>
            <pc:sldMk cId="0" sldId="260"/>
            <ac:spMk id="10" creationId="{00000000-0000-0000-0000-000000000000}"/>
          </ac:spMkLst>
        </pc:spChg>
        <pc:spChg chg="mod">
          <ac:chgData name="Diana Morgan" userId="334510fb-2733-47b8-b384-983263cb66bf" providerId="ADAL" clId="{34705DC1-99F8-4884-9D4F-8933909EB766}" dt="2026-09-12T08:48:55.633" v="4332" actId="20577"/>
          <ac:spMkLst>
            <pc:docMk/>
            <pc:sldMk cId="0" sldId="260"/>
            <ac:spMk id="12" creationId="{00000000-0000-0000-0000-000000000000}"/>
          </ac:spMkLst>
        </pc:spChg>
        <pc:spChg chg="mod">
          <ac:chgData name="Diana Morgan" userId="334510fb-2733-47b8-b384-983263cb66bf" providerId="ADAL" clId="{34705DC1-99F8-4884-9D4F-8933909EB766}" dt="2026-09-12T08:48:17.071" v="4278" actId="20577"/>
          <ac:spMkLst>
            <pc:docMk/>
            <pc:sldMk cId="0" sldId="260"/>
            <ac:spMk id="13" creationId="{00000000-0000-0000-0000-000000000000}"/>
          </ac:spMkLst>
        </pc:spChg>
      </pc:sldChg>
      <pc:sldChg chg="delSp modSp mod modNotesTx">
        <pc:chgData name="Diana Morgan" userId="334510fb-2733-47b8-b384-983263cb66bf" providerId="ADAL" clId="{34705DC1-99F8-4884-9D4F-8933909EB766}" dt="2026-09-12T08:58:47.375" v="5007" actId="20577"/>
        <pc:sldMkLst>
          <pc:docMk/>
          <pc:sldMk cId="0" sldId="261"/>
        </pc:sldMkLst>
        <pc:spChg chg="mod">
          <ac:chgData name="Diana Morgan" userId="334510fb-2733-47b8-b384-983263cb66bf" providerId="ADAL" clId="{34705DC1-99F8-4884-9D4F-8933909EB766}" dt="2026-09-12T08:57:27.162" v="5001" actId="1076"/>
          <ac:spMkLst>
            <pc:docMk/>
            <pc:sldMk cId="0" sldId="261"/>
            <ac:spMk id="10" creationId="{00000000-0000-0000-0000-000000000000}"/>
          </ac:spMkLst>
        </pc:spChg>
        <pc:spChg chg="mod">
          <ac:chgData name="Diana Morgan" userId="334510fb-2733-47b8-b384-983263cb66bf" providerId="ADAL" clId="{34705DC1-99F8-4884-9D4F-8933909EB766}" dt="2026-09-12T08:57:29.106" v="5002" actId="1076"/>
          <ac:spMkLst>
            <pc:docMk/>
            <pc:sldMk cId="0" sldId="261"/>
            <ac:spMk id="11" creationId="{00000000-0000-0000-0000-000000000000}"/>
          </ac:spMkLst>
        </pc:spChg>
        <pc:spChg chg="del">
          <ac:chgData name="Diana Morgan" userId="334510fb-2733-47b8-b384-983263cb66bf" providerId="ADAL" clId="{34705DC1-99F8-4884-9D4F-8933909EB766}" dt="2026-09-12T08:57:15.569" v="4998" actId="478"/>
          <ac:spMkLst>
            <pc:docMk/>
            <pc:sldMk cId="0" sldId="261"/>
            <ac:spMk id="12" creationId="{00000000-0000-0000-0000-000000000000}"/>
          </ac:spMkLst>
        </pc:spChg>
      </pc:sldChg>
      <pc:sldChg chg="delSp modSp mod modNotesTx">
        <pc:chgData name="Diana Morgan" userId="334510fb-2733-47b8-b384-983263cb66bf" providerId="ADAL" clId="{34705DC1-99F8-4884-9D4F-8933909EB766}" dt="2026-09-12T09:03:34.276" v="5401" actId="478"/>
        <pc:sldMkLst>
          <pc:docMk/>
          <pc:sldMk cId="0" sldId="262"/>
        </pc:sldMkLst>
        <pc:spChg chg="del mod">
          <ac:chgData name="Diana Morgan" userId="334510fb-2733-47b8-b384-983263cb66bf" providerId="ADAL" clId="{34705DC1-99F8-4884-9D4F-8933909EB766}" dt="2026-09-12T09:03:34.276" v="5401" actId="478"/>
          <ac:spMkLst>
            <pc:docMk/>
            <pc:sldMk cId="0" sldId="262"/>
            <ac:spMk id="5" creationId="{00000000-0000-0000-0000-000000000000}"/>
          </ac:spMkLst>
        </pc:spChg>
        <pc:spChg chg="mod">
          <ac:chgData name="Diana Morgan" userId="334510fb-2733-47b8-b384-983263cb66bf" providerId="ADAL" clId="{34705DC1-99F8-4884-9D4F-8933909EB766}" dt="2026-09-12T09:02:20.187" v="5378" actId="403"/>
          <ac:spMkLst>
            <pc:docMk/>
            <pc:sldMk cId="0" sldId="262"/>
            <ac:spMk id="6" creationId="{00000000-0000-0000-0000-000000000000}"/>
          </ac:spMkLst>
        </pc:spChg>
        <pc:spChg chg="mod">
          <ac:chgData name="Diana Morgan" userId="334510fb-2733-47b8-b384-983263cb66bf" providerId="ADAL" clId="{34705DC1-99F8-4884-9D4F-8933909EB766}" dt="2026-09-12T09:02:24.021" v="5379" actId="403"/>
          <ac:spMkLst>
            <pc:docMk/>
            <pc:sldMk cId="0" sldId="262"/>
            <ac:spMk id="7" creationId="{00000000-0000-0000-0000-000000000000}"/>
          </ac:spMkLst>
        </pc:spChg>
      </pc:sldChg>
      <pc:sldChg chg="delSp modSp mod modNotesTx">
        <pc:chgData name="Diana Morgan" userId="334510fb-2733-47b8-b384-983263cb66bf" providerId="ADAL" clId="{34705DC1-99F8-4884-9D4F-8933909EB766}" dt="2026-09-12T09:06:15.783" v="5527" actId="20577"/>
        <pc:sldMkLst>
          <pc:docMk/>
          <pc:sldMk cId="0" sldId="263"/>
        </pc:sldMkLst>
        <pc:spChg chg="mod">
          <ac:chgData name="Diana Morgan" userId="334510fb-2733-47b8-b384-983263cb66bf" providerId="ADAL" clId="{34705DC1-99F8-4884-9D4F-8933909EB766}" dt="2026-09-12T09:04:09.928" v="5402" actId="20577"/>
          <ac:spMkLst>
            <pc:docMk/>
            <pc:sldMk cId="0" sldId="263"/>
            <ac:spMk id="7" creationId="{00000000-0000-0000-0000-000000000000}"/>
          </ac:spMkLst>
        </pc:spChg>
        <pc:spChg chg="del">
          <ac:chgData name="Diana Morgan" userId="334510fb-2733-47b8-b384-983263cb66bf" providerId="ADAL" clId="{34705DC1-99F8-4884-9D4F-8933909EB766}" dt="2026-09-12T09:04:24" v="5403" actId="478"/>
          <ac:spMkLst>
            <pc:docMk/>
            <pc:sldMk cId="0" sldId="263"/>
            <ac:spMk id="8" creationId="{00000000-0000-0000-0000-000000000000}"/>
          </ac:spMkLst>
        </pc:spChg>
      </pc:sldChg>
      <pc:sldChg chg="modSp mod modNotesTx">
        <pc:chgData name="Diana Morgan" userId="334510fb-2733-47b8-b384-983263cb66bf" providerId="ADAL" clId="{34705DC1-99F8-4884-9D4F-8933909EB766}" dt="2026-09-12T09:22:36.466" v="5649" actId="20577"/>
        <pc:sldMkLst>
          <pc:docMk/>
          <pc:sldMk cId="0" sldId="264"/>
        </pc:sldMkLst>
        <pc:spChg chg="mod">
          <ac:chgData name="Diana Morgan" userId="334510fb-2733-47b8-b384-983263cb66bf" providerId="ADAL" clId="{34705DC1-99F8-4884-9D4F-8933909EB766}" dt="2026-09-12T09:14:28.632" v="5570" actId="403"/>
          <ac:spMkLst>
            <pc:docMk/>
            <pc:sldMk cId="0" sldId="264"/>
            <ac:spMk id="5" creationId="{00000000-0000-0000-0000-000000000000}"/>
          </ac:spMkLst>
        </pc:spChg>
      </pc:sldChg>
      <pc:sldChg chg="mod modShow modNotesTx">
        <pc:chgData name="Diana Morgan" userId="334510fb-2733-47b8-b384-983263cb66bf" providerId="ADAL" clId="{34705DC1-99F8-4884-9D4F-8933909EB766}" dt="2026-09-12T08:03:27.097" v="3153" actId="20577"/>
        <pc:sldMkLst>
          <pc:docMk/>
          <pc:sldMk cId="0" sldId="265"/>
        </pc:sldMkLst>
      </pc:sldChg>
      <pc:sldChg chg="modSp mod modShow modNotesTx">
        <pc:chgData name="Diana Morgan" userId="334510fb-2733-47b8-b384-983263cb66bf" providerId="ADAL" clId="{34705DC1-99F8-4884-9D4F-8933909EB766}" dt="2026-09-12T08:03:31.847" v="3156" actId="20577"/>
        <pc:sldMkLst>
          <pc:docMk/>
          <pc:sldMk cId="0" sldId="266"/>
        </pc:sldMkLst>
        <pc:spChg chg="mod">
          <ac:chgData name="Diana Morgan" userId="334510fb-2733-47b8-b384-983263cb66bf" providerId="ADAL" clId="{34705DC1-99F8-4884-9D4F-8933909EB766}" dt="2026-09-12T07:33:39.004" v="1421" actId="403"/>
          <ac:spMkLst>
            <pc:docMk/>
            <pc:sldMk cId="0" sldId="266"/>
            <ac:spMk id="5" creationId="{00000000-0000-0000-0000-000000000000}"/>
          </ac:spMkLst>
        </pc:spChg>
      </pc:sldChg>
      <pc:sldChg chg="modSp mod ord modNotesTx">
        <pc:chgData name="Diana Morgan" userId="334510fb-2733-47b8-b384-983263cb66bf" providerId="ADAL" clId="{34705DC1-99F8-4884-9D4F-8933909EB766}" dt="2026-09-12T08:38:36.430" v="3813" actId="20577"/>
        <pc:sldMkLst>
          <pc:docMk/>
          <pc:sldMk cId="0" sldId="267"/>
        </pc:sldMkLst>
        <pc:spChg chg="mod">
          <ac:chgData name="Diana Morgan" userId="334510fb-2733-47b8-b384-983263cb66bf" providerId="ADAL" clId="{34705DC1-99F8-4884-9D4F-8933909EB766}" dt="2026-09-12T08:22:39.171" v="3626" actId="14100"/>
          <ac:spMkLst>
            <pc:docMk/>
            <pc:sldMk cId="0" sldId="267"/>
            <ac:spMk id="5" creationId="{00000000-0000-0000-0000-000000000000}"/>
          </ac:spMkLst>
        </pc:spChg>
      </pc:sldChg>
      <pc:sldChg chg="mod modShow">
        <pc:chgData name="Diana Morgan" userId="334510fb-2733-47b8-b384-983263cb66bf" providerId="ADAL" clId="{34705DC1-99F8-4884-9D4F-8933909EB766}" dt="2026-09-12T08:27:54.257" v="3680" actId="729"/>
        <pc:sldMkLst>
          <pc:docMk/>
          <pc:sldMk cId="0" sldId="268"/>
        </pc:sldMkLst>
      </pc:sldChg>
      <pc:sldChg chg="mod modShow">
        <pc:chgData name="Diana Morgan" userId="334510fb-2733-47b8-b384-983263cb66bf" providerId="ADAL" clId="{34705DC1-99F8-4884-9D4F-8933909EB766}" dt="2026-09-12T08:11:10.959" v="3443" actId="729"/>
        <pc:sldMkLst>
          <pc:docMk/>
          <pc:sldMk cId="0" sldId="269"/>
        </pc:sldMkLst>
      </pc:sldChg>
      <pc:sldChg chg="mod modShow">
        <pc:chgData name="Diana Morgan" userId="334510fb-2733-47b8-b384-983263cb66bf" providerId="ADAL" clId="{34705DC1-99F8-4884-9D4F-8933909EB766}" dt="2026-09-12T08:11:12.277" v="3444" actId="729"/>
        <pc:sldMkLst>
          <pc:docMk/>
          <pc:sldMk cId="0" sldId="270"/>
        </pc:sldMkLst>
      </pc:sldChg>
      <pc:sldChg chg="delSp modSp add mod modNotesTx">
        <pc:chgData name="Diana Morgan" userId="334510fb-2733-47b8-b384-983263cb66bf" providerId="ADAL" clId="{34705DC1-99F8-4884-9D4F-8933909EB766}" dt="2026-09-12T08:56:28.354" v="4995" actId="20577"/>
        <pc:sldMkLst>
          <pc:docMk/>
          <pc:sldMk cId="2360089106" sldId="271"/>
        </pc:sldMkLst>
        <pc:spChg chg="mod">
          <ac:chgData name="Diana Morgan" userId="334510fb-2733-47b8-b384-983263cb66bf" providerId="ADAL" clId="{34705DC1-99F8-4884-9D4F-8933909EB766}" dt="2026-09-12T08:48:36.225" v="4313" actId="20577"/>
          <ac:spMkLst>
            <pc:docMk/>
            <pc:sldMk cId="2360089106" sldId="271"/>
            <ac:spMk id="2" creationId="{B54B6545-B7A1-85CC-E0AA-B296508CA065}"/>
          </ac:spMkLst>
        </pc:spChg>
        <pc:spChg chg="del">
          <ac:chgData name="Diana Morgan" userId="334510fb-2733-47b8-b384-983263cb66bf" providerId="ADAL" clId="{34705DC1-99F8-4884-9D4F-8933909EB766}" dt="2026-09-12T08:48:38.476" v="4314" actId="478"/>
          <ac:spMkLst>
            <pc:docMk/>
            <pc:sldMk cId="2360089106" sldId="271"/>
            <ac:spMk id="4" creationId="{46FA09AA-94D9-FC31-9DFD-1FC7A87E858E}"/>
          </ac:spMkLst>
        </pc:spChg>
        <pc:spChg chg="mod">
          <ac:chgData name="Diana Morgan" userId="334510fb-2733-47b8-b384-983263cb66bf" providerId="ADAL" clId="{34705DC1-99F8-4884-9D4F-8933909EB766}" dt="2026-09-12T08:50:10.645" v="4374" actId="20577"/>
          <ac:spMkLst>
            <pc:docMk/>
            <pc:sldMk cId="2360089106" sldId="271"/>
            <ac:spMk id="10" creationId="{172F484B-4239-9395-4383-04FB0B335E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030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4000 patients admitted to hospital with a heart failure and discharged alive. The data then follows up on them for up to 36 months recording death and censoring events (time in months),</a:t>
            </a:r>
          </a:p>
          <a:p>
            <a:r>
              <a:rPr lang="en-US" dirty="0"/>
              <a:t>after which all the remaining patient outcomes are censored.</a:t>
            </a:r>
          </a:p>
          <a:p>
            <a:endParaRPr lang="en-US" dirty="0"/>
          </a:p>
          <a:p>
            <a:r>
              <a:rPr lang="en-US" dirty="0"/>
              <a:t>There are 25 covariates available, composed of demographics, laboratory measurements, and prior conditions (e.g. hypertension) </a:t>
            </a:r>
          </a:p>
          <a:p>
            <a:endParaRPr lang="en-US" dirty="0"/>
          </a:p>
          <a:p>
            <a:r>
              <a:rPr lang="en-US" dirty="0"/>
              <a:t>About 1600 are dead at the end of the follow up, while accounting for censoring - a bit more then half survive to the end, with 75% alive at the end of one year. </a:t>
            </a:r>
          </a:p>
          <a:p>
            <a:endParaRPr lang="en-US" dirty="0"/>
          </a:p>
          <a:p>
            <a:r>
              <a:rPr lang="en-US" dirty="0"/>
              <a:t>Majority of censoring events are administrative – at the end of the follow up.</a:t>
            </a:r>
          </a:p>
          <a:p>
            <a:endParaRPr lang="en-US" dirty="0"/>
          </a:p>
          <a:p>
            <a:r>
              <a:rPr lang="en-US" dirty="0"/>
              <a:t>KM descends to 0.53 at the end of period, with steepest at the first few months, then close to linear.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the first project assignment which mostly dealt with the exploration of the data:</a:t>
            </a:r>
          </a:p>
          <a:p>
            <a:endParaRPr lang="en-US" dirty="0"/>
          </a:p>
          <a:p>
            <a:r>
              <a:rPr lang="en-US" dirty="0"/>
              <a:t>We have attempted different stratifications back in PA1 – sex and diabetes – which showed to separate nothing. </a:t>
            </a:r>
          </a:p>
          <a:p>
            <a:r>
              <a:rPr lang="en-US" dirty="0"/>
              <a:t>Our new, more insightful stratification is, as you can see, on age and discharge BUN levels split at the median.  As we can see on the graphs, older patients, as well as patients with higher BUN levels have worth outcomes. </a:t>
            </a:r>
          </a:p>
          <a:p>
            <a:r>
              <a:rPr lang="en-US" dirty="0"/>
              <a:t>Reminder that over all KM falls to about 0.53 at 36 months. </a:t>
            </a:r>
          </a:p>
          <a:p>
            <a:endParaRPr lang="en-US" dirty="0"/>
          </a:p>
          <a:p>
            <a:r>
              <a:rPr lang="en-US" dirty="0"/>
              <a:t>We see clear connection between (some) covariates and the outcome – it motivates later attempts at prediction rather well.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of the assignments moves on to modeling. The Cox model we settle on includes nine significant terms, including delta BUN – a term we constructed from the difference between discharge and intake BUN levels. </a:t>
            </a:r>
          </a:p>
          <a:p>
            <a:r>
              <a:rPr lang="en-US" dirty="0"/>
              <a:t>It has proven to be a useful predictor via a likelihood ratio test against a model with all the variables but it. Fit on all of the data.</a:t>
            </a:r>
          </a:p>
          <a:p>
            <a:endParaRPr lang="en-US" dirty="0"/>
          </a:p>
          <a:p>
            <a:r>
              <a:rPr lang="en-US" dirty="0"/>
              <a:t>We see the same terms that successfully stratified in part 1 are now hold high significance as predictors. </a:t>
            </a:r>
          </a:p>
          <a:p>
            <a:endParaRPr lang="en-US" dirty="0"/>
          </a:p>
          <a:p>
            <a:endParaRPr lang="en-US" dirty="0"/>
          </a:p>
          <a:p>
            <a:r>
              <a:rPr lang="en-US" dirty="0"/>
              <a:t>Cox assumes three things that will be relevant later: </a:t>
            </a:r>
          </a:p>
          <a:p>
            <a:endParaRPr lang="en-US" dirty="0"/>
          </a:p>
          <a:p>
            <a:r>
              <a:rPr lang="en-US" dirty="0"/>
              <a:t>Linearity (--- 60 -&gt; 70 age is same as 70 -&gt; 80 ---), </a:t>
            </a:r>
          </a:p>
          <a:p>
            <a:r>
              <a:rPr lang="en-US" dirty="0"/>
              <a:t>Additivity (--- No covariate modifies another’s effects (no interaction terms) ---)</a:t>
            </a:r>
          </a:p>
          <a:p>
            <a:r>
              <a:rPr lang="en-US" dirty="0"/>
              <a:t>Proportional Hazards (--- baseline hazard is independent of time, depends only on the covariates X ---)</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Of these we test the proportional hazards assumption with the </a:t>
            </a:r>
            <a:r>
              <a:rPr lang="en-001" sz="1200" b="0" kern="1200" dirty="0">
                <a:solidFill>
                  <a:schemeClr val="tx1"/>
                </a:solidFill>
                <a:effectLst/>
                <a:latin typeface="+mn-lt"/>
                <a:ea typeface="+mn-ea"/>
                <a:cs typeface="+mn-cs"/>
              </a:rPr>
              <a:t>Schoenfeld residual test</a:t>
            </a:r>
            <a:r>
              <a:rPr lang="en-US" sz="1200" b="0" kern="1200" dirty="0">
                <a:solidFill>
                  <a:schemeClr val="tx1"/>
                </a:solidFill>
                <a:effectLst/>
                <a:latin typeface="+mn-lt"/>
                <a:ea typeface="+mn-ea"/>
                <a:cs typeface="+mn-cs"/>
              </a:rPr>
              <a:t>, detecting two (mildly) significant variables – BUN discharge and length of stay, nothing drastic visible on the residual plots.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a:t>
            </a:r>
          </a:p>
          <a:p>
            <a:r>
              <a:rPr lang="en-US" dirty="0"/>
              <a:t>Reminders:</a:t>
            </a:r>
          </a:p>
          <a:p>
            <a:r>
              <a:rPr lang="en-US" dirty="0"/>
              <a:t>Cox models the hazard – not survival directly : h(t | X) = </a:t>
            </a:r>
            <a:r>
              <a:rPr lang="en-001" dirty="0"/>
              <a:t>h</a:t>
            </a:r>
            <a:r>
              <a:rPr lang="en-001" dirty="0">
                <a:effectLst/>
              </a:rPr>
              <a:t>0</a:t>
            </a:r>
            <a:r>
              <a:rPr lang="en-001" dirty="0"/>
              <a:t>​(t)</a:t>
            </a:r>
            <a:r>
              <a:rPr lang="en-US" dirty="0"/>
              <a:t> </a:t>
            </a:r>
            <a:r>
              <a:rPr lang="en-001" dirty="0"/>
              <a:t>exp(</a:t>
            </a:r>
            <a:r>
              <a:rPr lang="en-001" dirty="0">
                <a:effectLst/>
              </a:rPr>
              <a:t>β1</a:t>
            </a:r>
            <a:r>
              <a:rPr lang="en-US" dirty="0">
                <a:effectLst/>
              </a:rPr>
              <a:t> </a:t>
            </a:r>
            <a:r>
              <a:rPr lang="en-001" dirty="0"/>
              <a:t>​x</a:t>
            </a:r>
            <a:r>
              <a:rPr lang="en-001" dirty="0">
                <a:effectLst/>
              </a:rPr>
              <a:t>1</a:t>
            </a:r>
            <a:r>
              <a:rPr lang="en-001" dirty="0"/>
              <a:t>​+⋯+</a:t>
            </a:r>
            <a:r>
              <a:rPr lang="en-001" dirty="0">
                <a:effectLst/>
              </a:rPr>
              <a:t>βp</a:t>
            </a:r>
            <a:r>
              <a:rPr lang="en-001" dirty="0"/>
              <a:t>​</a:t>
            </a:r>
            <a:r>
              <a:rPr lang="en-US" dirty="0"/>
              <a:t> </a:t>
            </a:r>
            <a:r>
              <a:rPr lang="en-001" dirty="0" err="1"/>
              <a:t>x</a:t>
            </a:r>
            <a:r>
              <a:rPr lang="en-001" dirty="0" err="1">
                <a:effectLst/>
              </a:rPr>
              <a:t>p</a:t>
            </a:r>
            <a:r>
              <a:rPr lang="en-001" dirty="0"/>
              <a:t>​)</a:t>
            </a:r>
            <a:r>
              <a:rPr lang="en-US" dirty="0"/>
              <a:t> 	</a:t>
            </a:r>
            <a:r>
              <a:rPr lang="en-US" dirty="0" err="1">
                <a:effectLst/>
              </a:rPr>
              <a:t>S_hat</a:t>
            </a:r>
            <a:r>
              <a:rPr lang="en-US" dirty="0">
                <a:effectLst/>
              </a:rPr>
              <a:t> 0 </a:t>
            </a:r>
            <a:r>
              <a:rPr lang="en-001" dirty="0"/>
              <a:t>​(t)=e</a:t>
            </a:r>
            <a:r>
              <a:rPr lang="en-US" dirty="0"/>
              <a:t>^(</a:t>
            </a:r>
            <a:r>
              <a:rPr lang="en-001" dirty="0">
                <a:effectLst/>
              </a:rPr>
              <a:t>−H</a:t>
            </a:r>
            <a:r>
              <a:rPr lang="en-US" dirty="0">
                <a:effectLst/>
              </a:rPr>
              <a:t>_hat </a:t>
            </a:r>
            <a:r>
              <a:rPr lang="en-001" dirty="0">
                <a:effectLst/>
              </a:rPr>
              <a:t>0​</a:t>
            </a:r>
            <a:r>
              <a:rPr lang="en-US" dirty="0">
                <a:effectLst/>
              </a:rPr>
              <a:t> </a:t>
            </a:r>
            <a:r>
              <a:rPr lang="en-001" dirty="0">
                <a:effectLst/>
              </a:rPr>
              <a:t>(t)</a:t>
            </a:r>
            <a:r>
              <a:rPr lang="en-US" dirty="0">
                <a:effectLst/>
              </a:rPr>
              <a:t> )</a:t>
            </a:r>
            <a:endParaRPr lang="en-US" dirty="0"/>
          </a:p>
          <a:p>
            <a:endParaRPr lang="en-US" dirty="0"/>
          </a:p>
          <a:p>
            <a:r>
              <a:rPr lang="en-US" dirty="0"/>
              <a:t>Baseline hazard is not estimated, use partial likelihood to fit : (given exactly one death happened now – what’s the probability it was *this* patient out of the risk set). Baselines cancel out. </a:t>
            </a:r>
          </a:p>
          <a:p>
            <a:endParaRPr lang="en-US" dirty="0"/>
          </a:p>
          <a:p>
            <a:r>
              <a:rPr lang="en-001" dirty="0"/>
              <a:t>HR &gt; 1 is worse</a:t>
            </a:r>
            <a:r>
              <a:rPr lang="en-US" dirty="0"/>
              <a:t> </a:t>
            </a:r>
          </a:p>
          <a:p>
            <a:r>
              <a:rPr lang="en-US" dirty="0"/>
              <a:t>Example: Age HR = 1.044  -&gt;  4.4% higher hazard for one more year. 10 more years  -&gt;  1.044^10 = 1.55 = 55% higher hazard. </a:t>
            </a:r>
          </a:p>
          <a:p>
            <a:r>
              <a:rPr lang="en-US" dirty="0"/>
              <a:t> (hazards are </a:t>
            </a:r>
            <a:r>
              <a:rPr lang="en-001" dirty="0"/>
              <a:t>multiplicative</a:t>
            </a:r>
            <a:r>
              <a:rPr lang="en-US" dirty="0"/>
              <a:t>) </a:t>
            </a:r>
          </a:p>
          <a:p>
            <a:endParaRPr lang="en-US" dirty="0"/>
          </a:p>
          <a:p>
            <a:endParaRPr lang="en-US" dirty="0"/>
          </a:p>
          <a:p>
            <a:r>
              <a:rPr lang="en-US" dirty="0"/>
              <a:t>Concordance = </a:t>
            </a:r>
            <a:r>
              <a:rPr lang="en-001" dirty="0"/>
              <a:t>shown two patients, does the model correctly say which one dies sooner?</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001" dirty="0"/>
              <a:t>Where they disagree is high BUN. And there's almost nobody there — three quarters of patients have BUN under 39, but the axis runs to 236. So the whole visible disagreement happens in a corner of the plot holding a handful of people. Out there neither model has data, so each is just guessing in its own way.</a:t>
            </a:r>
            <a:endParaRPr lang="en-US" dirty="0"/>
          </a:p>
          <a:p>
            <a:endParaRPr lang="en-US" dirty="0"/>
          </a:p>
          <a:p>
            <a:endParaRPr lang="en-US" dirty="0"/>
          </a:p>
          <a:p>
            <a:endParaRPr lang="en-US" dirty="0"/>
          </a:p>
          <a:p>
            <a:r>
              <a:rPr lang="en-US" dirty="0"/>
              <a:t>------------------</a:t>
            </a:r>
          </a:p>
          <a:p>
            <a:r>
              <a:rPr lang="en-US" dirty="0"/>
              <a:t>Reminders:</a:t>
            </a:r>
          </a:p>
          <a:p>
            <a:r>
              <a:rPr lang="en-US" dirty="0"/>
              <a:t>AFT (accelerated failure time) models survival time :	 </a:t>
            </a:r>
            <a:r>
              <a:rPr lang="en-001" dirty="0" err="1"/>
              <a:t>lo</a:t>
            </a:r>
            <a:r>
              <a:rPr lang="en-001" dirty="0" err="1">
                <a:effectLst/>
              </a:rPr>
              <a:t>gT</a:t>
            </a:r>
            <a:r>
              <a:rPr lang="en-US" dirty="0">
                <a:effectLst/>
              </a:rPr>
              <a:t> </a:t>
            </a:r>
            <a:r>
              <a:rPr lang="en-001" dirty="0"/>
              <a:t>=</a:t>
            </a:r>
            <a:r>
              <a:rPr lang="en-US" dirty="0"/>
              <a:t> </a:t>
            </a:r>
            <a:r>
              <a:rPr lang="en-001" dirty="0"/>
              <a:t>μ+</a:t>
            </a:r>
            <a:r>
              <a:rPr lang="en-001" dirty="0">
                <a:effectLst/>
              </a:rPr>
              <a:t>βX</a:t>
            </a:r>
            <a:r>
              <a:rPr lang="en-US" dirty="0">
                <a:effectLst/>
              </a:rPr>
              <a:t> </a:t>
            </a:r>
            <a:r>
              <a:rPr lang="en-001" dirty="0"/>
              <a:t>+</a:t>
            </a:r>
            <a:r>
              <a:rPr lang="en-US" dirty="0"/>
              <a:t> </a:t>
            </a:r>
            <a:r>
              <a:rPr lang="en-001" dirty="0" err="1">
                <a:effectLst/>
              </a:rPr>
              <a:t>σW</a:t>
            </a:r>
            <a:r>
              <a:rPr lang="en-US" dirty="0">
                <a:effectLst/>
              </a:rPr>
              <a:t>    	</a:t>
            </a:r>
            <a:r>
              <a:rPr lang="en-001" dirty="0">
                <a:effectLst/>
              </a:rPr>
              <a:t>S</a:t>
            </a:r>
            <a:r>
              <a:rPr lang="en-001" dirty="0"/>
              <a:t>(t</a:t>
            </a:r>
            <a:r>
              <a:rPr lang="en-US" dirty="0"/>
              <a:t> </a:t>
            </a:r>
            <a:r>
              <a:rPr lang="en-001" dirty="0"/>
              <a:t>∣</a:t>
            </a:r>
            <a:r>
              <a:rPr lang="en-US" dirty="0"/>
              <a:t> </a:t>
            </a:r>
            <a:r>
              <a:rPr lang="en-001" dirty="0">
                <a:effectLst/>
              </a:rPr>
              <a:t>X</a:t>
            </a:r>
            <a:r>
              <a:rPr lang="en-001" dirty="0"/>
              <a:t>)</a:t>
            </a:r>
            <a:r>
              <a:rPr lang="en-US" dirty="0"/>
              <a:t> </a:t>
            </a:r>
            <a:r>
              <a:rPr lang="en-001" dirty="0"/>
              <a:t>=</a:t>
            </a:r>
            <a:r>
              <a:rPr lang="en-US" dirty="0"/>
              <a:t> </a:t>
            </a:r>
            <a:r>
              <a:rPr lang="en-001" dirty="0">
                <a:effectLst/>
              </a:rPr>
              <a:t>S0</a:t>
            </a:r>
            <a:r>
              <a:rPr lang="en-US" dirty="0">
                <a:effectLst/>
              </a:rPr>
              <a:t> </a:t>
            </a:r>
            <a:r>
              <a:rPr lang="en-001" dirty="0"/>
              <a:t>​</a:t>
            </a:r>
            <a:r>
              <a:rPr lang="en-001" dirty="0">
                <a:effectLst/>
              </a:rPr>
              <a:t>(</a:t>
            </a:r>
            <a:r>
              <a:rPr lang="en-US" dirty="0">
                <a:effectLst/>
              </a:rPr>
              <a:t>t / </a:t>
            </a:r>
            <a:r>
              <a:rPr lang="en-001" dirty="0">
                <a:effectLst/>
              </a:rPr>
              <a:t>exp(βX))</a:t>
            </a:r>
            <a:r>
              <a:rPr lang="en-US" dirty="0">
                <a:effectLst/>
              </a:rPr>
              <a:t> ; S0 – survival curve of reference patient (X = 0), 	</a:t>
            </a:r>
            <a:r>
              <a:rPr lang="en-001" dirty="0">
                <a:effectLst/>
              </a:rPr>
              <a:t>S0</a:t>
            </a:r>
            <a:r>
              <a:rPr lang="en-001" dirty="0"/>
              <a:t>​(u)=1−Φ</a:t>
            </a:r>
            <a:r>
              <a:rPr lang="en-001" dirty="0">
                <a:effectLst/>
              </a:rPr>
              <a:t>(</a:t>
            </a:r>
            <a:r>
              <a:rPr lang="en-US" dirty="0">
                <a:effectLst/>
              </a:rPr>
              <a:t>(</a:t>
            </a:r>
            <a:r>
              <a:rPr lang="en-001" dirty="0">
                <a:effectLst/>
              </a:rPr>
              <a:t>logu−μ0​</a:t>
            </a:r>
            <a:r>
              <a:rPr lang="en-001" dirty="0"/>
              <a:t>​</a:t>
            </a:r>
            <a:r>
              <a:rPr lang="en-US" dirty="0"/>
              <a:t>) / </a:t>
            </a:r>
            <a:r>
              <a:rPr lang="en-001" dirty="0">
                <a:effectLst/>
              </a:rPr>
              <a:t>σ)</a:t>
            </a:r>
            <a:r>
              <a:rPr lang="en-US" dirty="0">
                <a:effectLst/>
              </a:rPr>
              <a:t>. </a:t>
            </a:r>
          </a:p>
          <a:p>
            <a:r>
              <a:rPr lang="en-US" dirty="0">
                <a:effectLst/>
              </a:rPr>
              <a:t>In log-normal AFT W is normal distribution</a:t>
            </a:r>
          </a:p>
          <a:p>
            <a:endParaRPr lang="en-US" dirty="0"/>
          </a:p>
          <a:p>
            <a:r>
              <a:rPr lang="en-US" dirty="0"/>
              <a:t>I</a:t>
            </a:r>
            <a:r>
              <a:rPr lang="en-001" dirty="0"/>
              <a:t>n an AFT model there is only ever </a:t>
            </a:r>
            <a:r>
              <a:rPr lang="en-001" i="0" dirty="0"/>
              <a:t>one</a:t>
            </a:r>
            <a:r>
              <a:rPr lang="en-001" dirty="0"/>
              <a:t> survival curve. Every patient rides that same curve. Covariates change nothing about its shape — they only change </a:t>
            </a:r>
            <a:r>
              <a:rPr lang="en-001" b="0" dirty="0"/>
              <a:t>how fast you travel along it</a:t>
            </a:r>
            <a:r>
              <a:rPr lang="en-001" b="1" dirty="0"/>
              <a:t>.</a:t>
            </a:r>
            <a:endParaRPr lang="en-US" dirty="0"/>
          </a:p>
          <a:p>
            <a:endParaRPr lang="en-US" dirty="0"/>
          </a:p>
          <a:p>
            <a:r>
              <a:rPr lang="en-001" dirty="0"/>
              <a:t>ϕ=exp(</a:t>
            </a:r>
            <a:r>
              <a:rPr lang="en-001" dirty="0">
                <a:effectLst/>
              </a:rPr>
              <a:t>βX</a:t>
            </a:r>
            <a:r>
              <a:rPr lang="en-001" dirty="0"/>
              <a:t>) is that speed. ϕ=0.8 means this patient moves through the curve 1/0.8 = 1.25× faster than the reference. ϕ=1.2 would mean slower, i.e. better off</a:t>
            </a:r>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modify the questions we had in PA1 </a:t>
            </a:r>
          </a:p>
          <a:p>
            <a:endParaRPr lang="en-US" dirty="0"/>
          </a:p>
          <a:p>
            <a:r>
              <a:rPr lang="en-US" dirty="0"/>
              <a:t>(</a:t>
            </a:r>
          </a:p>
          <a:p>
            <a:r>
              <a:rPr lang="en-001" sz="1200" b="0" kern="1200" dirty="0">
                <a:solidFill>
                  <a:schemeClr val="tx1"/>
                </a:solidFill>
                <a:effectLst/>
                <a:latin typeface="+mn-lt"/>
                <a:ea typeface="+mn-ea"/>
                <a:cs typeface="+mn-cs"/>
              </a:rPr>
              <a:t>&gt; RQ1 (PA1). Does the difference between BUN on admission and on discharge have a significant effect on the survival outcome?</a:t>
            </a:r>
          </a:p>
          <a:p>
            <a:r>
              <a:rPr lang="en-001" sz="1200" b="0" kern="1200" dirty="0">
                <a:solidFill>
                  <a:schemeClr val="tx1"/>
                </a:solidFill>
                <a:effectLst/>
                <a:latin typeface="+mn-lt"/>
                <a:ea typeface="+mn-ea"/>
                <a:cs typeface="+mn-cs"/>
              </a:rPr>
              <a:t>&gt; RQ2 (PA1). Are there covariate interactions with a significant effect on the survival outcome?</a:t>
            </a:r>
          </a:p>
          <a:p>
            <a:r>
              <a:rPr lang="en-001" sz="1200" b="0" kern="1200" dirty="0">
                <a:solidFill>
                  <a:schemeClr val="tx1"/>
                </a:solidFill>
                <a:effectLst/>
                <a:latin typeface="+mn-lt"/>
                <a:ea typeface="+mn-ea"/>
                <a:cs typeface="+mn-cs"/>
              </a:rPr>
              <a:t>&gt; RQ3 (PA1). How accurately can survival be predicted at hospital discharge?</a:t>
            </a:r>
          </a:p>
          <a:p>
            <a:r>
              <a:rPr lang="en-US" dirty="0"/>
              <a:t>)</a:t>
            </a:r>
          </a:p>
          <a:p>
            <a:endParaRPr lang="en-US" dirty="0"/>
          </a:p>
          <a:p>
            <a:r>
              <a:rPr lang="en-US" dirty="0"/>
              <a:t>First one was answered in PA2.</a:t>
            </a:r>
          </a:p>
          <a:p>
            <a:r>
              <a:rPr lang="en-US" dirty="0"/>
              <a:t>Second one – testing 105 interactions is likely to give us something significant by chance, we concentrate on two specific interactions instead. </a:t>
            </a:r>
          </a:p>
          <a:p>
            <a:r>
              <a:rPr lang="en-US" dirty="0"/>
              <a:t>Third – still of interest, not yet addressed</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05D27-260A-695B-AA87-7523BB86E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CA485-14CD-CAFF-33BA-14A6E5479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4F6A84-B7E7-7B68-EA09-8BF422162055}"/>
              </a:ext>
            </a:extLst>
          </p:cNvPr>
          <p:cNvSpPr>
            <a:spLocks noGrp="1"/>
          </p:cNvSpPr>
          <p:nvPr>
            <p:ph type="body" idx="1"/>
          </p:nvPr>
        </p:nvSpPr>
        <p:spPr/>
        <p:txBody>
          <a:bodyPr/>
          <a:lstStyle/>
          <a:p>
            <a:r>
              <a:rPr lang="en-US" dirty="0"/>
              <a:t>RQ1: PA1's third question improved.</a:t>
            </a:r>
          </a:p>
          <a:p>
            <a:endParaRPr lang="en-US" dirty="0"/>
          </a:p>
          <a:p>
            <a:r>
              <a:rPr lang="en-US" dirty="0"/>
              <a:t>RQ2: We relax different assumptions as we move on to different models and observe what has a true effect on the modeling. This is especially motivated by mild but present PH violation we found earlier</a:t>
            </a:r>
          </a:p>
          <a:p>
            <a:endParaRPr lang="en-US" dirty="0"/>
          </a:p>
          <a:p>
            <a:r>
              <a:rPr lang="en-US" dirty="0"/>
              <a:t>RQ3: We select two specific interactions that make sense:</a:t>
            </a:r>
          </a:p>
          <a:p>
            <a:endParaRPr lang="en-US" dirty="0"/>
          </a:p>
          <a:p>
            <a:r>
              <a:rPr lang="en-US" dirty="0"/>
              <a:t>Delta-BUN with discharge BUN are likely to affect one another, as the change is likely to have different strange of effect on different numeric levels of BUN</a:t>
            </a:r>
          </a:p>
          <a:p>
            <a:r>
              <a:rPr lang="en-US" dirty="0"/>
              <a:t>Age with discharge BUN are the two strongest predictors – their potential interaction is the most interesting one to explore. </a:t>
            </a:r>
          </a:p>
        </p:txBody>
      </p:sp>
      <p:sp>
        <p:nvSpPr>
          <p:cNvPr id="4" name="Slide Number Placeholder 3">
            <a:extLst>
              <a:ext uri="{FF2B5EF4-FFF2-40B4-BE49-F238E27FC236}">
                <a16:creationId xmlns:a16="http://schemas.microsoft.com/office/drawing/2014/main" id="{2F906F26-0DA7-5047-E4F9-AA1C7BECFC1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32356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80/20, stratified by the event indicator so the event rate — 42.4% — is identical in both sets. 
Training 3,168 patients, 1,343 events, 748 deaths within 12 months. Test 793 patients, 336 events, 199 deaths within 12 months.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training patients only, with the full-data estimates alongside.</a:t>
            </a:r>
          </a:p>
          <a:p>
            <a:endParaRPr lang="en-US" dirty="0"/>
          </a:p>
          <a:p>
            <a:r>
              <a:rPr lang="en-US" dirty="0"/>
              <a:t>I wouldn’t waste our time going into it too deeply, the main point is – nothing has moved too significantly from the full data model, estimates are stable.</a:t>
            </a:r>
          </a:p>
          <a:p>
            <a:r>
              <a:rPr lang="en-US" dirty="0"/>
              <a:t>The exception is Potassium and Bilirubin losing significance – likely from widening of the confidence intervals. </a:t>
            </a:r>
          </a:p>
          <a:p>
            <a:endParaRPr lang="en-US" dirty="0"/>
          </a:p>
          <a:p>
            <a:r>
              <a:rPr lang="en-US" dirty="0"/>
              <a:t>Seven terms remain significant with essentially unchanged hazard ratios</a:t>
            </a:r>
          </a:p>
          <a:p>
            <a:endParaRPr lang="en-US" dirty="0"/>
          </a:p>
          <a:p>
            <a:endParaRPr lang="en-US" dirty="0"/>
          </a:p>
          <a:p>
            <a:r>
              <a:rPr lang="en-US" dirty="0"/>
              <a:t>(maybe: </a:t>
            </a:r>
            <a:r>
              <a:rPr lang="en-001" dirty="0"/>
              <a:t>"The hazard ratio below 1 isn't saying a rise in BUN is good — with discharge BUN already in the model, it's saying that starting higher is bad.“</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Schoenfeld test, </a:t>
            </a:r>
          </a:p>
          <a:p>
            <a:endParaRPr lang="en-US" dirty="0"/>
          </a:p>
          <a:p>
            <a:r>
              <a:rPr lang="en-US" dirty="0"/>
              <a:t>The training set is not independent data — it is four fifths of the same cohort. A hazard ratio that genuinely varied over follow-up would still vary in that subset. Flags that swap like this look like noise, especially so close to p-value </a:t>
            </a:r>
            <a:r>
              <a:rPr lang="en-US" dirty="0" err="1"/>
              <a:t>threshhold</a:t>
            </a:r>
            <a:endParaRPr lang="en-US" dirty="0"/>
          </a:p>
          <a:p>
            <a:r>
              <a:rPr lang="en-US" dirty="0"/>
              <a:t>We conclude that PH assumption likely holds. </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001" dirty="0"/>
              <a:t>In practical terms, the baseline one-year survival is </a:t>
            </a:r>
            <a:r>
              <a:rPr lang="en-US" dirty="0"/>
              <a:t>82</a:t>
            </a:r>
            <a:r>
              <a:rPr lang="en-001" dirty="0"/>
              <a:t>%. Because the covariates are centred, that corresponds to a patient with average characteristics in the training data, not to a patient for whom every covariate is zero.</a:t>
            </a:r>
          </a:p>
          <a:p>
            <a:r>
              <a:rPr lang="en-US" dirty="0"/>
              <a:t>The representative patient is medians for continuous covariates and the most common level for comorbidity burden.</a:t>
            </a:r>
          </a:p>
          <a:p>
            <a:endParaRPr lang="en-US" dirty="0"/>
          </a:p>
          <a:p>
            <a:r>
              <a:rPr lang="en-US" dirty="0"/>
              <a:t>The grids run from the 1st to the 99th percentile rather than min to max (remove extreme outliers): discharge BUN reaches 199.7 in the training set but its upper quartile is 38, so a full-range axis would spend most of its length where almost no patients are.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interquartile range  = Q3 – Q1 – middle 50%</a:t>
            </a:r>
          </a:p>
          <a:p>
            <a:endParaRPr lang="en-US" dirty="0"/>
          </a:p>
          <a:p>
            <a:r>
              <a:rPr lang="en-US" dirty="0"/>
              <a:t>So, age matters most for a typical patient, while discharge BUN dominates the plotted range because of its long right tail and matters most for the minority discharged with high values.</a:t>
            </a:r>
          </a:p>
          <a:p>
            <a:endParaRPr lang="en-US" dirty="0"/>
          </a:p>
          <a:p>
            <a:endParaRPr lang="en-US" dirty="0"/>
          </a:p>
          <a:p>
            <a:endParaRPr lang="en-US" dirty="0"/>
          </a:p>
          <a:p>
            <a:r>
              <a:rPr lang="en-001" dirty="0"/>
              <a:t>All three curves have the same basic shape: they decline and then level off. But that shape comes from the way the Cox model is specified; it is not something we learned from the data. The flexible models let us check whether the data actually support that pattern.</a:t>
            </a:r>
            <a:endParaRPr lang="en-US" dirty="0"/>
          </a:p>
          <a:p>
            <a:endParaRPr lang="en-US" dirty="0"/>
          </a:p>
          <a:p>
            <a:r>
              <a:rPr lang="en-US" dirty="0"/>
              <a:t>----------</a:t>
            </a:r>
          </a:p>
          <a:p>
            <a:pPr rtl="0"/>
            <a:r>
              <a:rPr lang="en-US" dirty="0"/>
              <a:t>Reminders</a:t>
            </a:r>
          </a:p>
          <a:p>
            <a:pPr rtl="0"/>
            <a:br>
              <a:rPr lang="en-US" dirty="0"/>
            </a:br>
            <a:r>
              <a:rPr lang="en-US" dirty="0"/>
              <a:t>Breslow baseline  :</a:t>
            </a:r>
          </a:p>
          <a:p>
            <a:pPr rtl="0"/>
            <a:endParaRPr lang="en-US" dirty="0"/>
          </a:p>
          <a:p>
            <a:pPr rtl="0"/>
            <a:r>
              <a:rPr lang="en-001" dirty="0"/>
              <a:t>go through the data and count deaths as they happen, but instead of counting each person at risk as one person, count them by how sick the model says they are. A high-risk patient counts as more than one. That gives you a curve for someone of average sickness.</a:t>
            </a:r>
          </a:p>
          <a:p>
            <a:pPr rtl="0"/>
            <a:r>
              <a:rPr lang="en-001" dirty="0"/>
              <a:t>Then you get any individual patient's prediction by pushing that curve down (for riskier patients) or up (for safer ones).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full covariate table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two stratifications PA1 started from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full sixteen-term refitted model with confidence intervals. Use for any coefficient question.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Schoenfeld residual panels from the training fit, first eight terms. Smoothers are flat almost everywhere, with none of the steady drift a genuinely time-varying hazard ratio would produce. The terms flagged by the formal test look no different by eye from the rest.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Schoenfeld residual panels from the training fit, remaining eight terms. Same reading — flat smoothers throughout.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874520"/>
            <a:ext cx="11057839" cy="1371600"/>
          </a:xfrm>
          <a:prstGeom prst="rect">
            <a:avLst/>
          </a:prstGeom>
          <a:noFill/>
          <a:ln/>
        </p:spPr>
        <p:txBody>
          <a:bodyPr wrap="square" lIns="0" tIns="0" rIns="0" bIns="0" rtlCol="0" anchor="ctr"/>
          <a:lstStyle/>
          <a:p>
            <a:pPr marL="0" indent="0" algn="l">
              <a:lnSpc>
                <a:spcPct val="108000"/>
              </a:lnSpc>
              <a:buNone/>
            </a:pPr>
            <a:r>
              <a:rPr lang="en-US" sz="4000" b="1" dirty="0">
                <a:solidFill>
                  <a:srgbClr val="1A1A1A"/>
                </a:solidFill>
                <a:latin typeface="Calibri" pitchFamily="34" charset="0"/>
                <a:ea typeface="Calibri" pitchFamily="34" charset="-122"/>
                <a:cs typeface="Calibri" pitchFamily="34" charset="-120"/>
              </a:rPr>
              <a:t>Predicting One-Year Survival</a:t>
            </a:r>
            <a:endParaRPr lang="en-US" sz="4000" dirty="0"/>
          </a:p>
          <a:p>
            <a:pPr marL="0" indent="0" algn="l">
              <a:lnSpc>
                <a:spcPct val="108000"/>
              </a:lnSpc>
              <a:buNone/>
            </a:pPr>
            <a:r>
              <a:rPr lang="en-US" sz="4000" b="1" dirty="0">
                <a:solidFill>
                  <a:srgbClr val="1A1A1A"/>
                </a:solidFill>
                <a:latin typeface="Calibri" pitchFamily="34" charset="0"/>
                <a:ea typeface="Calibri" pitchFamily="34" charset="-122"/>
                <a:cs typeface="Calibri" pitchFamily="34" charset="-120"/>
              </a:rPr>
              <a:t>After Hospital Discharge</a:t>
            </a:r>
            <a:endParaRPr lang="en-US" sz="4000" dirty="0"/>
          </a:p>
        </p:txBody>
      </p:sp>
      <p:sp>
        <p:nvSpPr>
          <p:cNvPr id="3" name="Text 1"/>
          <p:cNvSpPr txBox="1"/>
          <p:nvPr/>
        </p:nvSpPr>
        <p:spPr>
          <a:xfrm>
            <a:off x="566928" y="3346704"/>
            <a:ext cx="9960559" cy="365760"/>
          </a:xfrm>
          <a:prstGeom prst="rect">
            <a:avLst/>
          </a:prstGeom>
          <a:noFill/>
          <a:ln/>
        </p:spPr>
        <p:txBody>
          <a:bodyPr wrap="square" lIns="0" tIns="0" rIns="0" bIns="0" rtlCol="0" anchor="ctr"/>
          <a:lstStyle/>
          <a:p>
            <a:pPr marL="0" indent="0" algn="l">
              <a:buNone/>
            </a:pPr>
            <a:r>
              <a:rPr lang="en-US" sz="1700" dirty="0">
                <a:solidFill>
                  <a:srgbClr val="1A4E8A"/>
                </a:solidFill>
                <a:latin typeface="Calibri" pitchFamily="34" charset="0"/>
                <a:ea typeface="Calibri" pitchFamily="34" charset="-122"/>
                <a:cs typeface="Calibri" pitchFamily="34" charset="-120"/>
              </a:rPr>
              <a:t>A comparison of Cox regression, random survival forests, DeepSurv and Cox-Time</a:t>
            </a:r>
            <a:endParaRPr lang="en-US" sz="1700" dirty="0"/>
          </a:p>
        </p:txBody>
      </p:sp>
      <p:sp>
        <p:nvSpPr>
          <p:cNvPr id="4" name="Text 2"/>
          <p:cNvSpPr txBox="1"/>
          <p:nvPr/>
        </p:nvSpPr>
        <p:spPr>
          <a:xfrm>
            <a:off x="566928" y="4224528"/>
            <a:ext cx="11057839" cy="329184"/>
          </a:xfrm>
          <a:prstGeom prst="rect">
            <a:avLst/>
          </a:prstGeom>
          <a:noFill/>
          <a:ln/>
        </p:spPr>
        <p:txBody>
          <a:bodyPr wrap="square" lIns="0" tIns="0" rIns="0" bIns="0" rtlCol="0" anchor="ctr"/>
          <a:lstStyle/>
          <a:p>
            <a:pPr marL="0" indent="0" algn="l">
              <a:buNone/>
            </a:pPr>
            <a:r>
              <a:rPr lang="en-US" sz="2400" dirty="0">
                <a:solidFill>
                  <a:srgbClr val="3A3A3A"/>
                </a:solidFill>
                <a:latin typeface="Calibri" pitchFamily="34" charset="0"/>
                <a:ea typeface="Calibri" pitchFamily="34" charset="-122"/>
                <a:cs typeface="Calibri" pitchFamily="34" charset="-120"/>
              </a:rPr>
              <a:t>Oded Katz   ·   Diana Morgan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The cohort</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1</a:t>
            </a:r>
            <a:endParaRPr lang="en-US" sz="1000" dirty="0"/>
          </a:p>
        </p:txBody>
      </p:sp>
      <p:pic>
        <p:nvPicPr>
          <p:cNvPr id="4" name="Image 0" descr="/mnt/user-data/uploads/proj tasks/Final Project/figures/fig1_km_overall.png"/>
          <p:cNvPicPr>
            <a:picLocks noChangeAspect="1"/>
          </p:cNvPicPr>
          <p:nvPr/>
        </p:nvPicPr>
        <p:blipFill>
          <a:blip r:embed="rId3"/>
          <a:stretch>
            <a:fillRect/>
          </a:stretch>
        </p:blipFill>
        <p:spPr>
          <a:xfrm>
            <a:off x="7315200" y="1325880"/>
            <a:ext cx="4306824" cy="3085117"/>
          </a:xfrm>
          <a:prstGeom prst="rect">
            <a:avLst/>
          </a:prstGeom>
        </p:spPr>
      </p:pic>
      <p:sp>
        <p:nvSpPr>
          <p:cNvPr id="5" name="Text 2"/>
          <p:cNvSpPr txBox="1"/>
          <p:nvPr/>
        </p:nvSpPr>
        <p:spPr>
          <a:xfrm>
            <a:off x="7317943" y="4539013"/>
            <a:ext cx="4306824"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Overall survival: 0.53 at 36 months, about 0.75 at one year</a:t>
            </a:r>
            <a:endParaRPr lang="en-US" sz="1400" dirty="0"/>
          </a:p>
        </p:txBody>
      </p:sp>
      <p:sp>
        <p:nvSpPr>
          <p:cNvPr id="6" name="Text 3"/>
          <p:cNvSpPr txBox="1"/>
          <p:nvPr/>
        </p:nvSpPr>
        <p:spPr>
          <a:xfrm>
            <a:off x="566928" y="1325880"/>
            <a:ext cx="2002536" cy="566928"/>
          </a:xfrm>
          <a:prstGeom prst="rect">
            <a:avLst/>
          </a:prstGeom>
          <a:noFill/>
          <a:ln/>
        </p:spPr>
        <p:txBody>
          <a:bodyPr wrap="square" lIns="0" tIns="0" rIns="0" bIns="0" rtlCol="0" anchor="ctr"/>
          <a:lstStyle/>
          <a:p>
            <a:pPr marL="0" indent="0" algn="l">
              <a:buNone/>
            </a:pPr>
            <a:r>
              <a:rPr lang="en-US" sz="3200" b="1" dirty="0">
                <a:solidFill>
                  <a:srgbClr val="1A4E8A"/>
                </a:solidFill>
                <a:latin typeface="Calibri" pitchFamily="34" charset="0"/>
                <a:ea typeface="Calibri" pitchFamily="34" charset="-122"/>
                <a:cs typeface="Calibri" pitchFamily="34" charset="-120"/>
              </a:rPr>
              <a:t>3,961</a:t>
            </a:r>
            <a:endParaRPr lang="en-US" sz="3200" dirty="0"/>
          </a:p>
        </p:txBody>
      </p:sp>
      <p:sp>
        <p:nvSpPr>
          <p:cNvPr id="7" name="Text 4"/>
          <p:cNvSpPr txBox="1"/>
          <p:nvPr/>
        </p:nvSpPr>
        <p:spPr>
          <a:xfrm>
            <a:off x="566928" y="1929384"/>
            <a:ext cx="1975104" cy="548640"/>
          </a:xfrm>
          <a:prstGeom prst="rect">
            <a:avLst/>
          </a:prstGeom>
          <a:noFill/>
          <a:ln/>
        </p:spPr>
        <p:txBody>
          <a:bodyPr wrap="square" lIns="0" tIns="0" rIns="0" bIns="0" rtlCol="0" anchor="t"/>
          <a:lstStyle/>
          <a:p>
            <a:pPr marL="0" indent="0" algn="l">
              <a:buNone/>
            </a:pPr>
            <a:r>
              <a:rPr lang="en-US" sz="1300" dirty="0">
                <a:solidFill>
                  <a:srgbClr val="767676"/>
                </a:solidFill>
                <a:latin typeface="Calibri" pitchFamily="34" charset="0"/>
                <a:ea typeface="Calibri" pitchFamily="34" charset="-122"/>
                <a:cs typeface="Calibri" pitchFamily="34" charset="-120"/>
              </a:rPr>
              <a:t>patients discharged alive</a:t>
            </a:r>
            <a:endParaRPr lang="en-US" sz="1300" dirty="0"/>
          </a:p>
        </p:txBody>
      </p:sp>
      <p:sp>
        <p:nvSpPr>
          <p:cNvPr id="8" name="Text 5"/>
          <p:cNvSpPr txBox="1"/>
          <p:nvPr/>
        </p:nvSpPr>
        <p:spPr>
          <a:xfrm>
            <a:off x="2679192" y="1325880"/>
            <a:ext cx="2002536" cy="566928"/>
          </a:xfrm>
          <a:prstGeom prst="rect">
            <a:avLst/>
          </a:prstGeom>
          <a:noFill/>
          <a:ln/>
        </p:spPr>
        <p:txBody>
          <a:bodyPr wrap="square" lIns="0" tIns="0" rIns="0" bIns="0" rtlCol="0" anchor="ctr"/>
          <a:lstStyle/>
          <a:p>
            <a:pPr marL="0" indent="0" algn="l">
              <a:buNone/>
            </a:pPr>
            <a:r>
              <a:rPr lang="en-US" sz="3200" b="1" dirty="0">
                <a:solidFill>
                  <a:srgbClr val="1A4E8A"/>
                </a:solidFill>
                <a:latin typeface="Calibri" pitchFamily="34" charset="0"/>
                <a:ea typeface="Calibri" pitchFamily="34" charset="-122"/>
                <a:cs typeface="Calibri" pitchFamily="34" charset="-120"/>
              </a:rPr>
              <a:t>1,679</a:t>
            </a:r>
            <a:endParaRPr lang="en-US" sz="3200" dirty="0"/>
          </a:p>
        </p:txBody>
      </p:sp>
      <p:sp>
        <p:nvSpPr>
          <p:cNvPr id="9" name="Text 6"/>
          <p:cNvSpPr txBox="1"/>
          <p:nvPr/>
        </p:nvSpPr>
        <p:spPr>
          <a:xfrm>
            <a:off x="2679192" y="1929384"/>
            <a:ext cx="1975104" cy="548640"/>
          </a:xfrm>
          <a:prstGeom prst="rect">
            <a:avLst/>
          </a:prstGeom>
          <a:noFill/>
          <a:ln/>
        </p:spPr>
        <p:txBody>
          <a:bodyPr wrap="square" lIns="0" tIns="0" rIns="0" bIns="0" rtlCol="0" anchor="t"/>
          <a:lstStyle/>
          <a:p>
            <a:pPr marL="0" indent="0" algn="l">
              <a:buNone/>
            </a:pPr>
            <a:r>
              <a:rPr lang="en-US" sz="1300" dirty="0">
                <a:solidFill>
                  <a:srgbClr val="767676"/>
                </a:solidFill>
                <a:latin typeface="Calibri" pitchFamily="34" charset="0"/>
                <a:ea typeface="Calibri" pitchFamily="34" charset="-122"/>
                <a:cs typeface="Calibri" pitchFamily="34" charset="-120"/>
              </a:rPr>
              <a:t>deaths (42.4%)</a:t>
            </a:r>
            <a:endParaRPr lang="en-US" sz="1300" dirty="0"/>
          </a:p>
        </p:txBody>
      </p:sp>
      <p:sp>
        <p:nvSpPr>
          <p:cNvPr id="10" name="Text 7"/>
          <p:cNvSpPr txBox="1"/>
          <p:nvPr/>
        </p:nvSpPr>
        <p:spPr>
          <a:xfrm>
            <a:off x="4791456" y="1325880"/>
            <a:ext cx="2002536" cy="566928"/>
          </a:xfrm>
          <a:prstGeom prst="rect">
            <a:avLst/>
          </a:prstGeom>
          <a:noFill/>
          <a:ln/>
        </p:spPr>
        <p:txBody>
          <a:bodyPr wrap="square" lIns="0" tIns="0" rIns="0" bIns="0" rtlCol="0" anchor="ctr"/>
          <a:lstStyle/>
          <a:p>
            <a:pPr marL="0" indent="0" algn="l">
              <a:buNone/>
            </a:pPr>
            <a:r>
              <a:rPr lang="en-US" sz="3200" b="1" dirty="0">
                <a:solidFill>
                  <a:srgbClr val="1A4E8A"/>
                </a:solidFill>
                <a:latin typeface="Calibri" pitchFamily="34" charset="0"/>
                <a:ea typeface="Calibri" pitchFamily="34" charset="-122"/>
                <a:cs typeface="Calibri" pitchFamily="34" charset="-120"/>
              </a:rPr>
              <a:t>25.6</a:t>
            </a:r>
            <a:endParaRPr lang="en-US" sz="3200" dirty="0"/>
          </a:p>
        </p:txBody>
      </p:sp>
      <p:sp>
        <p:nvSpPr>
          <p:cNvPr id="11" name="Text 8"/>
          <p:cNvSpPr txBox="1"/>
          <p:nvPr/>
        </p:nvSpPr>
        <p:spPr>
          <a:xfrm>
            <a:off x="4791456" y="1929384"/>
            <a:ext cx="1975104" cy="548640"/>
          </a:xfrm>
          <a:prstGeom prst="rect">
            <a:avLst/>
          </a:prstGeom>
          <a:noFill/>
          <a:ln/>
        </p:spPr>
        <p:txBody>
          <a:bodyPr wrap="square" lIns="0" tIns="0" rIns="0" bIns="0" rtlCol="0" anchor="t"/>
          <a:lstStyle/>
          <a:p>
            <a:pPr marL="0" indent="0" algn="l">
              <a:buNone/>
            </a:pPr>
            <a:r>
              <a:rPr lang="en-US" sz="1300" dirty="0">
                <a:solidFill>
                  <a:srgbClr val="767676"/>
                </a:solidFill>
                <a:latin typeface="Calibri" pitchFamily="34" charset="0"/>
                <a:ea typeface="Calibri" pitchFamily="34" charset="-122"/>
                <a:cs typeface="Calibri" pitchFamily="34" charset="-120"/>
              </a:rPr>
              <a:t>months median follow-up</a:t>
            </a:r>
            <a:endParaRPr lang="en-US" sz="1300" dirty="0"/>
          </a:p>
        </p:txBody>
      </p:sp>
      <p:sp>
        <p:nvSpPr>
          <p:cNvPr id="12" name="Text 9"/>
          <p:cNvSpPr txBox="1"/>
          <p:nvPr/>
        </p:nvSpPr>
        <p:spPr>
          <a:xfrm>
            <a:off x="566928" y="2880360"/>
            <a:ext cx="6336792" cy="2011680"/>
          </a:xfrm>
          <a:prstGeom prst="rect">
            <a:avLst/>
          </a:prstGeom>
          <a:noFill/>
          <a:ln/>
        </p:spPr>
        <p:txBody>
          <a:bodyPr wrap="square" lIns="0" tIns="0" rIns="0" bIns="0" rtlCol="0" anchor="ctr"/>
          <a:lstStyle/>
          <a:p>
            <a:pPr marL="342900" indent="-342900" algn="l">
              <a:spcAft>
                <a:spcPts val="1600"/>
              </a:spcAft>
              <a:buSzPct val="100000"/>
              <a:buChar char="•"/>
            </a:pPr>
            <a:r>
              <a:rPr lang="en-US" sz="1600" dirty="0">
                <a:solidFill>
                  <a:srgbClr val="3A3A3A"/>
                </a:solidFill>
                <a:latin typeface="Calibri" pitchFamily="34" charset="0"/>
                <a:ea typeface="Calibri" pitchFamily="34" charset="-122"/>
                <a:cs typeface="Calibri" pitchFamily="34" charset="-120"/>
              </a:rPr>
              <a:t>Acute decompensated heart failure, discharged alive; 25 covariates known at discharge</a:t>
            </a:r>
            <a:endParaRPr lang="en-US" sz="1600" dirty="0"/>
          </a:p>
          <a:p>
            <a:pPr marL="342900" indent="-342900" algn="l">
              <a:spcAft>
                <a:spcPts val="1600"/>
              </a:spcAft>
              <a:buSzPct val="100000"/>
              <a:buChar char="•"/>
            </a:pPr>
            <a:r>
              <a:rPr lang="en-US" sz="1600" dirty="0">
                <a:solidFill>
                  <a:srgbClr val="3A3A3A"/>
                </a:solidFill>
                <a:latin typeface="Calibri" pitchFamily="34" charset="0"/>
                <a:ea typeface="Calibri" pitchFamily="34" charset="-122"/>
                <a:cs typeface="Calibri" pitchFamily="34" charset="-120"/>
              </a:rPr>
              <a:t>Event: death from any cause, time in months from discharge</a:t>
            </a:r>
            <a:endParaRPr lang="en-US" sz="1600" dirty="0"/>
          </a:p>
          <a:p>
            <a:pPr marL="342900" indent="-342900" algn="l">
              <a:spcAft>
                <a:spcPts val="1600"/>
              </a:spcAft>
              <a:buSzPct val="100000"/>
              <a:buChar char="•"/>
            </a:pPr>
            <a:r>
              <a:rPr lang="en-US" sz="1600" dirty="0">
                <a:solidFill>
                  <a:srgbClr val="3A3A3A"/>
                </a:solidFill>
                <a:latin typeface="Calibri" pitchFamily="34" charset="0"/>
                <a:ea typeface="Calibri" pitchFamily="34" charset="-122"/>
                <a:cs typeface="Calibri" pitchFamily="34" charset="-120"/>
              </a:rPr>
              <a:t>Administrative censoring at 36 months — 1,473 of the 2,282 censored patients end there</a:t>
            </a:r>
            <a:endParaRPr lang="en-US" sz="1600" dirty="0"/>
          </a:p>
        </p:txBody>
      </p:sp>
      <p:sp>
        <p:nvSpPr>
          <p:cNvPr id="13" name="Text 10"/>
          <p:cNvSpPr txBox="1"/>
          <p:nvPr/>
        </p:nvSpPr>
        <p:spPr>
          <a:xfrm>
            <a:off x="566928" y="5138928"/>
            <a:ext cx="6336792"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Median age 76  ·  46.5% women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PA1: Exploration</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2</a:t>
            </a:r>
            <a:endParaRPr lang="en-US" sz="1000" dirty="0"/>
          </a:p>
        </p:txBody>
      </p:sp>
      <p:sp>
        <p:nvSpPr>
          <p:cNvPr id="4" name="Text 2"/>
          <p:cNvSpPr txBox="1"/>
          <p:nvPr/>
        </p:nvSpPr>
        <p:spPr>
          <a:xfrm>
            <a:off x="566928" y="1024128"/>
            <a:ext cx="11057839" cy="329184"/>
          </a:xfrm>
          <a:prstGeom prst="rect">
            <a:avLst/>
          </a:prstGeom>
          <a:noFill/>
          <a:ln/>
        </p:spPr>
        <p:txBody>
          <a:bodyPr wrap="square" lIns="0" tIns="0" rIns="0" bIns="0" rtlCol="0" anchor="ctr"/>
          <a:lstStyle/>
          <a:p>
            <a:pPr marL="0" indent="0">
              <a:buNone/>
            </a:pPr>
            <a:r>
              <a:rPr lang="en-US" sz="1700" b="1" dirty="0">
                <a:solidFill>
                  <a:srgbClr val="1A4E8A"/>
                </a:solidFill>
                <a:latin typeface="Calibri" pitchFamily="34" charset="0"/>
                <a:ea typeface="Calibri" pitchFamily="34" charset="-122"/>
                <a:cs typeface="Calibri" pitchFamily="34" charset="-120"/>
              </a:rPr>
              <a:t>One-year survival differs by 0.18 across age and by 0.13 across discharge BUN</a:t>
            </a:r>
            <a:endParaRPr lang="en-US" sz="1700" dirty="0"/>
          </a:p>
        </p:txBody>
      </p:sp>
      <p:pic>
        <p:nvPicPr>
          <p:cNvPr id="5" name="Image 0" descr="/mnt/user-data/uploads/proj tasks/Final Project/figures/fig3_km_age_bun.png"/>
          <p:cNvPicPr>
            <a:picLocks noChangeAspect="1"/>
          </p:cNvPicPr>
          <p:nvPr/>
        </p:nvPicPr>
        <p:blipFill>
          <a:blip r:embed="rId3"/>
          <a:stretch>
            <a:fillRect/>
          </a:stretch>
        </p:blipFill>
        <p:spPr>
          <a:xfrm>
            <a:off x="566928" y="1517904"/>
            <a:ext cx="11057839" cy="4012278"/>
          </a:xfrm>
          <a:prstGeom prst="rect">
            <a:avLst/>
          </a:prstGeom>
        </p:spPr>
      </p:pic>
      <p:sp>
        <p:nvSpPr>
          <p:cNvPr id="6" name="Text 3"/>
          <p:cNvSpPr txBox="1"/>
          <p:nvPr/>
        </p:nvSpPr>
        <p:spPr>
          <a:xfrm>
            <a:off x="566928" y="5658198"/>
            <a:ext cx="11057839" cy="605442"/>
          </a:xfrm>
          <a:prstGeom prst="rect">
            <a:avLst/>
          </a:prstGeom>
          <a:noFill/>
          <a:ln/>
        </p:spPr>
        <p:txBody>
          <a:bodyPr wrap="square" lIns="0" tIns="0" rIns="0" bIns="0" rtlCol="0" anchor="ctr"/>
          <a:lstStyle/>
          <a:p>
            <a:pPr marL="0" indent="0" algn="l">
              <a:buNone/>
            </a:pPr>
            <a:r>
              <a:rPr lang="en-US" sz="1600" dirty="0">
                <a:solidFill>
                  <a:srgbClr val="767676"/>
                </a:solidFill>
                <a:latin typeface="Calibri" pitchFamily="34" charset="0"/>
                <a:ea typeface="Calibri" pitchFamily="34" charset="-122"/>
                <a:cs typeface="Calibri" pitchFamily="34" charset="-120"/>
              </a:rPr>
              <a:t>Split at the medians of age (76 years) and discharge BUN (28 mg/dL). </a:t>
            </a:r>
          </a:p>
          <a:p>
            <a:pPr marL="0" indent="0" algn="l">
              <a:buNone/>
            </a:pPr>
            <a:r>
              <a:rPr lang="en-US" sz="1600" dirty="0">
                <a:solidFill>
                  <a:srgbClr val="767676"/>
                </a:solidFill>
                <a:latin typeface="Calibri" pitchFamily="34" charset="0"/>
                <a:ea typeface="Calibri" pitchFamily="34" charset="-122"/>
                <a:cs typeface="Calibri" pitchFamily="34" charset="-120"/>
              </a:rPr>
              <a:t>Sex and diabetes, the stratifications our PA1 started from, separate nothing.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PA2: Cox model</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3</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5760720" cy="3429000"/>
        </p:xfrm>
        <a:graphic>
          <a:graphicData uri="http://schemas.openxmlformats.org/drawingml/2006/table">
            <a:tbl>
              <a:tblPr/>
              <a:tblGrid>
                <a:gridCol w="3017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42900">
                <a:tc>
                  <a:txBody>
                    <a:bodyPr/>
                    <a:lstStyle/>
                    <a:p>
                      <a:pPr marL="0" indent="0" algn="l">
                        <a:buNone/>
                      </a:pPr>
                      <a:r>
                        <a:rPr lang="en-US" sz="1400" b="1" dirty="0">
                          <a:solidFill>
                            <a:srgbClr val="1A1A1A"/>
                          </a:solidFill>
                          <a:latin typeface="Calibri" pitchFamily="34" charset="0"/>
                          <a:ea typeface="Calibri" pitchFamily="34" charset="-122"/>
                          <a:cs typeface="Calibri" pitchFamily="34" charset="-120"/>
                        </a:rPr>
                        <a:t>Covariate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400" b="1" dirty="0">
                          <a:solidFill>
                            <a:srgbClr val="1A1A1A"/>
                          </a:solidFill>
                          <a:latin typeface="Calibri" pitchFamily="34" charset="0"/>
                          <a:ea typeface="Calibri" pitchFamily="34" charset="-122"/>
                          <a:cs typeface="Calibri" pitchFamily="34" charset="-120"/>
                        </a:rPr>
                        <a:t>HR</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400" b="1" dirty="0">
                          <a:solidFill>
                            <a:srgbClr val="1A1A1A"/>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Age (per year)</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1.044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BUN, discharge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1.021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Sodium</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0.973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BNP</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1.0002</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ΔBUN</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0.990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RDW</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1.120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Length of stay</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1.009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Bilirubin</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1.121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0.037</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Potassium</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0.914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0.038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4" name="Text 2"/>
          <p:cNvSpPr txBox="1"/>
          <p:nvPr/>
        </p:nvSpPr>
        <p:spPr>
          <a:xfrm>
            <a:off x="566928" y="4864608"/>
            <a:ext cx="5760720"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+ 7 terms not associated with survival in any fit</a:t>
            </a:r>
            <a:endParaRPr lang="en-US" sz="1400" dirty="0"/>
          </a:p>
        </p:txBody>
      </p:sp>
      <p:sp>
        <p:nvSpPr>
          <p:cNvPr id="6" name="Text 3"/>
          <p:cNvSpPr txBox="1"/>
          <p:nvPr/>
        </p:nvSpPr>
        <p:spPr>
          <a:xfrm>
            <a:off x="566928" y="5175504"/>
            <a:ext cx="5760720"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In-sample concordance 0.694</a:t>
            </a:r>
            <a:endParaRPr lang="en-US" sz="1400" dirty="0"/>
          </a:p>
        </p:txBody>
      </p:sp>
      <p:sp>
        <p:nvSpPr>
          <p:cNvPr id="7" name="Text 4"/>
          <p:cNvSpPr txBox="1"/>
          <p:nvPr/>
        </p:nvSpPr>
        <p:spPr>
          <a:xfrm>
            <a:off x="7104888" y="1417320"/>
            <a:ext cx="4519879" cy="292608"/>
          </a:xfrm>
          <a:prstGeom prst="rect">
            <a:avLst/>
          </a:prstGeom>
          <a:noFill/>
          <a:ln/>
        </p:spPr>
        <p:txBody>
          <a:bodyPr wrap="square" lIns="0" tIns="0" rIns="0" bIns="0" rtlCol="0" anchor="ctr"/>
          <a:lstStyle/>
          <a:p>
            <a:pPr marL="0" indent="0">
              <a:buNone/>
            </a:pPr>
            <a:r>
              <a:rPr lang="en-US" sz="1600" b="1" dirty="0">
                <a:solidFill>
                  <a:srgbClr val="1A4E8A"/>
                </a:solidFill>
                <a:latin typeface="Calibri" pitchFamily="34" charset="0"/>
                <a:ea typeface="Calibri" pitchFamily="34" charset="-122"/>
                <a:cs typeface="Calibri" pitchFamily="34" charset="-120"/>
              </a:rPr>
              <a:t>ΔBUN adds information</a:t>
            </a:r>
            <a:endParaRPr lang="en-US" sz="1600" dirty="0"/>
          </a:p>
        </p:txBody>
      </p:sp>
      <p:sp>
        <p:nvSpPr>
          <p:cNvPr id="8" name="Text 5"/>
          <p:cNvSpPr txBox="1"/>
          <p:nvPr/>
        </p:nvSpPr>
        <p:spPr>
          <a:xfrm>
            <a:off x="7104888" y="1746504"/>
            <a:ext cx="4519879" cy="603504"/>
          </a:xfrm>
          <a:prstGeom prst="rect">
            <a:avLst/>
          </a:prstGeom>
          <a:noFill/>
          <a:ln/>
        </p:spPr>
        <p:txBody>
          <a:bodyPr wrap="square" lIns="0" tIns="0" rIns="0" bIns="0" rtlCol="0" anchor="ctr"/>
          <a:lstStyle/>
          <a:p>
            <a:pPr marL="0" indent="0">
              <a:buNone/>
            </a:pPr>
            <a:r>
              <a:rPr lang="en-US" sz="1400" dirty="0">
                <a:solidFill>
                  <a:srgbClr val="3A3A3A"/>
                </a:solidFill>
                <a:latin typeface="Calibri" pitchFamily="34" charset="0"/>
                <a:ea typeface="Calibri" pitchFamily="34" charset="-122"/>
                <a:cs typeface="Calibri" pitchFamily="34" charset="-120"/>
              </a:rPr>
              <a:t>Likelihood ratio 27.63 on 1 df,  p = 1.5 × 10⁻⁷</a:t>
            </a:r>
            <a:endParaRPr lang="en-US" sz="1400" dirty="0"/>
          </a:p>
        </p:txBody>
      </p:sp>
      <p:sp>
        <p:nvSpPr>
          <p:cNvPr id="9" name="Text 6"/>
          <p:cNvSpPr txBox="1"/>
          <p:nvPr/>
        </p:nvSpPr>
        <p:spPr>
          <a:xfrm>
            <a:off x="7104888" y="2807208"/>
            <a:ext cx="4519879" cy="292608"/>
          </a:xfrm>
          <a:prstGeom prst="rect">
            <a:avLst/>
          </a:prstGeom>
          <a:noFill/>
          <a:ln/>
        </p:spPr>
        <p:txBody>
          <a:bodyPr wrap="square" lIns="0" tIns="0" rIns="0" bIns="0" rtlCol="0" anchor="ctr"/>
          <a:lstStyle/>
          <a:p>
            <a:pPr marL="0" indent="0">
              <a:buNone/>
            </a:pPr>
            <a:r>
              <a:rPr lang="en-US" sz="1600" b="1" dirty="0">
                <a:solidFill>
                  <a:srgbClr val="1A4E8A"/>
                </a:solidFill>
                <a:latin typeface="Calibri" pitchFamily="34" charset="0"/>
                <a:ea typeface="Calibri" pitchFamily="34" charset="-122"/>
                <a:cs typeface="Calibri" pitchFamily="34" charset="-120"/>
              </a:rPr>
              <a:t>Proportional hazards possible mild violations</a:t>
            </a:r>
            <a:endParaRPr lang="en-US" sz="1600" dirty="0"/>
          </a:p>
        </p:txBody>
      </p:sp>
      <p:sp>
        <p:nvSpPr>
          <p:cNvPr id="10" name="Text 7"/>
          <p:cNvSpPr txBox="1"/>
          <p:nvPr/>
        </p:nvSpPr>
        <p:spPr>
          <a:xfrm>
            <a:off x="7104888" y="3136392"/>
            <a:ext cx="4519879" cy="603504"/>
          </a:xfrm>
          <a:prstGeom prst="rect">
            <a:avLst/>
          </a:prstGeom>
          <a:noFill/>
          <a:ln/>
        </p:spPr>
        <p:txBody>
          <a:bodyPr wrap="square" lIns="0" tIns="0" rIns="0" bIns="0" rtlCol="0" anchor="ctr"/>
          <a:lstStyle/>
          <a:p>
            <a:pPr marL="0" indent="0">
              <a:buNone/>
            </a:pPr>
            <a:r>
              <a:rPr lang="en-US" sz="1400" dirty="0">
                <a:solidFill>
                  <a:srgbClr val="3A3A3A"/>
                </a:solidFill>
                <a:latin typeface="Calibri" pitchFamily="34" charset="0"/>
                <a:ea typeface="Calibri" pitchFamily="34" charset="-122"/>
                <a:cs typeface="Calibri" pitchFamily="34" charset="-120"/>
              </a:rPr>
              <a:t>Schoenfeld flags discharge BUN (0.036) and length of stay (0.048)</a:t>
            </a:r>
            <a:endParaRPr lang="en-US" sz="1400" dirty="0"/>
          </a:p>
        </p:txBody>
      </p:sp>
      <p:sp>
        <p:nvSpPr>
          <p:cNvPr id="11" name="Text 8"/>
          <p:cNvSpPr txBox="1"/>
          <p:nvPr/>
        </p:nvSpPr>
        <p:spPr>
          <a:xfrm>
            <a:off x="7104888" y="4197096"/>
            <a:ext cx="4519879" cy="292608"/>
          </a:xfrm>
          <a:prstGeom prst="rect">
            <a:avLst/>
          </a:prstGeom>
          <a:noFill/>
          <a:ln/>
        </p:spPr>
        <p:txBody>
          <a:bodyPr wrap="square" lIns="0" tIns="0" rIns="0" bIns="0" rtlCol="0" anchor="ctr"/>
          <a:lstStyle/>
          <a:p>
            <a:pPr marL="0" indent="0">
              <a:buNone/>
            </a:pPr>
            <a:r>
              <a:rPr lang="en-US" sz="1600" b="1" dirty="0">
                <a:solidFill>
                  <a:srgbClr val="1A4E8A"/>
                </a:solidFill>
                <a:latin typeface="Calibri" pitchFamily="34" charset="0"/>
                <a:ea typeface="Calibri" pitchFamily="34" charset="-122"/>
                <a:cs typeface="Calibri" pitchFamily="34" charset="-120"/>
              </a:rPr>
              <a:t>Log-normal AFT agrees</a:t>
            </a:r>
            <a:endParaRPr lang="en-US" sz="1600" dirty="0"/>
          </a:p>
        </p:txBody>
      </p:sp>
      <p:sp>
        <p:nvSpPr>
          <p:cNvPr id="12" name="Text 9"/>
          <p:cNvSpPr txBox="1"/>
          <p:nvPr/>
        </p:nvSpPr>
        <p:spPr>
          <a:xfrm>
            <a:off x="7104888" y="4526280"/>
            <a:ext cx="4519879" cy="603504"/>
          </a:xfrm>
          <a:prstGeom prst="rect">
            <a:avLst/>
          </a:prstGeom>
          <a:noFill/>
          <a:ln/>
        </p:spPr>
        <p:txBody>
          <a:bodyPr wrap="square" lIns="0" tIns="0" rIns="0" bIns="0" rtlCol="0" anchor="ctr"/>
          <a:lstStyle/>
          <a:p>
            <a:pPr marL="0" indent="0">
              <a:buNone/>
            </a:pPr>
            <a:r>
              <a:rPr lang="en-US" sz="1400" dirty="0">
                <a:solidFill>
                  <a:srgbClr val="3A3A3A"/>
                </a:solidFill>
                <a:latin typeface="Calibri" pitchFamily="34" charset="0"/>
                <a:ea typeface="Calibri" pitchFamily="34" charset="-122"/>
                <a:cs typeface="Calibri" pitchFamily="34" charset="-120"/>
              </a:rPr>
              <a:t>Same directions throughout; the two diverge only in the BUN tail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PA2: Cox against the log-normal AFT model</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mnt/user-data/uploads/proj tasks/Final Project/figures/fig4_cox_vs_aft.png"/>
          <p:cNvPicPr>
            <a:picLocks noChangeAspect="1"/>
          </p:cNvPicPr>
          <p:nvPr/>
        </p:nvPicPr>
        <p:blipFill>
          <a:blip r:embed="rId3"/>
          <a:stretch>
            <a:fillRect/>
          </a:stretch>
        </p:blipFill>
        <p:spPr>
          <a:xfrm>
            <a:off x="566928" y="1920240"/>
            <a:ext cx="11057839" cy="3114007"/>
          </a:xfrm>
          <a:prstGeom prst="rect">
            <a:avLst/>
          </a:prstGeom>
        </p:spPr>
      </p:pic>
      <p:sp>
        <p:nvSpPr>
          <p:cNvPr id="5" name="Text 2"/>
          <p:cNvSpPr txBox="1"/>
          <p:nvPr/>
        </p:nvSpPr>
        <p:spPr>
          <a:xfrm>
            <a:off x="566928" y="5262846"/>
            <a:ext cx="11396472" cy="375953"/>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Full observed range. The two agree for age, separate slightly for RDW, and diverge for discharge BUN — where three quarters of patients sit below 39 mg/dL.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Research questions – Old Versions</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66928" y="19019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1</a:t>
            </a:r>
            <a:endParaRPr lang="en-US" sz="2800" dirty="0"/>
          </a:p>
        </p:txBody>
      </p:sp>
      <p:sp>
        <p:nvSpPr>
          <p:cNvPr id="6" name="Text 4"/>
          <p:cNvSpPr txBox="1"/>
          <p:nvPr/>
        </p:nvSpPr>
        <p:spPr>
          <a:xfrm>
            <a:off x="1207008" y="1965960"/>
            <a:ext cx="10743692" cy="640080"/>
          </a:xfrm>
          <a:prstGeom prst="rect">
            <a:avLst/>
          </a:prstGeom>
          <a:noFill/>
          <a:ln/>
        </p:spPr>
        <p:txBody>
          <a:bodyPr wrap="square" lIns="0" tIns="0" rIns="0" bIns="0" rtlCol="0" anchor="t"/>
          <a:lstStyle/>
          <a:p>
            <a:r>
              <a:rPr lang="en-001" dirty="0"/>
              <a:t>Does the difference between BUN on admission and on discharge have a significant effect on the survival outcome?</a:t>
            </a:r>
          </a:p>
        </p:txBody>
      </p:sp>
      <p:sp>
        <p:nvSpPr>
          <p:cNvPr id="7" name="Text 5"/>
          <p:cNvSpPr txBox="1"/>
          <p:nvPr/>
        </p:nvSpPr>
        <p:spPr>
          <a:xfrm>
            <a:off x="1207008" y="24414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Answered in PA2</a:t>
            </a:r>
            <a:endParaRPr lang="en-US" sz="1300" dirty="0"/>
          </a:p>
        </p:txBody>
      </p:sp>
      <p:sp>
        <p:nvSpPr>
          <p:cNvPr id="8" name="Text 6"/>
          <p:cNvSpPr txBox="1"/>
          <p:nvPr/>
        </p:nvSpPr>
        <p:spPr>
          <a:xfrm>
            <a:off x="566928" y="32735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2</a:t>
            </a:r>
            <a:endParaRPr lang="en-US" sz="2800" dirty="0"/>
          </a:p>
        </p:txBody>
      </p:sp>
      <p:sp>
        <p:nvSpPr>
          <p:cNvPr id="9" name="Text 7"/>
          <p:cNvSpPr txBox="1"/>
          <p:nvPr/>
        </p:nvSpPr>
        <p:spPr>
          <a:xfrm>
            <a:off x="1207008" y="3337560"/>
            <a:ext cx="10417759" cy="640080"/>
          </a:xfrm>
          <a:prstGeom prst="rect">
            <a:avLst/>
          </a:prstGeom>
          <a:noFill/>
          <a:ln/>
        </p:spPr>
        <p:txBody>
          <a:bodyPr wrap="square" lIns="0" tIns="0" rIns="0" bIns="0" rtlCol="0" anchor="t"/>
          <a:lstStyle/>
          <a:p>
            <a:r>
              <a:rPr lang="en-001" dirty="0"/>
              <a:t>Are there covariate interactions with a significant effect on the survival outcome?</a:t>
            </a:r>
          </a:p>
        </p:txBody>
      </p:sp>
      <p:sp>
        <p:nvSpPr>
          <p:cNvPr id="10" name="Text 8"/>
          <p:cNvSpPr txBox="1"/>
          <p:nvPr/>
        </p:nvSpPr>
        <p:spPr>
          <a:xfrm>
            <a:off x="1207008" y="38130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105 interactions – too much to check</a:t>
            </a:r>
            <a:endParaRPr lang="en-US" sz="1300" dirty="0"/>
          </a:p>
        </p:txBody>
      </p:sp>
      <p:sp>
        <p:nvSpPr>
          <p:cNvPr id="11" name="Text 9"/>
          <p:cNvSpPr txBox="1"/>
          <p:nvPr/>
        </p:nvSpPr>
        <p:spPr>
          <a:xfrm>
            <a:off x="566928" y="46451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3</a:t>
            </a:r>
            <a:endParaRPr lang="en-US" sz="2800" dirty="0"/>
          </a:p>
        </p:txBody>
      </p:sp>
      <p:sp>
        <p:nvSpPr>
          <p:cNvPr id="12" name="Text 10"/>
          <p:cNvSpPr txBox="1"/>
          <p:nvPr/>
        </p:nvSpPr>
        <p:spPr>
          <a:xfrm>
            <a:off x="1207008" y="4709160"/>
            <a:ext cx="10417759" cy="640080"/>
          </a:xfrm>
          <a:prstGeom prst="rect">
            <a:avLst/>
          </a:prstGeom>
          <a:noFill/>
          <a:ln/>
        </p:spPr>
        <p:txBody>
          <a:bodyPr wrap="square" lIns="0" tIns="0" rIns="0" bIns="0" rtlCol="0" anchor="t"/>
          <a:lstStyle/>
          <a:p>
            <a:r>
              <a:rPr lang="en-001" dirty="0"/>
              <a:t>How accurately can survival be predicted at hospital discharge?</a:t>
            </a:r>
          </a:p>
        </p:txBody>
      </p:sp>
      <p:sp>
        <p:nvSpPr>
          <p:cNvPr id="13" name="Text 11"/>
          <p:cNvSpPr txBox="1"/>
          <p:nvPr/>
        </p:nvSpPr>
        <p:spPr>
          <a:xfrm>
            <a:off x="1207008" y="51846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Not yet addressed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81C36A-F1B1-44BC-6D18-688B7D4E73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4B6545-B7A1-85CC-E0AA-B296508CA065}"/>
              </a:ext>
            </a:extLst>
          </p:cNvPr>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Research questions – Improved and Adjusted</a:t>
            </a:r>
            <a:endParaRPr lang="en-US" sz="3000" dirty="0"/>
          </a:p>
        </p:txBody>
      </p:sp>
      <p:sp>
        <p:nvSpPr>
          <p:cNvPr id="3" name="Text 1">
            <a:extLst>
              <a:ext uri="{FF2B5EF4-FFF2-40B4-BE49-F238E27FC236}">
                <a16:creationId xmlns:a16="http://schemas.microsoft.com/office/drawing/2014/main" id="{F8795825-5313-094C-823F-A1C51F819FC4}"/>
              </a:ext>
            </a:extLst>
          </p:cNvPr>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4</a:t>
            </a:r>
            <a:endParaRPr lang="en-US" sz="1000" dirty="0"/>
          </a:p>
        </p:txBody>
      </p:sp>
      <p:sp>
        <p:nvSpPr>
          <p:cNvPr id="5" name="Text 3">
            <a:extLst>
              <a:ext uri="{FF2B5EF4-FFF2-40B4-BE49-F238E27FC236}">
                <a16:creationId xmlns:a16="http://schemas.microsoft.com/office/drawing/2014/main" id="{4CA84493-860E-BC80-855F-8F1CCD4182FF}"/>
              </a:ext>
            </a:extLst>
          </p:cNvPr>
          <p:cNvSpPr txBox="1"/>
          <p:nvPr/>
        </p:nvSpPr>
        <p:spPr>
          <a:xfrm>
            <a:off x="566928" y="19019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1</a:t>
            </a:r>
            <a:endParaRPr lang="en-US" sz="2800" dirty="0"/>
          </a:p>
        </p:txBody>
      </p:sp>
      <p:sp>
        <p:nvSpPr>
          <p:cNvPr id="6" name="Text 4">
            <a:extLst>
              <a:ext uri="{FF2B5EF4-FFF2-40B4-BE49-F238E27FC236}">
                <a16:creationId xmlns:a16="http://schemas.microsoft.com/office/drawing/2014/main" id="{B3155DE5-D761-25F6-183B-84FB9AC4B4F1}"/>
              </a:ext>
            </a:extLst>
          </p:cNvPr>
          <p:cNvSpPr txBox="1"/>
          <p:nvPr/>
        </p:nvSpPr>
        <p:spPr>
          <a:xfrm>
            <a:off x="1207008" y="1965960"/>
            <a:ext cx="10417759" cy="64008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How accurately can one-year survival be predicted at discharge — and do the more flexible models beat Cox?</a:t>
            </a:r>
            <a:endParaRPr lang="en-US" sz="1800" dirty="0"/>
          </a:p>
        </p:txBody>
      </p:sp>
      <p:sp>
        <p:nvSpPr>
          <p:cNvPr id="7" name="Text 5">
            <a:extLst>
              <a:ext uri="{FF2B5EF4-FFF2-40B4-BE49-F238E27FC236}">
                <a16:creationId xmlns:a16="http://schemas.microsoft.com/office/drawing/2014/main" id="{201F384A-058A-B470-4DAE-16F8EFE05EE6}"/>
              </a:ext>
            </a:extLst>
          </p:cNvPr>
          <p:cNvSpPr txBox="1"/>
          <p:nvPr/>
        </p:nvSpPr>
        <p:spPr>
          <a:xfrm>
            <a:off x="1207008" y="24414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the four models are compared once, on the held-out test set</a:t>
            </a:r>
            <a:endParaRPr lang="en-US" sz="1300" dirty="0"/>
          </a:p>
        </p:txBody>
      </p:sp>
      <p:sp>
        <p:nvSpPr>
          <p:cNvPr id="8" name="Text 6">
            <a:extLst>
              <a:ext uri="{FF2B5EF4-FFF2-40B4-BE49-F238E27FC236}">
                <a16:creationId xmlns:a16="http://schemas.microsoft.com/office/drawing/2014/main" id="{F34F3D32-98E2-F487-B94B-029AD1A82009}"/>
              </a:ext>
            </a:extLst>
          </p:cNvPr>
          <p:cNvSpPr txBox="1"/>
          <p:nvPr/>
        </p:nvSpPr>
        <p:spPr>
          <a:xfrm>
            <a:off x="566928" y="32735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2</a:t>
            </a:r>
            <a:endParaRPr lang="en-US" sz="2800" dirty="0"/>
          </a:p>
        </p:txBody>
      </p:sp>
      <p:sp>
        <p:nvSpPr>
          <p:cNvPr id="9" name="Text 7">
            <a:extLst>
              <a:ext uri="{FF2B5EF4-FFF2-40B4-BE49-F238E27FC236}">
                <a16:creationId xmlns:a16="http://schemas.microsoft.com/office/drawing/2014/main" id="{A940FC37-50FE-9921-D3CF-78F944C22C89}"/>
              </a:ext>
            </a:extLst>
          </p:cNvPr>
          <p:cNvSpPr txBox="1"/>
          <p:nvPr/>
        </p:nvSpPr>
        <p:spPr>
          <a:xfrm>
            <a:off x="1207008" y="3337560"/>
            <a:ext cx="10417759" cy="64008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Where the flexible models differ from Cox, which of the Cox model's assumptions is responsible?</a:t>
            </a:r>
            <a:endParaRPr lang="en-US" sz="1800" dirty="0"/>
          </a:p>
        </p:txBody>
      </p:sp>
      <p:sp>
        <p:nvSpPr>
          <p:cNvPr id="10" name="Text 8">
            <a:extLst>
              <a:ext uri="{FF2B5EF4-FFF2-40B4-BE49-F238E27FC236}">
                <a16:creationId xmlns:a16="http://schemas.microsoft.com/office/drawing/2014/main" id="{172F484B-4239-9395-4383-04FB0B335EDB}"/>
              </a:ext>
            </a:extLst>
          </p:cNvPr>
          <p:cNvSpPr txBox="1"/>
          <p:nvPr/>
        </p:nvSpPr>
        <p:spPr>
          <a:xfrm>
            <a:off x="1207008" y="38130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linearity  ·  additivity  ·  proportional hazards</a:t>
            </a:r>
            <a:endParaRPr lang="en-US" sz="1300" dirty="0"/>
          </a:p>
        </p:txBody>
      </p:sp>
      <p:sp>
        <p:nvSpPr>
          <p:cNvPr id="11" name="Text 9">
            <a:extLst>
              <a:ext uri="{FF2B5EF4-FFF2-40B4-BE49-F238E27FC236}">
                <a16:creationId xmlns:a16="http://schemas.microsoft.com/office/drawing/2014/main" id="{18391D3A-AB5E-F2FE-4E03-D294832D8B83}"/>
              </a:ext>
            </a:extLst>
          </p:cNvPr>
          <p:cNvSpPr txBox="1"/>
          <p:nvPr/>
        </p:nvSpPr>
        <p:spPr>
          <a:xfrm>
            <a:off x="566928" y="46451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3</a:t>
            </a:r>
            <a:endParaRPr lang="en-US" sz="2800" dirty="0"/>
          </a:p>
        </p:txBody>
      </p:sp>
      <p:sp>
        <p:nvSpPr>
          <p:cNvPr id="12" name="Text 10">
            <a:extLst>
              <a:ext uri="{FF2B5EF4-FFF2-40B4-BE49-F238E27FC236}">
                <a16:creationId xmlns:a16="http://schemas.microsoft.com/office/drawing/2014/main" id="{CDC9824B-A9A4-FB56-D25B-3655947D1DD8}"/>
              </a:ext>
            </a:extLst>
          </p:cNvPr>
          <p:cNvSpPr txBox="1"/>
          <p:nvPr/>
        </p:nvSpPr>
        <p:spPr>
          <a:xfrm>
            <a:off x="1207008" y="4709160"/>
            <a:ext cx="10417759" cy="64008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Do two pre-specified interactions improve on the additive Cox model?</a:t>
            </a:r>
            <a:endParaRPr lang="en-US" sz="1800" dirty="0"/>
          </a:p>
        </p:txBody>
      </p:sp>
      <p:sp>
        <p:nvSpPr>
          <p:cNvPr id="13" name="Text 11">
            <a:extLst>
              <a:ext uri="{FF2B5EF4-FFF2-40B4-BE49-F238E27FC236}">
                <a16:creationId xmlns:a16="http://schemas.microsoft.com/office/drawing/2014/main" id="{847EB190-913E-DF71-6F99-D0CFC98BDC38}"/>
              </a:ext>
            </a:extLst>
          </p:cNvPr>
          <p:cNvSpPr txBox="1"/>
          <p:nvPr/>
        </p:nvSpPr>
        <p:spPr>
          <a:xfrm>
            <a:off x="1207008" y="51846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ΔBUN × discharge BUN  ·  age × discharge BUN</a:t>
            </a:r>
            <a:endParaRPr lang="en-US" sz="1300" dirty="0"/>
          </a:p>
        </p:txBody>
      </p:sp>
    </p:spTree>
    <p:extLst>
      <p:ext uri="{BB962C8B-B14F-4D97-AF65-F5344CB8AC3E}">
        <p14:creationId xmlns:p14="http://schemas.microsoft.com/office/powerpoint/2010/main" val="2360089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Train–test split</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5</a:t>
            </a:r>
            <a:endParaRPr lang="en-US" sz="1000" dirty="0"/>
          </a:p>
        </p:txBody>
      </p:sp>
      <p:sp>
        <p:nvSpPr>
          <p:cNvPr id="4" name="Shape 2"/>
          <p:cNvSpPr/>
          <p:nvPr/>
        </p:nvSpPr>
        <p:spPr>
          <a:xfrm>
            <a:off x="566928" y="1783080"/>
            <a:ext cx="8846271" cy="1051560"/>
          </a:xfrm>
          <a:prstGeom prst="rect">
            <a:avLst/>
          </a:prstGeom>
          <a:solidFill>
            <a:srgbClr val="1A4E8A"/>
          </a:solidFill>
          <a:ln w="12700">
            <a:solidFill>
              <a:srgbClr val="1A4E8A"/>
            </a:solidFill>
            <a:prstDash val="solid"/>
          </a:ln>
        </p:spPr>
        <p:txBody>
          <a:bodyPr/>
          <a:lstStyle/>
          <a:p>
            <a:endParaRPr lang="en-001"/>
          </a:p>
        </p:txBody>
      </p:sp>
      <p:sp>
        <p:nvSpPr>
          <p:cNvPr id="5" name="Shape 3"/>
          <p:cNvSpPr/>
          <p:nvPr/>
        </p:nvSpPr>
        <p:spPr>
          <a:xfrm>
            <a:off x="9413199" y="1783080"/>
            <a:ext cx="2211568" cy="1051560"/>
          </a:xfrm>
          <a:prstGeom prst="rect">
            <a:avLst/>
          </a:prstGeom>
          <a:solidFill>
            <a:srgbClr val="DCE6F1"/>
          </a:solidFill>
          <a:ln w="12700">
            <a:solidFill>
              <a:srgbClr val="DCE6F1"/>
            </a:solidFill>
            <a:prstDash val="solid"/>
          </a:ln>
        </p:spPr>
        <p:txBody>
          <a:bodyPr/>
          <a:lstStyle/>
          <a:p>
            <a:endParaRPr lang="en-001"/>
          </a:p>
        </p:txBody>
      </p:sp>
      <p:sp>
        <p:nvSpPr>
          <p:cNvPr id="6" name="Text 4"/>
          <p:cNvSpPr txBox="1"/>
          <p:nvPr/>
        </p:nvSpPr>
        <p:spPr>
          <a:xfrm>
            <a:off x="822960" y="1783080"/>
            <a:ext cx="8389071" cy="10515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Training  ·  3,168 patients</a:t>
            </a:r>
            <a:endParaRPr lang="en-US" sz="1800" dirty="0"/>
          </a:p>
        </p:txBody>
      </p:sp>
      <p:sp>
        <p:nvSpPr>
          <p:cNvPr id="7" name="Text 5"/>
          <p:cNvSpPr txBox="1"/>
          <p:nvPr/>
        </p:nvSpPr>
        <p:spPr>
          <a:xfrm>
            <a:off x="9614367" y="1783080"/>
            <a:ext cx="1845808" cy="1051560"/>
          </a:xfrm>
          <a:prstGeom prst="rect">
            <a:avLst/>
          </a:prstGeom>
          <a:noFill/>
          <a:ln/>
        </p:spPr>
        <p:txBody>
          <a:bodyPr wrap="square" lIns="0" tIns="0" rIns="0" bIns="0" rtlCol="0" anchor="ctr"/>
          <a:lstStyle/>
          <a:p>
            <a:pPr marL="0" indent="0">
              <a:buNone/>
            </a:pPr>
            <a:r>
              <a:rPr lang="en-US" sz="1500" b="1" dirty="0">
                <a:solidFill>
                  <a:srgbClr val="1A4E8A"/>
                </a:solidFill>
                <a:latin typeface="Calibri" pitchFamily="34" charset="0"/>
                <a:ea typeface="Calibri" pitchFamily="34" charset="-122"/>
                <a:cs typeface="Calibri" pitchFamily="34" charset="-120"/>
              </a:rPr>
              <a:t>Test  ·  793</a:t>
            </a:r>
            <a:endParaRPr lang="en-US" sz="1500" dirty="0"/>
          </a:p>
        </p:txBody>
      </p:sp>
      <p:sp>
        <p:nvSpPr>
          <p:cNvPr id="8" name="Text 6"/>
          <p:cNvSpPr txBox="1"/>
          <p:nvPr/>
        </p:nvSpPr>
        <p:spPr>
          <a:xfrm>
            <a:off x="566928" y="2926080"/>
            <a:ext cx="8846271"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80%</a:t>
            </a:r>
            <a:endParaRPr lang="en-US" sz="1200" dirty="0"/>
          </a:p>
        </p:txBody>
      </p:sp>
      <p:sp>
        <p:nvSpPr>
          <p:cNvPr id="9" name="Text 7"/>
          <p:cNvSpPr txBox="1"/>
          <p:nvPr/>
        </p:nvSpPr>
        <p:spPr>
          <a:xfrm>
            <a:off x="9413199" y="2926080"/>
            <a:ext cx="2211568"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20%</a:t>
            </a:r>
            <a:endParaRPr lang="en-US" sz="1200" dirty="0"/>
          </a:p>
        </p:txBody>
      </p:sp>
      <p:sp>
        <p:nvSpPr>
          <p:cNvPr id="10" name="Text 8"/>
          <p:cNvSpPr txBox="1"/>
          <p:nvPr/>
        </p:nvSpPr>
        <p:spPr>
          <a:xfrm>
            <a:off x="566927" y="3220720"/>
            <a:ext cx="11057839" cy="1005840"/>
          </a:xfrm>
          <a:prstGeom prst="rect">
            <a:avLst/>
          </a:prstGeom>
          <a:noFill/>
          <a:ln/>
        </p:spPr>
        <p:txBody>
          <a:bodyPr wrap="square" lIns="0" tIns="0" rIns="0" bIns="0" rtlCol="0" anchor="ctr"/>
          <a:lstStyle/>
          <a:p>
            <a:pPr algn="l">
              <a:spcAft>
                <a:spcPts val="1400"/>
              </a:spcAft>
              <a:buSzPct val="100000"/>
            </a:pPr>
            <a:r>
              <a:rPr lang="en-US" sz="1600" dirty="0">
                <a:solidFill>
                  <a:srgbClr val="3A3A3A"/>
                </a:solidFill>
                <a:latin typeface="Calibri" pitchFamily="34" charset="0"/>
                <a:ea typeface="Calibri" pitchFamily="34" charset="-122"/>
                <a:cs typeface="Calibri" pitchFamily="34" charset="-120"/>
              </a:rPr>
              <a:t>Stratified by the event indicator — 42.4% events in both sets</a:t>
            </a:r>
            <a:endParaRPr lang="en-US" sz="1600" dirty="0"/>
          </a:p>
        </p:txBody>
      </p:sp>
      <p:sp>
        <p:nvSpPr>
          <p:cNvPr id="11" name="Text 9"/>
          <p:cNvSpPr txBox="1"/>
          <p:nvPr/>
        </p:nvSpPr>
        <p:spPr>
          <a:xfrm>
            <a:off x="566928" y="3995928"/>
            <a:ext cx="11057839" cy="329184"/>
          </a:xfrm>
          <a:prstGeom prst="rect">
            <a:avLst/>
          </a:prstGeom>
          <a:noFill/>
          <a:ln/>
        </p:spPr>
        <p:txBody>
          <a:bodyPr wrap="square" lIns="0" tIns="0" rIns="0" bIns="0" rtlCol="0" anchor="ctr"/>
          <a:lstStyle/>
          <a:p>
            <a:pPr marL="0" indent="0">
              <a:buNone/>
            </a:pPr>
            <a:r>
              <a:rPr lang="en-US" sz="1700" b="1" dirty="0">
                <a:solidFill>
                  <a:srgbClr val="1A4E8A"/>
                </a:solidFill>
                <a:latin typeface="Calibri" pitchFamily="34" charset="0"/>
                <a:ea typeface="Calibri" pitchFamily="34" charset="-122"/>
                <a:cs typeface="Calibri" pitchFamily="34" charset="-120"/>
              </a:rPr>
              <a:t>748 deaths within 12 months in training  ·  199 in test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The Cox model refitted on training data</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6</a:t>
            </a:r>
            <a:endParaRPr lang="en-US" sz="1000" dirty="0"/>
          </a:p>
        </p:txBody>
      </p:sp>
      <p:sp>
        <p:nvSpPr>
          <p:cNvPr id="4" name="Text 2"/>
          <p:cNvSpPr txBox="1"/>
          <p:nvPr/>
        </p:nvSpPr>
        <p:spPr>
          <a:xfrm>
            <a:off x="566928" y="1170432"/>
            <a:ext cx="11057839" cy="329184"/>
          </a:xfrm>
          <a:prstGeom prst="rect">
            <a:avLst/>
          </a:prstGeom>
          <a:noFill/>
          <a:ln/>
        </p:spPr>
        <p:txBody>
          <a:bodyPr wrap="square" lIns="0" tIns="0" rIns="0" bIns="0" rtlCol="0" anchor="ctr"/>
          <a:lstStyle/>
          <a:p>
            <a:pPr marL="0" indent="0">
              <a:buNone/>
            </a:pPr>
            <a:r>
              <a:rPr lang="en-US" sz="1800" b="1" dirty="0">
                <a:solidFill>
                  <a:srgbClr val="1A4E8A"/>
                </a:solidFill>
                <a:latin typeface="Calibri" pitchFamily="34" charset="0"/>
                <a:ea typeface="Calibri" pitchFamily="34" charset="-122"/>
                <a:cs typeface="Calibri" pitchFamily="34" charset="-120"/>
              </a:rPr>
              <a:t>No hazard ratio moves by more than 2.2%</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2880360"/>
        </p:xfrm>
        <a:graphic>
          <a:graphicData uri="http://schemas.openxmlformats.org/drawingml/2006/table">
            <a:tbl>
              <a:tblPr/>
              <a:tblGrid>
                <a:gridCol w="374263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88036">
                <a:tc>
                  <a:txBody>
                    <a:bodyPr/>
                    <a:lstStyle/>
                    <a:p>
                      <a:pPr marL="0" indent="0" algn="l">
                        <a:buNone/>
                      </a:pPr>
                      <a:r>
                        <a:rPr lang="en-US" sz="1350" b="1" dirty="0">
                          <a:solidFill>
                            <a:srgbClr val="1A1A1A"/>
                          </a:solidFill>
                          <a:latin typeface="Calibri" pitchFamily="34" charset="0"/>
                          <a:ea typeface="Calibri" pitchFamily="34" charset="-122"/>
                          <a:cs typeface="Calibri" pitchFamily="34" charset="-120"/>
                        </a:rPr>
                        <a:t>Covariate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HR train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HR full</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p train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p full</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Age (per year)</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1.0447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1.0438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BUN, discharge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1.0238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1.0213</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RDW</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1.1295</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1.1204</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ΔBUN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0.9900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0.9903</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BNP</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1.0002</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1.0002</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Sodium</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0.9726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0.9728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Length of stay</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1.0083</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1.0094</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0.010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Bilirubin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1.0988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1.1208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767676"/>
                          </a:solidFill>
                          <a:latin typeface="Calibri" pitchFamily="34" charset="0"/>
                          <a:ea typeface="Calibri" pitchFamily="34" charset="-122"/>
                          <a:cs typeface="Calibri" pitchFamily="34" charset="-120"/>
                        </a:rPr>
                        <a:t>0.126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0.037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Potassium</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0.9196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0.9141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767676"/>
                          </a:solidFill>
                          <a:latin typeface="Calibri" pitchFamily="34" charset="0"/>
                          <a:ea typeface="Calibri" pitchFamily="34" charset="-122"/>
                          <a:cs typeface="Calibri" pitchFamily="34" charset="-120"/>
                        </a:rPr>
                        <a:t>0.078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0.038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Text 3"/>
          <p:cNvSpPr txBox="1"/>
          <p:nvPr/>
        </p:nvSpPr>
        <p:spPr>
          <a:xfrm>
            <a:off x="566928" y="4828032"/>
            <a:ext cx="11057839"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Every full-data estimate falls inside the training confidence interval.  Concordance 0.699 against 0.694.</a:t>
            </a:r>
            <a:endParaRPr lang="en-US" sz="1400" dirty="0"/>
          </a:p>
        </p:txBody>
      </p:sp>
      <p:sp>
        <p:nvSpPr>
          <p:cNvPr id="7" name="Text 4"/>
          <p:cNvSpPr txBox="1"/>
          <p:nvPr/>
        </p:nvSpPr>
        <p:spPr>
          <a:xfrm>
            <a:off x="566928" y="5138928"/>
            <a:ext cx="11057839"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Bilirubin and potassium lose significance — the intervals widen, the effects do not move.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Proportional hazards on the training data</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7</a:t>
            </a:r>
            <a:endParaRPr lang="en-US" sz="1000" dirty="0"/>
          </a:p>
        </p:txBody>
      </p:sp>
      <p:sp>
        <p:nvSpPr>
          <p:cNvPr id="4" name="Text 2"/>
          <p:cNvSpPr txBox="1"/>
          <p:nvPr/>
        </p:nvSpPr>
        <p:spPr>
          <a:xfrm>
            <a:off x="566928" y="1170432"/>
            <a:ext cx="11057839" cy="329184"/>
          </a:xfrm>
          <a:prstGeom prst="rect">
            <a:avLst/>
          </a:prstGeom>
          <a:noFill/>
          <a:ln/>
        </p:spPr>
        <p:txBody>
          <a:bodyPr wrap="square" lIns="0" tIns="0" rIns="0" bIns="0" rtlCol="0" anchor="ctr"/>
          <a:lstStyle/>
          <a:p>
            <a:pPr marL="0" indent="0">
              <a:buNone/>
            </a:pPr>
            <a:r>
              <a:rPr lang="en-US" sz="1800" b="1" dirty="0">
                <a:solidFill>
                  <a:srgbClr val="1A4E8A"/>
                </a:solidFill>
                <a:latin typeface="Calibri" pitchFamily="34" charset="0"/>
                <a:ea typeface="Calibri" pitchFamily="34" charset="-122"/>
                <a:cs typeface="Calibri" pitchFamily="34" charset="-120"/>
              </a:rPr>
              <a:t>No covariate is flagged in both fits</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5989320" cy="2304288"/>
        </p:xfrm>
        <a:graphic>
          <a:graphicData uri="http://schemas.openxmlformats.org/drawingml/2006/table">
            <a:tbl>
              <a:tblPr/>
              <a:tblGrid>
                <a:gridCol w="2880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84048">
                <a:tc>
                  <a:txBody>
                    <a:bodyPr/>
                    <a:lstStyle/>
                    <a:p>
                      <a:pPr marL="0" indent="0" algn="l">
                        <a:buNone/>
                      </a:pPr>
                      <a:r>
                        <a:rPr lang="en-US" sz="1350" b="1" dirty="0">
                          <a:solidFill>
                            <a:srgbClr val="1A1A1A"/>
                          </a:solidFill>
                          <a:latin typeface="Calibri" pitchFamily="34" charset="0"/>
                          <a:ea typeface="Calibri" pitchFamily="34" charset="-122"/>
                          <a:cs typeface="Calibri" pitchFamily="34" charset="-120"/>
                        </a:rPr>
                        <a:t>Covariate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p (train)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p (full)</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Comorbidity burden 4+</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0.021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0.100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Comorbidity burden 2–3</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0.025</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0.239</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Bilirubin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0.035</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0.117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BUN, discharge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0.116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0.036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Length of stay</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0.137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0.048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txBox="1"/>
          <p:nvPr/>
        </p:nvSpPr>
        <p:spPr>
          <a:xfrm>
            <a:off x="566928" y="4160520"/>
            <a:ext cx="5989320" cy="274320"/>
          </a:xfrm>
          <a:prstGeom prst="rect">
            <a:avLst/>
          </a:prstGeom>
          <a:noFill/>
          <a:ln/>
        </p:spPr>
        <p:txBody>
          <a:bodyPr wrap="square" lIns="0" tIns="0" rIns="0" bIns="0" rtlCol="0" anchor="ctr"/>
          <a:lstStyle/>
          <a:p>
            <a:pPr marL="0" indent="0" algn="l">
              <a:buNone/>
            </a:pPr>
            <a:r>
              <a:rPr lang="en-US" sz="1150" dirty="0">
                <a:solidFill>
                  <a:srgbClr val="767676"/>
                </a:solidFill>
                <a:latin typeface="Calibri" pitchFamily="34" charset="0"/>
                <a:ea typeface="Calibri" pitchFamily="34" charset="-122"/>
                <a:cs typeface="Calibri" pitchFamily="34" charset="-120"/>
              </a:rPr>
              <a:t>Schoenfeld residual test on a rank transform of time; flagged at p &lt; 0.05</a:t>
            </a:r>
            <a:endParaRPr lang="en-US" sz="1150" dirty="0"/>
          </a:p>
        </p:txBody>
      </p:sp>
      <p:sp>
        <p:nvSpPr>
          <p:cNvPr id="7" name="Text 4"/>
          <p:cNvSpPr txBox="1"/>
          <p:nvPr/>
        </p:nvSpPr>
        <p:spPr>
          <a:xfrm>
            <a:off x="7287768" y="1700784"/>
            <a:ext cx="4336999" cy="2743200"/>
          </a:xfrm>
          <a:prstGeom prst="rect">
            <a:avLst/>
          </a:prstGeom>
          <a:noFill/>
          <a:ln/>
        </p:spPr>
        <p:txBody>
          <a:bodyPr wrap="square" lIns="0" tIns="0" rIns="0" bIns="0" rtlCol="0" anchor="ctr"/>
          <a:lstStyle/>
          <a:p>
            <a:pPr marL="342900" indent="-342900" algn="l">
              <a:spcAft>
                <a:spcPts val="1800"/>
              </a:spcAft>
              <a:buSzPct val="100000"/>
              <a:buChar char="•"/>
            </a:pPr>
            <a:r>
              <a:rPr lang="en-US" sz="1500" dirty="0">
                <a:solidFill>
                  <a:srgbClr val="3A3A3A"/>
                </a:solidFill>
                <a:latin typeface="Calibri" pitchFamily="34" charset="0"/>
                <a:ea typeface="Calibri" pitchFamily="34" charset="-122"/>
                <a:cs typeface="Calibri" pitchFamily="34" charset="-120"/>
              </a:rPr>
              <a:t>Training is four fifths of the same cohort — a genuinely time-varying effect would persist in it</a:t>
            </a:r>
            <a:endParaRPr lang="en-US" sz="1500" dirty="0"/>
          </a:p>
          <a:p>
            <a:pPr marL="342900" indent="-342900" algn="l">
              <a:spcAft>
                <a:spcPts val="1800"/>
              </a:spcAft>
              <a:buSzPct val="100000"/>
              <a:buChar char="•"/>
            </a:pPr>
            <a:r>
              <a:rPr lang="en-US" sz="1500" dirty="0">
                <a:solidFill>
                  <a:srgbClr val="3A3A3A"/>
                </a:solidFill>
                <a:latin typeface="Calibri" pitchFamily="34" charset="0"/>
                <a:ea typeface="Calibri" pitchFamily="34" charset="-122"/>
                <a:cs typeface="Calibri" pitchFamily="34" charset="-120"/>
              </a:rPr>
              <a:t>Smallest p anywhere in either fit: 0.021, across sixteen simultaneous tests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One-year survival prediction</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8</a:t>
            </a:r>
            <a:endParaRPr lang="en-US" sz="1000" dirty="0"/>
          </a:p>
        </p:txBody>
      </p:sp>
      <p:pic>
        <p:nvPicPr>
          <p:cNvPr id="4" name="Image 0" descr="/mnt/user-data/uploads/proj tasks/Final Project/figures/fig6_cox_one_year.png"/>
          <p:cNvPicPr>
            <a:picLocks noChangeAspect="1"/>
          </p:cNvPicPr>
          <p:nvPr/>
        </p:nvPicPr>
        <p:blipFill>
          <a:blip r:embed="rId3"/>
          <a:stretch>
            <a:fillRect/>
          </a:stretch>
        </p:blipFill>
        <p:spPr>
          <a:xfrm>
            <a:off x="566928" y="1170432"/>
            <a:ext cx="11057839" cy="3114007"/>
          </a:xfrm>
          <a:prstGeom prst="rect">
            <a:avLst/>
          </a:prstGeom>
        </p:spPr>
      </p:pic>
      <p:sp>
        <p:nvSpPr>
          <p:cNvPr id="5" name="Text 2"/>
          <p:cNvSpPr txBox="1"/>
          <p:nvPr/>
        </p:nvSpPr>
        <p:spPr>
          <a:xfrm>
            <a:off x="566928" y="4375879"/>
            <a:ext cx="11057839"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Grids run from the 1st to the 99th training percentile. Dotted line: the representative patient.</a:t>
            </a:r>
            <a:endParaRPr lang="en-US" sz="1400" dirty="0"/>
          </a:p>
        </p:txBody>
      </p:sp>
      <p:sp>
        <p:nvSpPr>
          <p:cNvPr id="6" name="Text 3"/>
          <p:cNvSpPr txBox="1"/>
          <p:nvPr/>
        </p:nvSpPr>
        <p:spPr>
          <a:xfrm>
            <a:off x="566928" y="4846320"/>
            <a:ext cx="11057839" cy="329184"/>
          </a:xfrm>
          <a:prstGeom prst="rect">
            <a:avLst/>
          </a:prstGeom>
          <a:noFill/>
          <a:ln/>
        </p:spPr>
        <p:txBody>
          <a:bodyPr wrap="square" lIns="0" tIns="0" rIns="0" bIns="0" rtlCol="0" anchor="ctr"/>
          <a:lstStyle/>
          <a:p>
            <a:pPr marL="0" indent="0">
              <a:buNone/>
            </a:pPr>
            <a:r>
              <a:rPr lang="en-US" sz="1600" b="1" dirty="0">
                <a:solidFill>
                  <a:srgbClr val="1A4E8A"/>
                </a:solidFill>
                <a:latin typeface="Calibri" pitchFamily="34" charset="0"/>
                <a:ea typeface="Calibri" pitchFamily="34" charset="-122"/>
                <a:cs typeface="Calibri" pitchFamily="34" charset="-120"/>
              </a:rPr>
              <a:t>Representative patient — a man of 76 with median labs — has predicted one-year survival 0.821</a:t>
            </a:r>
            <a:endParaRPr lang="en-US" sz="1600" dirty="0"/>
          </a:p>
        </p:txBody>
      </p:sp>
      <p:sp>
        <p:nvSpPr>
          <p:cNvPr id="7" name="Text 4"/>
          <p:cNvSpPr txBox="1"/>
          <p:nvPr/>
        </p:nvSpPr>
        <p:spPr>
          <a:xfrm>
            <a:off x="566928" y="5303520"/>
            <a:ext cx="5120640" cy="256032"/>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Across the plotted grid</a:t>
            </a:r>
            <a:endParaRPr lang="en-US" sz="1300" dirty="0"/>
          </a:p>
        </p:txBody>
      </p:sp>
      <p:sp>
        <p:nvSpPr>
          <p:cNvPr id="8" name="Text 5"/>
          <p:cNvSpPr txBox="1"/>
          <p:nvPr/>
        </p:nvSpPr>
        <p:spPr>
          <a:xfrm>
            <a:off x="566928" y="5577840"/>
            <a:ext cx="5394960" cy="256032"/>
          </a:xfrm>
          <a:prstGeom prst="rect">
            <a:avLst/>
          </a:prstGeom>
          <a:noFill/>
          <a:ln/>
        </p:spPr>
        <p:txBody>
          <a:bodyPr wrap="square" lIns="0" tIns="0" rIns="0" bIns="0" rtlCol="0" anchor="ctr"/>
          <a:lstStyle/>
          <a:p>
            <a:pPr marL="0" indent="0">
              <a:buNone/>
            </a:pPr>
            <a:r>
              <a:rPr lang="en-US" sz="1300" dirty="0">
                <a:solidFill>
                  <a:srgbClr val="3A3A3A"/>
                </a:solidFill>
                <a:latin typeface="Calibri" pitchFamily="34" charset="0"/>
                <a:ea typeface="Calibri" pitchFamily="34" charset="-122"/>
                <a:cs typeface="Calibri" pitchFamily="34" charset="-120"/>
              </a:rPr>
              <a:t>BUN 0.876 → 0.298   ·   age 0.962 → 0.641   ·   RDW 0.864 → 0.659</a:t>
            </a:r>
            <a:endParaRPr lang="en-US" sz="1300" dirty="0"/>
          </a:p>
        </p:txBody>
      </p:sp>
      <p:sp>
        <p:nvSpPr>
          <p:cNvPr id="9" name="Text 6"/>
          <p:cNvSpPr txBox="1"/>
          <p:nvPr/>
        </p:nvSpPr>
        <p:spPr>
          <a:xfrm>
            <a:off x="6327648" y="5303520"/>
            <a:ext cx="5303520" cy="256032"/>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Over the interquartile range the order reverses</a:t>
            </a:r>
            <a:endParaRPr lang="en-US" sz="1300" dirty="0"/>
          </a:p>
        </p:txBody>
      </p:sp>
      <p:sp>
        <p:nvSpPr>
          <p:cNvPr id="10" name="Text 7"/>
          <p:cNvSpPr txBox="1"/>
          <p:nvPr/>
        </p:nvSpPr>
        <p:spPr>
          <a:xfrm>
            <a:off x="6327648" y="5577840"/>
            <a:ext cx="5303520" cy="256032"/>
          </a:xfrm>
          <a:prstGeom prst="rect">
            <a:avLst/>
          </a:prstGeom>
          <a:noFill/>
          <a:ln/>
        </p:spPr>
        <p:txBody>
          <a:bodyPr wrap="square" lIns="0" tIns="0" rIns="0" bIns="0" rtlCol="0" anchor="ctr"/>
          <a:lstStyle/>
          <a:p>
            <a:pPr marL="0" indent="0">
              <a:buNone/>
            </a:pPr>
            <a:r>
              <a:rPr lang="en-US" sz="1300" dirty="0">
                <a:solidFill>
                  <a:srgbClr val="3A3A3A"/>
                </a:solidFill>
                <a:latin typeface="Calibri" pitchFamily="34" charset="0"/>
                <a:ea typeface="Calibri" pitchFamily="34" charset="-122"/>
                <a:cs typeface="Calibri" pitchFamily="34" charset="-120"/>
              </a:rPr>
              <a:t>age 0.11   ·   BUN 0.06   ·   RDW 0.03</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Covariate summary</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sp>
        <p:nvSpPr>
          <p:cNvPr id="4" name="Text 2"/>
          <p:cNvSpPr txBox="1"/>
          <p:nvPr/>
        </p:nvSpPr>
        <p:spPr>
          <a:xfrm>
            <a:off x="566928" y="1097280"/>
            <a:ext cx="11057839"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All 3,961 patients. Continuous: median [Q1, Q3]. Binary: n (%).</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5166360" cy="3127248"/>
        </p:xfrm>
        <a:graphic>
          <a:graphicData uri="http://schemas.openxmlformats.org/drawingml/2006/table">
            <a:tbl>
              <a:tblPr/>
              <a:tblGrid>
                <a:gridCol w="2971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26060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Demographics &amp; comorbidities</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50" b="1" dirty="0">
                          <a:solidFill>
                            <a:srgbClr val="1A1A1A"/>
                          </a:solidFill>
                          <a:latin typeface="Calibri" pitchFamily="34" charset="0"/>
                          <a:ea typeface="Calibri" pitchFamily="34" charset="-122"/>
                          <a:cs typeface="Calibri" pitchFamily="34" charset="-120"/>
                        </a:rPr>
                        <a:t>Summary</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Age (years)</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76.2 [66.9, 83.2]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Female sex</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1,842 (46.5%)</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Diabetes</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2,147 (54.2%)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Hypertension</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3,432 (86.6%)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COPD</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405 (10.2%)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Peripheral vascular disease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367 (9.3%)</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Chronic kidney disease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805 (20.3%)</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Ischaemic heart disease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2,484 (62.7%)</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Atrial fibrillation</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1,608 (40.6%)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Valvular heart disease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981 (24.8%)</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0"/>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Pulmonary hypertension</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737 (18.6%)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446520" y="1481328"/>
          <a:ext cx="5166360" cy="3909060"/>
        </p:xfrm>
        <a:graphic>
          <a:graphicData uri="http://schemas.openxmlformats.org/drawingml/2006/table">
            <a:tbl>
              <a:tblPr/>
              <a:tblGrid>
                <a:gridCol w="3063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26060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Laboratory values &amp; stay</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50" b="1" dirty="0">
                          <a:solidFill>
                            <a:srgbClr val="1A1A1A"/>
                          </a:solidFill>
                          <a:latin typeface="Calibri" pitchFamily="34" charset="0"/>
                          <a:ea typeface="Calibri" pitchFamily="34" charset="-122"/>
                          <a:cs typeface="Calibri" pitchFamily="34" charset="-120"/>
                        </a:rPr>
                        <a:t>Summary</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BNP, admission (pg/mL)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778 [734, 832]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BUN, admission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25.0 [19.0, 37.0]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Creatinine, admission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1.23 [0.95, 1.70]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GFR, admission</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49.8 [34.6, 67.6]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BUN, discharge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28.0 [22.0, 39.0]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Creatinine, discharge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1.23 [1.00, 1.56]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GFR, discharge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50.4 [34.8, 67.6]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White blood cells (1000/µL)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8.92 [7.00, 11.42]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Sodium (mEq/L)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138 [135, 140]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RDW (%)</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15.3 [14.5, 16.1]</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0"/>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Platelets (1000/µL)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225 [180, 280]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1"/>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Bilirubin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0.60 [0.50, 0.72]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2"/>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Potassium (mEq/L)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4.30 [3.90, 4.60]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3"/>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Length of stay (days)</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5.13 [3.08, 8.34]</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PA1: sex and diabetes</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mnt/user-data/uploads/proj tasks/Final Project/figures/fig2_km_stratified.png"/>
          <p:cNvPicPr>
            <a:picLocks noChangeAspect="1"/>
          </p:cNvPicPr>
          <p:nvPr/>
        </p:nvPicPr>
        <p:blipFill>
          <a:blip r:embed="rId3"/>
          <a:stretch>
            <a:fillRect/>
          </a:stretch>
        </p:blipFill>
        <p:spPr>
          <a:xfrm>
            <a:off x="566928" y="1417320"/>
            <a:ext cx="11057839" cy="4012278"/>
          </a:xfrm>
          <a:prstGeom prst="rect">
            <a:avLst/>
          </a:prstGeom>
        </p:spPr>
      </p:pic>
      <p:sp>
        <p:nvSpPr>
          <p:cNvPr id="5" name="Text 2"/>
          <p:cNvSpPr txBox="1"/>
          <p:nvPr/>
        </p:nvSpPr>
        <p:spPr>
          <a:xfrm>
            <a:off x="566928" y="5612478"/>
            <a:ext cx="11057839" cy="274320"/>
          </a:xfrm>
          <a:prstGeom prst="rect">
            <a:avLst/>
          </a:prstGeom>
          <a:noFill/>
          <a:ln/>
        </p:spPr>
        <p:txBody>
          <a:bodyPr wrap="square" lIns="0" tIns="0" rIns="0" bIns="0" rtlCol="0" anchor="ctr"/>
          <a:lstStyle/>
          <a:p>
            <a:pPr marL="0" indent="0" algn="l">
              <a:buNone/>
            </a:pPr>
            <a:r>
              <a:rPr lang="en-US" sz="1600" dirty="0">
                <a:solidFill>
                  <a:srgbClr val="767676"/>
                </a:solidFill>
                <a:latin typeface="Calibri" pitchFamily="34" charset="0"/>
                <a:ea typeface="Calibri" pitchFamily="34" charset="-122"/>
                <a:cs typeface="Calibri" pitchFamily="34" charset="-120"/>
              </a:rPr>
              <a:t>One-year survival 0.770 against 0.733 by sex, and 0.740 against 0.764 by diabetes. Neither separates the cohort.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Refitted Cox model — all sixteen terms</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4585716"/>
        </p:xfrm>
        <a:graphic>
          <a:graphicData uri="http://schemas.openxmlformats.org/drawingml/2006/table">
            <a:tbl>
              <a:tblPr/>
              <a:tblGrid>
                <a:gridCol w="2645359">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1691640">
                  <a:extLst>
                    <a:ext uri="{9D8B030D-6E8A-4147-A177-3AD203B41FA5}">
                      <a16:colId xmlns:a16="http://schemas.microsoft.com/office/drawing/2014/main" val="20005"/>
                    </a:ext>
                  </a:extLst>
                </a:gridCol>
              </a:tblGrid>
              <a:tr h="269748">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Covariate</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HR (train)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95% CI (train)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p (train)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HR (full)</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p (full)</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Age (years)</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1.0447</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1.0384 – 1.0511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1.0438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BUN, discharge</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1.0238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1.0197 – 1.0279</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1.0213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RDW</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1.1295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1.0963 – 1.1638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1.1204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ΔBUN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0.9900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0.9861 – 0.9940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0.9903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BNP</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1.0001 – 1.0002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Sodium</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0.9726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0.9611 – 0.9843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0.9728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Length of stay</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1.0083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1.0020 – 1.0146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0.010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1.0094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Bilirubin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1.0988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0.9738 – 1.2400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0.126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1.1208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0.037</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Potassium</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0.9196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0.8376 – 1.0096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0.078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0.9141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0.038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Platelets</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0.9998 – 1.0012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0.147</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0.100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0"/>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Creatinine, discharge</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0.9172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0.8345 – 1.0080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0.073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0.9376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0.132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1"/>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Comorbidity burden 2–3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0.8754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0.7181 – 1.0672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0.188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0.8885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0.195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2"/>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White blood cells</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0.9918 – 1.0085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0.976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1.0028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0.436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3"/>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Female sex</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0.9809</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0.8720 – 1.1035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0.749</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0.9693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0.558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4"/>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GFR, discharge</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1.0014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0.9975 – 1.0053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0.492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1.0010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0.585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5"/>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Comorbidity burden 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0.9835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0.8046 – 1.2021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0.871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0.9882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0.898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Scaled Schoenfeld residuals — training fit  (1 of 2)</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tmp/claude-0/-home-claude/7d42a986-200d-5c8f-b8d4-b6d3f2fe4180/scratchpad/schoen_top.png"/>
          <p:cNvPicPr>
            <a:picLocks noChangeAspect="1"/>
          </p:cNvPicPr>
          <p:nvPr/>
        </p:nvPicPr>
        <p:blipFill>
          <a:blip r:embed="rId3"/>
          <a:stretch>
            <a:fillRect/>
          </a:stretch>
        </p:blipFill>
        <p:spPr>
          <a:xfrm>
            <a:off x="566928" y="1389888"/>
            <a:ext cx="11057839" cy="4031147"/>
          </a:xfrm>
          <a:prstGeom prst="rect">
            <a:avLst/>
          </a:prstGeom>
        </p:spPr>
      </p:pic>
      <p:sp>
        <p:nvSpPr>
          <p:cNvPr id="5" name="Text 2"/>
          <p:cNvSpPr txBox="1"/>
          <p:nvPr/>
        </p:nvSpPr>
        <p:spPr>
          <a:xfrm>
            <a:off x="566928" y="5567339"/>
            <a:ext cx="11057839"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Lowess smoother in red. The comorbidity panels band because the variable enters as dummy indicators — coding, not a violation.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Scaled Schoenfeld residuals — training fit  (2 of 2)</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tmp/claude-0/-home-claude/7d42a986-200d-5c8f-b8d4-b6d3f2fe4180/scratchpad/schoen_bottom.png"/>
          <p:cNvPicPr>
            <a:picLocks noChangeAspect="1"/>
          </p:cNvPicPr>
          <p:nvPr/>
        </p:nvPicPr>
        <p:blipFill>
          <a:blip r:embed="rId3"/>
          <a:stretch>
            <a:fillRect/>
          </a:stretch>
        </p:blipFill>
        <p:spPr>
          <a:xfrm>
            <a:off x="566928" y="1389888"/>
            <a:ext cx="11057839" cy="4110721"/>
          </a:xfrm>
          <a:prstGeom prst="rect">
            <a:avLst/>
          </a:prstGeom>
        </p:spPr>
      </p:pic>
      <p:sp>
        <p:nvSpPr>
          <p:cNvPr id="5" name="Text 2"/>
          <p:cNvSpPr txBox="1"/>
          <p:nvPr/>
        </p:nvSpPr>
        <p:spPr>
          <a:xfrm>
            <a:off x="566928" y="5646913"/>
            <a:ext cx="11057839"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Panel titles are the raw model terms; delta_BUN is ΔBUN and C(cat_comorbidities) the comorbidity burden dummies.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2981</Words>
  <Application>Microsoft Office PowerPoint</Application>
  <PresentationFormat>Widescreen</PresentationFormat>
  <Paragraphs>485</Paragraphs>
  <Slides>16</Slides>
  <Notes>16</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One-Year Survival After Hospital Discharge</dc:title>
  <dc:subject>PptxGenJS Presentation</dc:subject>
  <dc:creator>Diana Morgan</dc:creator>
  <cp:lastModifiedBy>Diana Morgan</cp:lastModifiedBy>
  <cp:revision>1</cp:revision>
  <dcterms:created xsi:type="dcterms:W3CDTF">2026-09-12T07:07:23Z</dcterms:created>
  <dcterms:modified xsi:type="dcterms:W3CDTF">2026-09-12T09:22:40Z</dcterms:modified>
</cp:coreProperties>
</file>